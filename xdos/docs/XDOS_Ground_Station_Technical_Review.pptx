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_rels/.rels" ContentType="application/vnd.openxmlformats-package.relationships+xml"/>
  <Override PartName="/customXml/item1.xml" ContentType="application/xml"/>
  <Override PartName="/customXml/itemProps1.xml" ContentType="application/vnd.openxmlformats-officedocument.customXmlProperties+xml"/>
  <Override PartName="/customXml/item2.xml" ContentType="application/xml"/>
  <Override PartName="/customXml/_rels/item3.xml.rels" ContentType="application/vnd.openxmlformats-package.relationships+xml"/>
  <Override PartName="/customXml/_rels/item2.xml.rels" ContentType="application/vnd.openxmlformats-package.relationships+xml"/>
  <Override PartName="/customXml/_rels/item1.xml.rels" ContentType="application/vnd.openxmlformats-package.relationships+xml"/>
  <Override PartName="/customXml/itemProps2.xml" ContentType="application/vnd.openxmlformats-officedocument.customXmlProperties+xml"/>
  <Override PartName="/customXml/item3.xml" ContentType="application/xml"/>
  <Override PartName="/customXml/itemProps3.xml" ContentType="application/vnd.openxmlformats-officedocument.customXml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14.xml.rels" ContentType="application/vnd.openxmlformats-package.relationships+xml"/>
  <Override PartName="/ppt/slides/_rels/slide11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slide13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move the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slide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2000" spc="-1" strike="noStrike">
                <a:latin typeface="Arial"/>
              </a:rPr>
              <a:t>Click to edit the </a:t>
            </a:r>
            <a:r>
              <a:rPr b="0" lang="en-IN" sz="2000" spc="-1" strike="noStrike">
                <a:latin typeface="Arial"/>
              </a:rPr>
              <a:t>notes format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1400" spc="-1" strike="noStrike">
                <a:latin typeface="Times New Roman"/>
              </a:rPr>
              <a:t>&lt;header&gt;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98" name="PlaceHolder 4"/>
          <p:cNvSpPr>
            <a:spLocks noGrp="1"/>
          </p:cNvSpPr>
          <p:nvPr>
            <p:ph type="dt" idx="2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99" name="PlaceHolder 5"/>
          <p:cNvSpPr>
            <a:spLocks noGrp="1"/>
          </p:cNvSpPr>
          <p:nvPr>
            <p:ph type="ftr" idx="3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100" name="PlaceHolder 6"/>
          <p:cNvSpPr>
            <a:spLocks noGrp="1"/>
          </p:cNvSpPr>
          <p:nvPr>
            <p:ph type="sldNum" idx="4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9FBADF82-B0FC-4DAE-868F-8B8A739597C9}" type="slidenum">
              <a:rPr b="0" lang="en-IN" sz="1400" spc="-1" strike="noStrike">
                <a:latin typeface="Times New Roman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669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A59D63B-565D-4E44-A1EA-D13467E9A301}" type="slidenum">
              <a:rPr b="0" lang="en-US" sz="1200" spc="-1" strike="noStrike">
                <a:latin typeface="Times New Roman"/>
              </a:rPr>
              <a:t>1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225720" y="176760"/>
            <a:ext cx="11740320" cy="73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subTitle"/>
          </p:nvPr>
        </p:nvSpPr>
        <p:spPr>
          <a:xfrm>
            <a:off x="225720" y="909000"/>
            <a:ext cx="11740320" cy="550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225720" y="176760"/>
            <a:ext cx="11740320" cy="73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225720" y="909000"/>
            <a:ext cx="11740320" cy="550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225720" y="176760"/>
            <a:ext cx="11740320" cy="73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225720" y="909000"/>
            <a:ext cx="5729040" cy="550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41680" y="909000"/>
            <a:ext cx="5729040" cy="550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225720" y="176760"/>
            <a:ext cx="11740320" cy="73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subTitle"/>
          </p:nvPr>
        </p:nvSpPr>
        <p:spPr>
          <a:xfrm>
            <a:off x="225720" y="176760"/>
            <a:ext cx="11740320" cy="339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225720" y="176760"/>
            <a:ext cx="11740320" cy="73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225720" y="909000"/>
            <a:ext cx="5729040" cy="262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6241680" y="909000"/>
            <a:ext cx="5729040" cy="550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/>
          </p:nvPr>
        </p:nvSpPr>
        <p:spPr>
          <a:xfrm>
            <a:off x="225720" y="3781800"/>
            <a:ext cx="5729040" cy="262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225720" y="176760"/>
            <a:ext cx="11740320" cy="73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225720" y="909000"/>
            <a:ext cx="5729040" cy="550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6241680" y="909000"/>
            <a:ext cx="5729040" cy="262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/>
          </p:nvPr>
        </p:nvSpPr>
        <p:spPr>
          <a:xfrm>
            <a:off x="6241680" y="3781800"/>
            <a:ext cx="5729040" cy="262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225720" y="176760"/>
            <a:ext cx="11740320" cy="73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225720" y="909000"/>
            <a:ext cx="5729040" cy="262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/>
          </p:nvPr>
        </p:nvSpPr>
        <p:spPr>
          <a:xfrm>
            <a:off x="6241680" y="909000"/>
            <a:ext cx="5729040" cy="262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/>
          </p:nvPr>
        </p:nvSpPr>
        <p:spPr>
          <a:xfrm>
            <a:off x="225720" y="3781800"/>
            <a:ext cx="11740320" cy="262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225720" y="176760"/>
            <a:ext cx="11740320" cy="73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225720" y="909000"/>
            <a:ext cx="11740320" cy="262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/>
          </p:nvPr>
        </p:nvSpPr>
        <p:spPr>
          <a:xfrm>
            <a:off x="225720" y="3781800"/>
            <a:ext cx="11740320" cy="262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225720" y="176760"/>
            <a:ext cx="11740320" cy="73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225720" y="909000"/>
            <a:ext cx="5729040" cy="262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6241680" y="909000"/>
            <a:ext cx="5729040" cy="262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225720" y="3781800"/>
            <a:ext cx="5729040" cy="262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6241680" y="3781800"/>
            <a:ext cx="5729040" cy="262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225720" y="176760"/>
            <a:ext cx="11740320" cy="73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>
          <a:xfrm>
            <a:off x="225720" y="909000"/>
            <a:ext cx="3780000" cy="262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/>
          </p:nvPr>
        </p:nvSpPr>
        <p:spPr>
          <a:xfrm>
            <a:off x="4195080" y="909000"/>
            <a:ext cx="3780000" cy="262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/>
          </p:nvPr>
        </p:nvSpPr>
        <p:spPr>
          <a:xfrm>
            <a:off x="8164440" y="909000"/>
            <a:ext cx="3780000" cy="262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/>
          </p:nvPr>
        </p:nvSpPr>
        <p:spPr>
          <a:xfrm>
            <a:off x="225720" y="3781800"/>
            <a:ext cx="3780000" cy="262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6"/>
          <p:cNvSpPr>
            <a:spLocks noGrp="1"/>
          </p:cNvSpPr>
          <p:nvPr>
            <p:ph/>
          </p:nvPr>
        </p:nvSpPr>
        <p:spPr>
          <a:xfrm>
            <a:off x="4195080" y="3781800"/>
            <a:ext cx="3780000" cy="262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7"/>
          <p:cNvSpPr>
            <a:spLocks noGrp="1"/>
          </p:cNvSpPr>
          <p:nvPr>
            <p:ph/>
          </p:nvPr>
        </p:nvSpPr>
        <p:spPr>
          <a:xfrm>
            <a:off x="8164440" y="3781800"/>
            <a:ext cx="3780000" cy="262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7E7118E3-4C11-405A-93C9-94819E54F174}" type="slidenum">
              <a:t>&lt;#&gt;</a:t>
            </a:fld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225720" y="176760"/>
            <a:ext cx="11740320" cy="73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subTitle"/>
          </p:nvPr>
        </p:nvSpPr>
        <p:spPr>
          <a:xfrm>
            <a:off x="225720" y="909000"/>
            <a:ext cx="11740320" cy="550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94480680-61D8-4378-87B8-1A52BAC2AFB2}" type="slidenum">
              <a:t>&lt;#&gt;</a:t>
            </a:fld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225720" y="176760"/>
            <a:ext cx="11740320" cy="73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225720" y="909000"/>
            <a:ext cx="11740320" cy="550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05BA4EBA-7B56-4041-B6B8-3105F515E074}" type="slidenum">
              <a:t>&lt;#&gt;</a:t>
            </a:fld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225720" y="176760"/>
            <a:ext cx="11740320" cy="73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225720" y="909000"/>
            <a:ext cx="5729040" cy="550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241680" y="909000"/>
            <a:ext cx="5729040" cy="550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AA2F0B35-5A48-41F3-A932-F399DDCB978B}" type="slidenum">
              <a:t>&lt;#&gt;</a:t>
            </a:fld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225720" y="176760"/>
            <a:ext cx="11740320" cy="73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EE97DCD2-5759-4BF9-B64D-9A33D5BBD6E1}" type="slidenum">
              <a:t>&lt;#&gt;</a:t>
            </a:fld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subTitle"/>
          </p:nvPr>
        </p:nvSpPr>
        <p:spPr>
          <a:xfrm>
            <a:off x="225720" y="176760"/>
            <a:ext cx="11740320" cy="339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4EA19C07-5039-4905-80E1-E978648C9507}" type="slidenum">
              <a:t>&lt;#&gt;</a:t>
            </a:fld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225720" y="176760"/>
            <a:ext cx="11740320" cy="73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225720" y="909000"/>
            <a:ext cx="5729040" cy="262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/>
          </p:nvPr>
        </p:nvSpPr>
        <p:spPr>
          <a:xfrm>
            <a:off x="6241680" y="909000"/>
            <a:ext cx="5729040" cy="550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/>
          </p:nvPr>
        </p:nvSpPr>
        <p:spPr>
          <a:xfrm>
            <a:off x="225720" y="3781800"/>
            <a:ext cx="5729040" cy="262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78FB7D07-DD90-400E-B589-94DDE307C4B4}" type="slidenum">
              <a:t>&lt;#&gt;</a:t>
            </a:fld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225720" y="176760"/>
            <a:ext cx="11740320" cy="73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225720" y="909000"/>
            <a:ext cx="5729040" cy="550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/>
          </p:nvPr>
        </p:nvSpPr>
        <p:spPr>
          <a:xfrm>
            <a:off x="6241680" y="909000"/>
            <a:ext cx="5729040" cy="262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/>
          </p:nvPr>
        </p:nvSpPr>
        <p:spPr>
          <a:xfrm>
            <a:off x="6241680" y="3781800"/>
            <a:ext cx="5729040" cy="262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A545D1B7-41DB-4878-A8EA-DFD6F09DC68C}" type="slidenum">
              <a:t>&lt;#&gt;</a:t>
            </a:fld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225720" y="176760"/>
            <a:ext cx="11740320" cy="73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225720" y="909000"/>
            <a:ext cx="5729040" cy="262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/>
          </p:nvPr>
        </p:nvSpPr>
        <p:spPr>
          <a:xfrm>
            <a:off x="6241680" y="909000"/>
            <a:ext cx="5729040" cy="262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/>
          </p:nvPr>
        </p:nvSpPr>
        <p:spPr>
          <a:xfrm>
            <a:off x="225720" y="3781800"/>
            <a:ext cx="11740320" cy="262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413C05D6-21B9-4A3F-BA85-C901ED83AC37}" type="slidenum">
              <a:t>&lt;#&gt;</a:t>
            </a:fld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225720" y="176760"/>
            <a:ext cx="11740320" cy="73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225720" y="909000"/>
            <a:ext cx="11740320" cy="262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/>
          </p:nvPr>
        </p:nvSpPr>
        <p:spPr>
          <a:xfrm>
            <a:off x="225720" y="3781800"/>
            <a:ext cx="11740320" cy="262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AA25F5E8-4037-423E-BFD4-6D12908FB9CF}" type="slidenum">
              <a:t>&lt;#&gt;</a:t>
            </a:fld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225720" y="176760"/>
            <a:ext cx="11740320" cy="73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225720" y="909000"/>
            <a:ext cx="5729040" cy="262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/>
          </p:nvPr>
        </p:nvSpPr>
        <p:spPr>
          <a:xfrm>
            <a:off x="6241680" y="909000"/>
            <a:ext cx="5729040" cy="262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4"/>
          <p:cNvSpPr>
            <a:spLocks noGrp="1"/>
          </p:cNvSpPr>
          <p:nvPr>
            <p:ph/>
          </p:nvPr>
        </p:nvSpPr>
        <p:spPr>
          <a:xfrm>
            <a:off x="225720" y="3781800"/>
            <a:ext cx="5729040" cy="262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5"/>
          <p:cNvSpPr>
            <a:spLocks noGrp="1"/>
          </p:cNvSpPr>
          <p:nvPr>
            <p:ph/>
          </p:nvPr>
        </p:nvSpPr>
        <p:spPr>
          <a:xfrm>
            <a:off x="6241680" y="3781800"/>
            <a:ext cx="5729040" cy="262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856035D4-A52C-4177-9258-27FC305A3F17}" type="slidenum">
              <a:t>&lt;#&gt;</a:t>
            </a:fld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225720" y="176760"/>
            <a:ext cx="11740320" cy="73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225720" y="909000"/>
            <a:ext cx="3780000" cy="262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/>
          </p:nvPr>
        </p:nvSpPr>
        <p:spPr>
          <a:xfrm>
            <a:off x="4195080" y="909000"/>
            <a:ext cx="3780000" cy="262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4"/>
          <p:cNvSpPr>
            <a:spLocks noGrp="1"/>
          </p:cNvSpPr>
          <p:nvPr>
            <p:ph/>
          </p:nvPr>
        </p:nvSpPr>
        <p:spPr>
          <a:xfrm>
            <a:off x="8164440" y="909000"/>
            <a:ext cx="3780000" cy="262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PlaceHolder 5"/>
          <p:cNvSpPr>
            <a:spLocks noGrp="1"/>
          </p:cNvSpPr>
          <p:nvPr>
            <p:ph/>
          </p:nvPr>
        </p:nvSpPr>
        <p:spPr>
          <a:xfrm>
            <a:off x="225720" y="3781800"/>
            <a:ext cx="3780000" cy="262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PlaceHolder 6"/>
          <p:cNvSpPr>
            <a:spLocks noGrp="1"/>
          </p:cNvSpPr>
          <p:nvPr>
            <p:ph/>
          </p:nvPr>
        </p:nvSpPr>
        <p:spPr>
          <a:xfrm>
            <a:off x="4195080" y="3781800"/>
            <a:ext cx="3780000" cy="262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PlaceHolder 7"/>
          <p:cNvSpPr>
            <a:spLocks noGrp="1"/>
          </p:cNvSpPr>
          <p:nvPr>
            <p:ph/>
          </p:nvPr>
        </p:nvSpPr>
        <p:spPr>
          <a:xfrm>
            <a:off x="8164440" y="3781800"/>
            <a:ext cx="3780000" cy="262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D556765A-2898-4A06-AAB4-719869169A8B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1.xml"/><Relationship Id="rId6" Type="http://schemas.openxmlformats.org/officeDocument/2006/relationships/slideLayout" Target="../slideLayouts/slideLayout2.xml"/><Relationship Id="rId7" Type="http://schemas.openxmlformats.org/officeDocument/2006/relationships/slideLayout" Target="../slideLayouts/slideLayout3.xml"/><Relationship Id="rId8" Type="http://schemas.openxmlformats.org/officeDocument/2006/relationships/slideLayout" Target="../slideLayouts/slideLayout4.xml"/><Relationship Id="rId9" Type="http://schemas.openxmlformats.org/officeDocument/2006/relationships/slideLayout" Target="../slideLayouts/slideLayout5.xml"/><Relationship Id="rId10" Type="http://schemas.openxmlformats.org/officeDocument/2006/relationships/slideLayout" Target="../slideLayouts/slideLayout6.xml"/><Relationship Id="rId11" Type="http://schemas.openxmlformats.org/officeDocument/2006/relationships/slideLayout" Target="../slideLayouts/slideLayout7.xml"/><Relationship Id="rId12" Type="http://schemas.openxmlformats.org/officeDocument/2006/relationships/slideLayout" Target="../slideLayouts/slideLayout8.xml"/><Relationship Id="rId13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0.xml"/><Relationship Id="rId15" Type="http://schemas.openxmlformats.org/officeDocument/2006/relationships/slideLayout" Target="../slideLayouts/slideLayout11.xml"/><Relationship Id="rId16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 6" hidden="1"/>
          <p:cNvSpPr/>
          <p:nvPr/>
        </p:nvSpPr>
        <p:spPr>
          <a:xfrm>
            <a:off x="0" y="6492960"/>
            <a:ext cx="12191760" cy="36468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1" name="Picture 7" descr=""/>
          <p:cNvPicPr/>
          <p:nvPr/>
        </p:nvPicPr>
        <p:blipFill>
          <a:blip r:embed="rId2"/>
          <a:stretch/>
        </p:blipFill>
        <p:spPr>
          <a:xfrm>
            <a:off x="10813680" y="6527880"/>
            <a:ext cx="1269720" cy="294840"/>
          </a:xfrm>
          <a:prstGeom prst="rect">
            <a:avLst/>
          </a:prstGeom>
          <a:ln w="0">
            <a:noFill/>
          </a:ln>
        </p:spPr>
      </p:pic>
      <p:sp>
        <p:nvSpPr>
          <p:cNvPr id="2" name="TextBox 13" hidden="1"/>
          <p:cNvSpPr/>
          <p:nvPr/>
        </p:nvSpPr>
        <p:spPr>
          <a:xfrm>
            <a:off x="3925440" y="6539040"/>
            <a:ext cx="434016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</a:rPr>
              <a:t>© Copyright  | XDLINX Space Labs Pvt Ltd | Private &amp; Confidential.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" name="Slide Number Placeholder 9" hidden="1"/>
          <p:cNvSpPr/>
          <p:nvPr/>
        </p:nvSpPr>
        <p:spPr>
          <a:xfrm>
            <a:off x="216720" y="6550200"/>
            <a:ext cx="2742840" cy="23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fld id="{B7F2162B-2C8D-485F-A669-67658E18F6F1}" type="slidenum">
              <a:rPr b="0" lang="en-US" sz="1800" spc="-1" strike="noStrike">
                <a:solidFill>
                  <a:srgbClr val="000000"/>
                </a:solidFill>
                <a:latin typeface="Calibri"/>
              </a:rPr>
              <a:t>&lt;number&gt;</a:t>
            </a:fld>
            <a:endParaRPr b="0" lang="en-IN" sz="1800" spc="-1" strike="noStrike">
              <a:latin typeface="Arial"/>
            </a:endParaRPr>
          </a:p>
        </p:txBody>
      </p:sp>
      <p:sp>
        <p:nvSpPr>
          <p:cNvPr id="4" name="Rectangle 12"/>
          <p:cNvSpPr/>
          <p:nvPr/>
        </p:nvSpPr>
        <p:spPr>
          <a:xfrm>
            <a:off x="-19800" y="0"/>
            <a:ext cx="12191760" cy="6857640"/>
          </a:xfrm>
          <a:prstGeom prst="rect">
            <a:avLst/>
          </a:prstGeom>
          <a:solidFill>
            <a:srgbClr val="00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5" name="Picture 3" descr=""/>
          <p:cNvPicPr/>
          <p:nvPr/>
        </p:nvPicPr>
        <p:blipFill>
          <a:blip r:embed="rId3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6" name="Rectangle 6"/>
          <p:cNvSpPr/>
          <p:nvPr/>
        </p:nvSpPr>
        <p:spPr>
          <a:xfrm>
            <a:off x="0" y="5503680"/>
            <a:ext cx="12191760" cy="135396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</p:sp>
      <p:grpSp>
        <p:nvGrpSpPr>
          <p:cNvPr id="7" name="Group 20"/>
          <p:cNvGrpSpPr/>
          <p:nvPr/>
        </p:nvGrpSpPr>
        <p:grpSpPr>
          <a:xfrm>
            <a:off x="351720" y="5871600"/>
            <a:ext cx="11488320" cy="819720"/>
            <a:chOff x="351720" y="5871600"/>
            <a:chExt cx="11488320" cy="819720"/>
          </a:xfrm>
        </p:grpSpPr>
        <p:pic>
          <p:nvPicPr>
            <p:cNvPr id="8" name="Picture 7" descr=""/>
            <p:cNvPicPr/>
            <p:nvPr/>
          </p:nvPicPr>
          <p:blipFill>
            <a:blip r:embed="rId4"/>
            <a:stretch/>
          </p:blipFill>
          <p:spPr>
            <a:xfrm>
              <a:off x="351720" y="5871600"/>
              <a:ext cx="3526560" cy="81972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9" name="TextBox 3"/>
            <p:cNvSpPr/>
            <p:nvPr/>
          </p:nvSpPr>
          <p:spPr>
            <a:xfrm>
              <a:off x="4379400" y="5980320"/>
              <a:ext cx="3727080" cy="61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en-IN" sz="2000" spc="-1" strike="noStrike">
                  <a:solidFill>
                    <a:srgbClr val="ffffff"/>
                  </a:solidFill>
                  <a:latin typeface="Arial"/>
                </a:rPr>
                <a:t>From Global Sovereignty to Deep Space Discoveries</a:t>
              </a:r>
              <a:endParaRPr b="0" lang="en-IN" sz="2000" spc="-1" strike="noStrike">
                <a:latin typeface="Arial"/>
              </a:endParaRPr>
            </a:p>
          </p:txBody>
        </p:sp>
        <p:sp>
          <p:nvSpPr>
            <p:cNvPr id="10" name="TextBox 3"/>
            <p:cNvSpPr/>
            <p:nvPr/>
          </p:nvSpPr>
          <p:spPr>
            <a:xfrm>
              <a:off x="8445600" y="6127560"/>
              <a:ext cx="3394440" cy="30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en-IN" sz="2000" spc="-1" strike="noStrike">
                  <a:solidFill>
                    <a:srgbClr val="ffffff"/>
                  </a:solidFill>
                  <a:latin typeface="Arial"/>
                </a:rPr>
                <a:t>INDIA | USA | EUROPE | UAE</a:t>
              </a:r>
              <a:endParaRPr b="0" lang="en-IN" sz="2000" spc="-1" strike="noStrike">
                <a:latin typeface="Arial"/>
              </a:endParaRPr>
            </a:p>
          </p:txBody>
        </p:sp>
        <p:sp>
          <p:nvSpPr>
            <p:cNvPr id="11" name="Straight Connector 10"/>
            <p:cNvSpPr/>
            <p:nvPr/>
          </p:nvSpPr>
          <p:spPr>
            <a:xfrm>
              <a:off x="4313160" y="6003720"/>
              <a:ext cx="360" cy="555120"/>
            </a:xfrm>
            <a:prstGeom prst="line">
              <a:avLst/>
            </a:prstGeom>
            <a:ln w="1905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2" name="Straight Connector 11"/>
            <p:cNvSpPr/>
            <p:nvPr/>
          </p:nvSpPr>
          <p:spPr>
            <a:xfrm>
              <a:off x="8106480" y="6013800"/>
              <a:ext cx="360" cy="555120"/>
            </a:xfrm>
            <a:prstGeom prst="line">
              <a:avLst/>
            </a:prstGeom>
            <a:ln w="1905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5486400" y="2698560"/>
            <a:ext cx="6210720" cy="7300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>
              <a:lnSpc>
                <a:spcPct val="90000"/>
              </a:lnSpc>
              <a:buNone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Click to </a:t>
            </a: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edit </a:t>
            </a: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Master </a:t>
            </a: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title style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5"/>
    <p:sldLayoutId id="214748365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  <p:sldLayoutId id="2147483660" r:id="rId16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6"/>
          <p:cNvSpPr/>
          <p:nvPr/>
        </p:nvSpPr>
        <p:spPr>
          <a:xfrm>
            <a:off x="0" y="6492960"/>
            <a:ext cx="12191760" cy="36468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52" name="Picture 7" descr=""/>
          <p:cNvPicPr/>
          <p:nvPr/>
        </p:nvPicPr>
        <p:blipFill>
          <a:blip r:embed="rId2"/>
          <a:stretch/>
        </p:blipFill>
        <p:spPr>
          <a:xfrm>
            <a:off x="10813680" y="6527880"/>
            <a:ext cx="1269720" cy="294840"/>
          </a:xfrm>
          <a:prstGeom prst="rect">
            <a:avLst/>
          </a:prstGeom>
          <a:ln w="0">
            <a:noFill/>
          </a:ln>
        </p:spPr>
      </p:pic>
      <p:sp>
        <p:nvSpPr>
          <p:cNvPr id="53" name="TextBox 13"/>
          <p:cNvSpPr/>
          <p:nvPr/>
        </p:nvSpPr>
        <p:spPr>
          <a:xfrm>
            <a:off x="3925440" y="6539040"/>
            <a:ext cx="434016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</a:rPr>
              <a:t>© Copyright  | XDLINX Space Labs Pvt Ltd | Private &amp; Confidential.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54" name="Slide Number Placeholder 9"/>
          <p:cNvSpPr/>
          <p:nvPr/>
        </p:nvSpPr>
        <p:spPr>
          <a:xfrm>
            <a:off x="216720" y="6550200"/>
            <a:ext cx="2742840" cy="23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fld id="{D7D79D16-7CA6-43DC-B7CF-D92FD8D046D6}" type="slidenum">
              <a:rPr b="0" lang="en-US" sz="1800" spc="-1" strike="noStrike">
                <a:solidFill>
                  <a:srgbClr val="000000"/>
                </a:solidFill>
                <a:latin typeface="Calibri"/>
              </a:rPr>
              <a:t>&lt;number&gt;</a:t>
            </a:fld>
            <a:endParaRPr b="0" lang="en-IN" sz="1800" spc="-1" strike="noStrike">
              <a:latin typeface="Arial"/>
            </a:endParaRPr>
          </a:p>
        </p:txBody>
      </p:sp>
      <p:sp>
        <p:nvSpPr>
          <p:cNvPr id="55" name="PlaceHolder 1"/>
          <p:cNvSpPr>
            <a:spLocks noGrp="1"/>
          </p:cNvSpPr>
          <p:nvPr>
            <p:ph type="body"/>
          </p:nvPr>
        </p:nvSpPr>
        <p:spPr>
          <a:xfrm>
            <a:off x="225720" y="909000"/>
            <a:ext cx="11740320" cy="55000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Master text styles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Third level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3" marL="16002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Fourth level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4" marL="20574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Fifth level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title"/>
          </p:nvPr>
        </p:nvSpPr>
        <p:spPr>
          <a:xfrm>
            <a:off x="225720" y="176760"/>
            <a:ext cx="11740320" cy="7318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>
              <a:lnSpc>
                <a:spcPct val="90000"/>
              </a:lnSpc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edit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Master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title style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Straight Connector 1"/>
          <p:cNvSpPr/>
          <p:nvPr/>
        </p:nvSpPr>
        <p:spPr>
          <a:xfrm>
            <a:off x="225720" y="856440"/>
            <a:ext cx="11782080" cy="36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8" name="PlaceHolder 3"/>
          <p:cNvSpPr>
            <a:spLocks noGrp="1"/>
          </p:cNvSpPr>
          <p:nvPr>
            <p:ph type="sldNum" idx="1"/>
          </p:nvPr>
        </p:nvSpPr>
        <p:spPr>
          <a:xfrm>
            <a:off x="108360" y="6561360"/>
            <a:ext cx="2742840" cy="238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fld id="{F39AB8DC-BCA3-4B00-9870-F9D43B78B6B4}" type="slidenum">
              <a:rPr b="0" lang="en-US" sz="1200" spc="-1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Picture 3" descr=""/>
          <p:cNvPicPr/>
          <p:nvPr/>
        </p:nvPicPr>
        <p:blipFill>
          <a:blip r:embed="rId1"/>
          <a:stretch/>
        </p:blipFill>
        <p:spPr>
          <a:xfrm>
            <a:off x="113040" y="123840"/>
            <a:ext cx="2872440" cy="667440"/>
          </a:xfrm>
          <a:prstGeom prst="rect">
            <a:avLst/>
          </a:prstGeom>
          <a:ln w="0">
            <a:noFill/>
          </a:ln>
        </p:spPr>
      </p:pic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5120640" y="2889360"/>
            <a:ext cx="6903360" cy="822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 algn="ctr">
              <a:lnSpc>
                <a:spcPct val="90000"/>
              </a:lnSpc>
              <a:buNone/>
            </a:pPr>
            <a:r>
              <a:rPr b="1" lang="en-US" sz="4000" spc="-1" strike="noStrike">
                <a:solidFill>
                  <a:srgbClr val="ffffff"/>
                </a:solidFill>
                <a:latin typeface="Arial"/>
              </a:rPr>
              <a:t>XDOS Ground Station</a:t>
            </a:r>
            <a:endParaRPr b="0" lang="en-US" sz="4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3" name="TextBox 9"/>
          <p:cNvSpPr/>
          <p:nvPr/>
        </p:nvSpPr>
        <p:spPr>
          <a:xfrm>
            <a:off x="5120640" y="4846320"/>
            <a:ext cx="690336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i="1" lang="en-US" sz="1400" spc="-1" strike="noStrike">
                <a:solidFill>
                  <a:srgbClr val="deecf1"/>
                </a:solidFill>
                <a:latin typeface="Arial"/>
              </a:rPr>
              <a:t>Internal Technical Review  ·  Rev 1.0  ·  03 September 2026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04" name="Rectangle 10"/>
          <p:cNvSpPr/>
          <p:nvPr/>
        </p:nvSpPr>
        <p:spPr>
          <a:xfrm>
            <a:off x="7799760" y="3776400"/>
            <a:ext cx="1554120" cy="40680"/>
          </a:xfrm>
          <a:prstGeom prst="rect">
            <a:avLst/>
          </a:prstGeom>
          <a:solidFill>
            <a:srgbClr val="009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5" name="TextBox 11"/>
          <p:cNvSpPr/>
          <p:nvPr/>
        </p:nvSpPr>
        <p:spPr>
          <a:xfrm>
            <a:off x="5120640" y="3968640"/>
            <a:ext cx="6903360" cy="52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deecf1"/>
                </a:solidFill>
                <a:latin typeface="Arial"/>
              </a:rPr>
              <a:t>Software Architecture &amp; Design</a:t>
            </a:r>
            <a:endParaRPr b="0" lang="en-IN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601"/>
              </a:spcBef>
              <a:buNone/>
            </a:pPr>
            <a:r>
              <a:rPr b="0" lang="en-US" sz="1150" spc="-1" strike="noStrike">
                <a:solidFill>
                  <a:srgbClr val="8fc8d8"/>
                </a:solidFill>
                <a:latin typeface="Arial"/>
              </a:rPr>
              <a:t>Ground segment · OBC bridge · CCSDS TC/TM · binary rate-group telemetry</a:t>
            </a:r>
            <a:endParaRPr b="0" lang="en-IN" sz="1150" spc="-1" strike="noStrike">
              <a:latin typeface="Arial"/>
            </a:endParaRPr>
          </a:p>
        </p:txBody>
      </p:sp>
    </p:spTree>
  </p:cSld>
  <p:transition spd="slow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225720" y="176760"/>
            <a:ext cx="11740320" cy="7318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500" spc="-1" strike="noStrike">
                <a:solidFill>
                  <a:srgbClr val="15242b"/>
                </a:solidFill>
                <a:latin typeface="Arial"/>
              </a:rPr>
              <a:t>Agenda</a:t>
            </a:r>
            <a:endParaRPr b="0" lang="en-US" sz="25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7" name="Rectangle 3"/>
          <p:cNvSpPr/>
          <p:nvPr/>
        </p:nvSpPr>
        <p:spPr>
          <a:xfrm>
            <a:off x="225720" y="873360"/>
            <a:ext cx="1142640" cy="40680"/>
          </a:xfrm>
          <a:prstGeom prst="rect">
            <a:avLst/>
          </a:prstGeom>
          <a:solidFill>
            <a:srgbClr val="009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8" name="Oval 4"/>
          <p:cNvSpPr/>
          <p:nvPr/>
        </p:nvSpPr>
        <p:spPr>
          <a:xfrm>
            <a:off x="274320" y="1207080"/>
            <a:ext cx="402120" cy="402120"/>
          </a:xfrm>
          <a:prstGeom prst="ellipse">
            <a:avLst/>
          </a:prstGeom>
          <a:solidFill>
            <a:srgbClr val="e4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9" name="TextBox 5"/>
          <p:cNvSpPr/>
          <p:nvPr/>
        </p:nvSpPr>
        <p:spPr>
          <a:xfrm>
            <a:off x="274320" y="1320120"/>
            <a:ext cx="402120" cy="17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50" spc="-1" strike="noStrike">
                <a:solidFill>
                  <a:srgbClr val="006b83"/>
                </a:solidFill>
                <a:latin typeface="Arial"/>
              </a:rPr>
              <a:t>01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10" name="TextBox 6"/>
          <p:cNvSpPr/>
          <p:nvPr/>
        </p:nvSpPr>
        <p:spPr>
          <a:xfrm>
            <a:off x="822960" y="1188720"/>
            <a:ext cx="5101920" cy="41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15242b"/>
                </a:solidFill>
                <a:latin typeface="Arial"/>
              </a:rPr>
              <a:t>Purpose, scope and system context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050" spc="-1" strike="noStrike">
                <a:solidFill>
                  <a:srgbClr val="5a6b73"/>
                </a:solidFill>
                <a:latin typeface="Arial"/>
              </a:rPr>
              <a:t>Why the ground station exists and what it covers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11" name="Connector 7"/>
          <p:cNvSpPr/>
          <p:nvPr/>
        </p:nvSpPr>
        <p:spPr>
          <a:xfrm>
            <a:off x="822600" y="1956600"/>
            <a:ext cx="5121000" cy="360"/>
          </a:xfrm>
          <a:prstGeom prst="line">
            <a:avLst/>
          </a:prstGeom>
          <a:ln w="9525">
            <a:solidFill>
              <a:srgbClr val="c2d3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12" name="Oval 8"/>
          <p:cNvSpPr/>
          <p:nvPr/>
        </p:nvSpPr>
        <p:spPr>
          <a:xfrm>
            <a:off x="274320" y="2176200"/>
            <a:ext cx="402120" cy="402120"/>
          </a:xfrm>
          <a:prstGeom prst="ellipse">
            <a:avLst/>
          </a:prstGeom>
          <a:solidFill>
            <a:srgbClr val="e4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3" name="TextBox 9"/>
          <p:cNvSpPr/>
          <p:nvPr/>
        </p:nvSpPr>
        <p:spPr>
          <a:xfrm>
            <a:off x="274320" y="2289240"/>
            <a:ext cx="402120" cy="17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50" spc="-1" strike="noStrike">
                <a:solidFill>
                  <a:srgbClr val="006b83"/>
                </a:solidFill>
                <a:latin typeface="Arial"/>
              </a:rPr>
              <a:t>02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14" name="TextBox 10"/>
          <p:cNvSpPr/>
          <p:nvPr/>
        </p:nvSpPr>
        <p:spPr>
          <a:xfrm>
            <a:off x="822960" y="2157840"/>
            <a:ext cx="5101920" cy="41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15242b"/>
                </a:solidFill>
                <a:latin typeface="Arial"/>
              </a:rPr>
              <a:t>System block diagram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050" spc="-1" strike="noStrike">
                <a:solidFill>
                  <a:srgbClr val="5a6b73"/>
                </a:solidFill>
                <a:latin typeface="Arial"/>
              </a:rPr>
              <a:t>Nodes, links, ports and process boundaries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15" name="Connector 11"/>
          <p:cNvSpPr/>
          <p:nvPr/>
        </p:nvSpPr>
        <p:spPr>
          <a:xfrm>
            <a:off x="822600" y="2925720"/>
            <a:ext cx="5121000" cy="360"/>
          </a:xfrm>
          <a:prstGeom prst="line">
            <a:avLst/>
          </a:prstGeom>
          <a:ln w="9525">
            <a:solidFill>
              <a:srgbClr val="c2d3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16" name="Oval 12"/>
          <p:cNvSpPr/>
          <p:nvPr/>
        </p:nvSpPr>
        <p:spPr>
          <a:xfrm>
            <a:off x="274320" y="3145680"/>
            <a:ext cx="402120" cy="402120"/>
          </a:xfrm>
          <a:prstGeom prst="ellipse">
            <a:avLst/>
          </a:prstGeom>
          <a:solidFill>
            <a:srgbClr val="e4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7" name="TextBox 13"/>
          <p:cNvSpPr/>
          <p:nvPr/>
        </p:nvSpPr>
        <p:spPr>
          <a:xfrm>
            <a:off x="274320" y="3258720"/>
            <a:ext cx="402120" cy="17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50" spc="-1" strike="noStrike">
                <a:solidFill>
                  <a:srgbClr val="006b83"/>
                </a:solidFill>
                <a:latin typeface="Arial"/>
              </a:rPr>
              <a:t>03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18" name="TextBox 14"/>
          <p:cNvSpPr/>
          <p:nvPr/>
        </p:nvSpPr>
        <p:spPr>
          <a:xfrm>
            <a:off x="822960" y="3127320"/>
            <a:ext cx="5101920" cy="41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15242b"/>
                </a:solidFill>
                <a:latin typeface="Arial"/>
              </a:rPr>
              <a:t>Software architecture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050" spc="-1" strike="noStrike">
                <a:solidFill>
                  <a:srgbClr val="5a6b73"/>
                </a:solidFill>
                <a:latin typeface="Arial"/>
              </a:rPr>
              <a:t>The layered C++17 stack and its build targets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19" name="Connector 15"/>
          <p:cNvSpPr/>
          <p:nvPr/>
        </p:nvSpPr>
        <p:spPr>
          <a:xfrm>
            <a:off x="822600" y="3895200"/>
            <a:ext cx="5121000" cy="360"/>
          </a:xfrm>
          <a:prstGeom prst="line">
            <a:avLst/>
          </a:prstGeom>
          <a:ln w="9525">
            <a:solidFill>
              <a:srgbClr val="c2d3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20" name="Oval 16"/>
          <p:cNvSpPr/>
          <p:nvPr/>
        </p:nvSpPr>
        <p:spPr>
          <a:xfrm>
            <a:off x="274320" y="4114800"/>
            <a:ext cx="402120" cy="402120"/>
          </a:xfrm>
          <a:prstGeom prst="ellipse">
            <a:avLst/>
          </a:prstGeom>
          <a:solidFill>
            <a:srgbClr val="e4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1" name="TextBox 17"/>
          <p:cNvSpPr/>
          <p:nvPr/>
        </p:nvSpPr>
        <p:spPr>
          <a:xfrm>
            <a:off x="274320" y="4227840"/>
            <a:ext cx="402120" cy="17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50" spc="-1" strike="noStrike">
                <a:solidFill>
                  <a:srgbClr val="006b83"/>
                </a:solidFill>
                <a:latin typeface="Arial"/>
              </a:rPr>
              <a:t>04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22" name="TextBox 18"/>
          <p:cNvSpPr/>
          <p:nvPr/>
        </p:nvSpPr>
        <p:spPr>
          <a:xfrm>
            <a:off x="822960" y="4096440"/>
            <a:ext cx="5101920" cy="41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15242b"/>
                </a:solidFill>
                <a:latin typeface="Arial"/>
              </a:rPr>
              <a:t>Telecommand flow, end to end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050" spc="-1" strike="noStrike">
                <a:solidFill>
                  <a:srgbClr val="5a6b73"/>
                </a:solidFill>
                <a:latin typeface="Arial"/>
              </a:rPr>
              <a:t>Operator keystroke to decoded response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23" name="Connector 19"/>
          <p:cNvSpPr/>
          <p:nvPr/>
        </p:nvSpPr>
        <p:spPr>
          <a:xfrm>
            <a:off x="822600" y="4864320"/>
            <a:ext cx="5121000" cy="360"/>
          </a:xfrm>
          <a:prstGeom prst="line">
            <a:avLst/>
          </a:prstGeom>
          <a:ln w="9525">
            <a:solidFill>
              <a:srgbClr val="c2d3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24" name="Oval 20"/>
          <p:cNvSpPr/>
          <p:nvPr/>
        </p:nvSpPr>
        <p:spPr>
          <a:xfrm>
            <a:off x="274320" y="5083920"/>
            <a:ext cx="402120" cy="402120"/>
          </a:xfrm>
          <a:prstGeom prst="ellipse">
            <a:avLst/>
          </a:prstGeom>
          <a:solidFill>
            <a:srgbClr val="e4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5" name="TextBox 21"/>
          <p:cNvSpPr/>
          <p:nvPr/>
        </p:nvSpPr>
        <p:spPr>
          <a:xfrm>
            <a:off x="274320" y="5196960"/>
            <a:ext cx="402120" cy="17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50" spc="-1" strike="noStrike">
                <a:solidFill>
                  <a:srgbClr val="006b83"/>
                </a:solidFill>
                <a:latin typeface="Arial"/>
              </a:rPr>
              <a:t>05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26" name="TextBox 22"/>
          <p:cNvSpPr/>
          <p:nvPr/>
        </p:nvSpPr>
        <p:spPr>
          <a:xfrm>
            <a:off x="822960" y="5065920"/>
            <a:ext cx="5101920" cy="41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15242b"/>
                </a:solidFill>
                <a:latin typeface="Arial"/>
              </a:rPr>
              <a:t>CCSDS TC / TM frame formats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050" spc="-1" strike="noStrike">
                <a:solidFill>
                  <a:srgbClr val="5a6b73"/>
                </a:solidFill>
                <a:latin typeface="Arial"/>
              </a:rPr>
              <a:t>The Level-2 wire contract, field by field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27" name="Oval 23"/>
          <p:cNvSpPr/>
          <p:nvPr/>
        </p:nvSpPr>
        <p:spPr>
          <a:xfrm>
            <a:off x="6217920" y="1207080"/>
            <a:ext cx="402120" cy="402120"/>
          </a:xfrm>
          <a:prstGeom prst="ellipse">
            <a:avLst/>
          </a:prstGeom>
          <a:solidFill>
            <a:srgbClr val="e4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8" name="TextBox 24"/>
          <p:cNvSpPr/>
          <p:nvPr/>
        </p:nvSpPr>
        <p:spPr>
          <a:xfrm>
            <a:off x="6217920" y="1320120"/>
            <a:ext cx="402120" cy="17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50" spc="-1" strike="noStrike">
                <a:solidFill>
                  <a:srgbClr val="006b83"/>
                </a:solidFill>
                <a:latin typeface="Arial"/>
              </a:rPr>
              <a:t>06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29" name="TextBox 25"/>
          <p:cNvSpPr/>
          <p:nvPr/>
        </p:nvSpPr>
        <p:spPr>
          <a:xfrm>
            <a:off x="6766560" y="1188720"/>
            <a:ext cx="5101920" cy="41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15242b"/>
                </a:solidFill>
                <a:latin typeface="Arial"/>
              </a:rPr>
              <a:t>Binary rate-group LUT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050" spc="-1" strike="noStrike">
                <a:solidFill>
                  <a:srgbClr val="5a6b73"/>
                </a:solidFill>
                <a:latin typeface="Arial"/>
              </a:rPr>
              <a:t>Design rationale, data flow and file format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30" name="Connector 26"/>
          <p:cNvSpPr/>
          <p:nvPr/>
        </p:nvSpPr>
        <p:spPr>
          <a:xfrm>
            <a:off x="6766200" y="1956600"/>
            <a:ext cx="5121000" cy="360"/>
          </a:xfrm>
          <a:prstGeom prst="line">
            <a:avLst/>
          </a:prstGeom>
          <a:ln w="9525">
            <a:solidFill>
              <a:srgbClr val="c2d3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31" name="Oval 27"/>
          <p:cNvSpPr/>
          <p:nvPr/>
        </p:nvSpPr>
        <p:spPr>
          <a:xfrm>
            <a:off x="6217920" y="2176200"/>
            <a:ext cx="402120" cy="402120"/>
          </a:xfrm>
          <a:prstGeom prst="ellipse">
            <a:avLst/>
          </a:prstGeom>
          <a:solidFill>
            <a:srgbClr val="e4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2" name="TextBox 28"/>
          <p:cNvSpPr/>
          <p:nvPr/>
        </p:nvSpPr>
        <p:spPr>
          <a:xfrm>
            <a:off x="6217920" y="2289240"/>
            <a:ext cx="402120" cy="17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50" spc="-1" strike="noStrike">
                <a:solidFill>
                  <a:srgbClr val="006b83"/>
                </a:solidFill>
                <a:latin typeface="Arial"/>
              </a:rPr>
              <a:t>07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33" name="TextBox 29"/>
          <p:cNvSpPr/>
          <p:nvPr/>
        </p:nvSpPr>
        <p:spPr>
          <a:xfrm>
            <a:off x="6766560" y="2157840"/>
            <a:ext cx="5101920" cy="41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15242b"/>
                </a:solidFill>
                <a:latin typeface="Arial"/>
              </a:rPr>
              <a:t>Subframe and master-frame layout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050" spc="-1" strike="noStrike">
                <a:solidFill>
                  <a:srgbClr val="5a6b73"/>
                </a:solidFill>
                <a:latin typeface="Arial"/>
              </a:rPr>
              <a:t>Tiers, budgets and the 16-slot cadence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34" name="Connector 30"/>
          <p:cNvSpPr/>
          <p:nvPr/>
        </p:nvSpPr>
        <p:spPr>
          <a:xfrm>
            <a:off x="6766200" y="2925720"/>
            <a:ext cx="5121000" cy="360"/>
          </a:xfrm>
          <a:prstGeom prst="line">
            <a:avLst/>
          </a:prstGeom>
          <a:ln w="9525">
            <a:solidFill>
              <a:srgbClr val="c2d3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35" name="Oval 31"/>
          <p:cNvSpPr/>
          <p:nvPr/>
        </p:nvSpPr>
        <p:spPr>
          <a:xfrm>
            <a:off x="6217920" y="3145680"/>
            <a:ext cx="402120" cy="402120"/>
          </a:xfrm>
          <a:prstGeom prst="ellipse">
            <a:avLst/>
          </a:prstGeom>
          <a:solidFill>
            <a:srgbClr val="e4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6" name="TextBox 32"/>
          <p:cNvSpPr/>
          <p:nvPr/>
        </p:nvSpPr>
        <p:spPr>
          <a:xfrm>
            <a:off x="6217920" y="3258720"/>
            <a:ext cx="402120" cy="17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50" spc="-1" strike="noStrike">
                <a:solidFill>
                  <a:srgbClr val="006b83"/>
                </a:solidFill>
                <a:latin typeface="Arial"/>
              </a:rPr>
              <a:t>08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37" name="TextBox 33"/>
          <p:cNvSpPr/>
          <p:nvPr/>
        </p:nvSpPr>
        <p:spPr>
          <a:xfrm>
            <a:off x="6766560" y="3127320"/>
            <a:ext cx="5101920" cy="41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15242b"/>
                </a:solidFill>
                <a:latin typeface="Arial"/>
              </a:rPr>
              <a:t>Simulation environment &amp; power model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050" spc="-1" strike="noStrike">
                <a:solidFill>
                  <a:srgbClr val="5a6b73"/>
                </a:solidFill>
                <a:latin typeface="Arial"/>
              </a:rPr>
              <a:t>Six subsystem sims and the OBC power FSM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38" name="Connector 34"/>
          <p:cNvSpPr/>
          <p:nvPr/>
        </p:nvSpPr>
        <p:spPr>
          <a:xfrm>
            <a:off x="6766200" y="3895200"/>
            <a:ext cx="5121000" cy="360"/>
          </a:xfrm>
          <a:prstGeom prst="line">
            <a:avLst/>
          </a:prstGeom>
          <a:ln w="9525">
            <a:solidFill>
              <a:srgbClr val="c2d3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39" name="Oval 35"/>
          <p:cNvSpPr/>
          <p:nvPr/>
        </p:nvSpPr>
        <p:spPr>
          <a:xfrm>
            <a:off x="6217920" y="4114800"/>
            <a:ext cx="402120" cy="402120"/>
          </a:xfrm>
          <a:prstGeom prst="ellipse">
            <a:avLst/>
          </a:prstGeom>
          <a:solidFill>
            <a:srgbClr val="e4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0" name="TextBox 36"/>
          <p:cNvSpPr/>
          <p:nvPr/>
        </p:nvSpPr>
        <p:spPr>
          <a:xfrm>
            <a:off x="6217920" y="4227840"/>
            <a:ext cx="402120" cy="17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50" spc="-1" strike="noStrike">
                <a:solidFill>
                  <a:srgbClr val="006b83"/>
                </a:solidFill>
                <a:latin typeface="Arial"/>
              </a:rPr>
              <a:t>09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41" name="TextBox 37"/>
          <p:cNvSpPr/>
          <p:nvPr/>
        </p:nvSpPr>
        <p:spPr>
          <a:xfrm>
            <a:off x="6766560" y="4096440"/>
            <a:ext cx="5101920" cy="41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15242b"/>
                </a:solidFill>
                <a:latin typeface="Arial"/>
              </a:rPr>
              <a:t>Verification status and next steps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1050" spc="-1" strike="noStrike">
                <a:solidFill>
                  <a:srgbClr val="5a6b73"/>
                </a:solidFill>
                <a:latin typeface="Arial"/>
              </a:rPr>
              <a:t>What is proven, what remains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42" name="TextBox 38"/>
          <p:cNvSpPr/>
          <p:nvPr/>
        </p:nvSpPr>
        <p:spPr>
          <a:xfrm>
            <a:off x="225720" y="6144840"/>
            <a:ext cx="11521080" cy="12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i="1" lang="en-US" sz="850" spc="-1" strike="noStrike">
                <a:solidFill>
                  <a:srgbClr val="8d9ba1"/>
                </a:solidFill>
                <a:latin typeface="Arial"/>
              </a:rPr>
              <a:t>Sources: repository docs/, mib/ definitions and the C++17 sources; all figures verified against the working tree.</a:t>
            </a:r>
            <a:endParaRPr b="0" lang="en-IN" sz="8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225720" y="176760"/>
            <a:ext cx="11740320" cy="7318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500" spc="-1" strike="noStrike">
                <a:solidFill>
                  <a:srgbClr val="15242b"/>
                </a:solidFill>
                <a:latin typeface="Arial"/>
              </a:rPr>
              <a:t>Purpose, scope </a:t>
            </a:r>
            <a:r>
              <a:rPr b="1" lang="en-US" sz="2500" spc="-1" strike="noStrike">
                <a:solidFill>
                  <a:srgbClr val="15242b"/>
                </a:solidFill>
                <a:latin typeface="Arial"/>
              </a:rPr>
              <a:t>and system </a:t>
            </a:r>
            <a:r>
              <a:rPr b="1" lang="en-US" sz="2500" spc="-1" strike="noStrike">
                <a:solidFill>
                  <a:srgbClr val="15242b"/>
                </a:solidFill>
                <a:latin typeface="Arial"/>
              </a:rPr>
              <a:t>context</a:t>
            </a:r>
            <a:endParaRPr b="0" lang="en-US" sz="25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4" name="TextBox 3"/>
          <p:cNvSpPr/>
          <p:nvPr/>
        </p:nvSpPr>
        <p:spPr>
          <a:xfrm>
            <a:off x="225720" y="873360"/>
            <a:ext cx="1174068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50" spc="-1" strike="noStrike">
                <a:solidFill>
                  <a:srgbClr val="006b83"/>
                </a:solidFill>
                <a:latin typeface="Arial"/>
              </a:rPr>
              <a:t>A single C++17 codebase that commands the spacecraft, models it on the bench, and decodes what comes back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45" name="TextBox 4"/>
          <p:cNvSpPr/>
          <p:nvPr/>
        </p:nvSpPr>
        <p:spPr>
          <a:xfrm>
            <a:off x="274320" y="1298520"/>
            <a:ext cx="6720480" cy="38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73880" indent="-173880">
              <a:lnSpc>
                <a:spcPct val="100000"/>
              </a:lnSpc>
              <a:spcBef>
                <a:spcPts val="799"/>
              </a:spcBef>
              <a:buClr>
                <a:srgbClr val="009ebe"/>
              </a:buClr>
              <a:buFont typeface="Arial"/>
              <a:buChar char="●"/>
            </a:pPr>
            <a:r>
              <a:rPr b="1" lang="en-US" sz="1250" spc="-1" strike="noStrike">
                <a:solidFill>
                  <a:srgbClr val="15242b"/>
                </a:solidFill>
                <a:latin typeface="Arial"/>
              </a:rPr>
              <a:t>What the system is</a:t>
            </a:r>
            <a:endParaRPr b="0" lang="en-IN" sz="1250" spc="-1" strike="noStrike">
              <a:latin typeface="Arial"/>
            </a:endParaRPr>
          </a:p>
          <a:p>
            <a:pPr marL="374760" indent="-173880">
              <a:lnSpc>
                <a:spcPct val="100000"/>
              </a:lnSpc>
              <a:spcBef>
                <a:spcPts val="799"/>
              </a:spcBef>
              <a:buClr>
                <a:srgbClr val="009ebe"/>
              </a:buClr>
              <a:buFont typeface="Arial"/>
              <a:buChar char="▪"/>
            </a:pPr>
            <a:r>
              <a:rPr b="0" lang="en-US" sz="1100" spc="-1" strike="noStrike">
                <a:solidFill>
                  <a:srgbClr val="15242b"/>
                </a:solidFill>
                <a:latin typeface="Arial"/>
              </a:rPr>
              <a:t>A Level-1/Level-2 ground station for the XDOS satellite: an operator CLI, an on-board-computer bridge, and a live multi-process simulator stack that stands in for flight hardware.</a:t>
            </a:r>
            <a:endParaRPr b="0" lang="en-IN" sz="1100" spc="-1" strike="noStrike">
              <a:latin typeface="Arial"/>
            </a:endParaRPr>
          </a:p>
          <a:p>
            <a:pPr marL="374760" indent="-173880">
              <a:lnSpc>
                <a:spcPct val="100000"/>
              </a:lnSpc>
              <a:spcBef>
                <a:spcPts val="799"/>
              </a:spcBef>
              <a:buClr>
                <a:srgbClr val="009ebe"/>
              </a:buClr>
              <a:buFont typeface="Arial"/>
              <a:buChar char="▪"/>
            </a:pPr>
            <a:r>
              <a:rPr b="0" lang="en-US" sz="1100" spc="-1" strike="noStrike">
                <a:solidFill>
                  <a:srgbClr val="15242b"/>
                </a:solidFill>
                <a:latin typeface="Arial"/>
              </a:rPr>
              <a:t>Every telecommand and telemetry definition is data, not code — loaded at start-up from the MIB JSON files, so a database revision needs no rebuild.</a:t>
            </a:r>
            <a:endParaRPr b="0" lang="en-IN" sz="1100" spc="-1" strike="noStrike">
              <a:latin typeface="Arial"/>
            </a:endParaRPr>
          </a:p>
          <a:p>
            <a:pPr marL="173880" indent="-173880">
              <a:lnSpc>
                <a:spcPct val="100000"/>
              </a:lnSpc>
              <a:spcBef>
                <a:spcPts val="799"/>
              </a:spcBef>
              <a:buClr>
                <a:srgbClr val="009ebe"/>
              </a:buClr>
              <a:buFont typeface="Arial"/>
              <a:buChar char="●"/>
            </a:pPr>
            <a:r>
              <a:rPr b="1" lang="en-US" sz="1250" spc="-1" strike="noStrike">
                <a:solidFill>
                  <a:srgbClr val="15242b"/>
                </a:solidFill>
                <a:latin typeface="Arial"/>
              </a:rPr>
              <a:t>What it delivers today</a:t>
            </a:r>
            <a:endParaRPr b="0" lang="en-IN" sz="1250" spc="-1" strike="noStrike">
              <a:latin typeface="Arial"/>
            </a:endParaRPr>
          </a:p>
          <a:p>
            <a:pPr marL="374760" indent="-173880">
              <a:lnSpc>
                <a:spcPct val="100000"/>
              </a:lnSpc>
              <a:spcBef>
                <a:spcPts val="799"/>
              </a:spcBef>
              <a:buClr>
                <a:srgbClr val="009ebe"/>
              </a:buClr>
              <a:buFont typeface="Arial"/>
              <a:buChar char="▪"/>
            </a:pPr>
            <a:r>
              <a:rPr b="0" lang="en-US" sz="1100" spc="-1" strike="noStrike">
                <a:solidFill>
                  <a:srgbClr val="15242b"/>
                </a:solidFill>
                <a:latin typeface="Arial"/>
              </a:rPr>
              <a:t>Telecommanding of six subsystems over CCSDS TC frames, with per-parameter prompting, spec-ID lookup and a full detail view before anything is sent.</a:t>
            </a:r>
            <a:endParaRPr b="0" lang="en-IN" sz="1100" spc="-1" strike="noStrike">
              <a:latin typeface="Arial"/>
            </a:endParaRPr>
          </a:p>
          <a:p>
            <a:pPr marL="374760" indent="-173880">
              <a:lnSpc>
                <a:spcPct val="100000"/>
              </a:lnSpc>
              <a:spcBef>
                <a:spcPts val="799"/>
              </a:spcBef>
              <a:buClr>
                <a:srgbClr val="009ebe"/>
              </a:buClr>
              <a:buFont typeface="Arial"/>
              <a:buChar char="▪"/>
            </a:pPr>
            <a:r>
              <a:rPr b="0" lang="en-US" sz="1100" spc="-1" strike="noStrike">
                <a:solidFill>
                  <a:srgbClr val="15242b"/>
                </a:solidFill>
                <a:latin typeface="Arial"/>
              </a:rPr>
              <a:t>Autonomous housekeeping telemetry driven by a binary rate-group look-up table that is authored on the ground, uplinked, and executed by the OBC with no on-board database.</a:t>
            </a:r>
            <a:endParaRPr b="0" lang="en-IN" sz="1100" spc="-1" strike="noStrike">
              <a:latin typeface="Arial"/>
            </a:endParaRPr>
          </a:p>
          <a:p>
            <a:pPr marL="374760" indent="-173880">
              <a:lnSpc>
                <a:spcPct val="100000"/>
              </a:lnSpc>
              <a:spcBef>
                <a:spcPts val="799"/>
              </a:spcBef>
              <a:buClr>
                <a:srgbClr val="009ebe"/>
              </a:buClr>
              <a:buFont typeface="Arial"/>
              <a:buChar char="▪"/>
            </a:pPr>
            <a:r>
              <a:rPr b="0" lang="en-US" sz="1100" spc="-1" strike="noStrike">
                <a:solidFill>
                  <a:srgbClr val="15242b"/>
                </a:solidFill>
                <a:latin typeface="Arial"/>
              </a:rPr>
              <a:t>A flight-realistic power sequence: OBC boot, staggered subsystem switch-on, battery-threshold load shedding and recovery.</a:t>
            </a:r>
            <a:endParaRPr b="0" lang="en-IN" sz="1100" spc="-1" strike="noStrike">
              <a:latin typeface="Arial"/>
            </a:endParaRPr>
          </a:p>
          <a:p>
            <a:pPr marL="173880" indent="-173880">
              <a:lnSpc>
                <a:spcPct val="100000"/>
              </a:lnSpc>
              <a:spcBef>
                <a:spcPts val="799"/>
              </a:spcBef>
              <a:buClr>
                <a:srgbClr val="009ebe"/>
              </a:buClr>
              <a:buFont typeface="Arial"/>
              <a:buChar char="●"/>
            </a:pPr>
            <a:r>
              <a:rPr b="1" lang="en-US" sz="1250" spc="-1" strike="noStrike">
                <a:solidFill>
                  <a:srgbClr val="15242b"/>
                </a:solidFill>
                <a:latin typeface="Arial"/>
              </a:rPr>
              <a:t>Design constraints that shaped it</a:t>
            </a:r>
            <a:endParaRPr b="0" lang="en-IN" sz="1250" spc="-1" strike="noStrike">
              <a:latin typeface="Arial"/>
            </a:endParaRPr>
          </a:p>
          <a:p>
            <a:pPr marL="374760" indent="-173880">
              <a:lnSpc>
                <a:spcPct val="100000"/>
              </a:lnSpc>
              <a:spcBef>
                <a:spcPts val="799"/>
              </a:spcBef>
              <a:buClr>
                <a:srgbClr val="009ebe"/>
              </a:buClr>
              <a:buFont typeface="Arial"/>
              <a:buChar char="▪"/>
            </a:pPr>
            <a:r>
              <a:rPr b="0" lang="en-US" sz="1100" spc="-1" strike="noStrike">
                <a:solidFill>
                  <a:srgbClr val="15242b"/>
                </a:solidFill>
                <a:latin typeface="Arial"/>
              </a:rPr>
              <a:t>The OBC must stay database-free — it replays opaque command bytes and copies byte ranges, so all meaning stays on the ground.</a:t>
            </a:r>
            <a:endParaRPr b="0" lang="en-IN" sz="1100" spc="-1" strike="noStrike">
              <a:latin typeface="Arial"/>
            </a:endParaRPr>
          </a:p>
          <a:p>
            <a:pPr marL="374760" indent="-173880">
              <a:lnSpc>
                <a:spcPct val="100000"/>
              </a:lnSpc>
              <a:spcBef>
                <a:spcPts val="799"/>
              </a:spcBef>
              <a:buClr>
                <a:srgbClr val="009ebe"/>
              </a:buClr>
              <a:buFont typeface="Arial"/>
              <a:buChar char="▪"/>
            </a:pPr>
            <a:r>
              <a:rPr b="0" lang="en-US" sz="1100" spc="-1" strike="noStrike">
                <a:solidFill>
                  <a:srgbClr val="15242b"/>
                </a:solidFill>
                <a:latin typeface="Arial"/>
              </a:rPr>
              <a:t>The downlink subframe is fixed at 1280 bytes; every telemetry budget is validated at build time, never handled at runtime.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46" name="Rounded Rectangle 5"/>
          <p:cNvSpPr/>
          <p:nvPr/>
        </p:nvSpPr>
        <p:spPr>
          <a:xfrm>
            <a:off x="7214760" y="1207080"/>
            <a:ext cx="4699800" cy="4498560"/>
          </a:xfrm>
          <a:prstGeom prst="roundRect">
            <a:avLst>
              <a:gd name="adj" fmla="val 3000"/>
            </a:avLst>
          </a:prstGeom>
          <a:solidFill>
            <a:srgbClr val="f2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7" name="TextBox 6"/>
          <p:cNvSpPr/>
          <p:nvPr/>
        </p:nvSpPr>
        <p:spPr>
          <a:xfrm>
            <a:off x="7360920" y="1298520"/>
            <a:ext cx="438876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006b83"/>
                </a:solidFill>
                <a:latin typeface="Arial"/>
              </a:rPr>
              <a:t>THE BUILD, IN NUMBERS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48" name="Rounded Rectangle 7"/>
          <p:cNvSpPr/>
          <p:nvPr/>
        </p:nvSpPr>
        <p:spPr>
          <a:xfrm>
            <a:off x="7360920" y="1774080"/>
            <a:ext cx="4407120" cy="859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9" name="Rectangle 8"/>
          <p:cNvSpPr/>
          <p:nvPr/>
        </p:nvSpPr>
        <p:spPr>
          <a:xfrm>
            <a:off x="7360920" y="1774080"/>
            <a:ext cx="50040" cy="859320"/>
          </a:xfrm>
          <a:prstGeom prst="rect">
            <a:avLst/>
          </a:prstGeom>
          <a:solidFill>
            <a:srgbClr val="009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0" name="TextBox 9"/>
          <p:cNvSpPr/>
          <p:nvPr/>
        </p:nvSpPr>
        <p:spPr>
          <a:xfrm>
            <a:off x="7562160" y="2021760"/>
            <a:ext cx="1416960" cy="38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500" spc="-1" strike="noStrike">
                <a:solidFill>
                  <a:srgbClr val="006b83"/>
                </a:solidFill>
                <a:latin typeface="Arial"/>
              </a:rPr>
              <a:t>~19 k</a:t>
            </a:r>
            <a:endParaRPr b="0" lang="en-IN" sz="2500" spc="-1" strike="noStrike">
              <a:latin typeface="Arial"/>
            </a:endParaRPr>
          </a:p>
        </p:txBody>
      </p:sp>
      <p:sp>
        <p:nvSpPr>
          <p:cNvPr id="151" name="TextBox 10"/>
          <p:cNvSpPr/>
          <p:nvPr/>
        </p:nvSpPr>
        <p:spPr>
          <a:xfrm>
            <a:off x="9006840" y="1920240"/>
            <a:ext cx="260568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15242b"/>
                </a:solidFill>
                <a:latin typeface="Arial"/>
              </a:rPr>
              <a:t>lines of C++17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900" spc="-1" strike="noStrike">
                <a:solidFill>
                  <a:srgbClr val="5a6b73"/>
                </a:solidFill>
                <a:latin typeface="Arial"/>
              </a:rPr>
              <a:t>obc · simulator · src · tests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52" name="Rounded Rectangle 11"/>
          <p:cNvSpPr/>
          <p:nvPr/>
        </p:nvSpPr>
        <p:spPr>
          <a:xfrm>
            <a:off x="7360920" y="2779920"/>
            <a:ext cx="4407120" cy="859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3" name="Rectangle 12"/>
          <p:cNvSpPr/>
          <p:nvPr/>
        </p:nvSpPr>
        <p:spPr>
          <a:xfrm>
            <a:off x="7360920" y="2779920"/>
            <a:ext cx="50040" cy="859320"/>
          </a:xfrm>
          <a:prstGeom prst="rect">
            <a:avLst/>
          </a:prstGeom>
          <a:solidFill>
            <a:srgbClr val="009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4" name="TextBox 13"/>
          <p:cNvSpPr/>
          <p:nvPr/>
        </p:nvSpPr>
        <p:spPr>
          <a:xfrm>
            <a:off x="7562160" y="3027600"/>
            <a:ext cx="1416960" cy="38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500" spc="-1" strike="noStrike">
                <a:solidFill>
                  <a:srgbClr val="006b83"/>
                </a:solidFill>
                <a:latin typeface="Arial"/>
              </a:rPr>
              <a:t>6</a:t>
            </a:r>
            <a:endParaRPr b="0" lang="en-IN" sz="2500" spc="-1" strike="noStrike">
              <a:latin typeface="Arial"/>
            </a:endParaRPr>
          </a:p>
        </p:txBody>
      </p:sp>
      <p:sp>
        <p:nvSpPr>
          <p:cNvPr id="155" name="TextBox 14"/>
          <p:cNvSpPr/>
          <p:nvPr/>
        </p:nvSpPr>
        <p:spPr>
          <a:xfrm>
            <a:off x="9006840" y="2926080"/>
            <a:ext cx="260568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15242b"/>
                </a:solidFill>
                <a:latin typeface="Arial"/>
              </a:rPr>
              <a:t>subsystems modelled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900" spc="-1" strike="noStrike">
                <a:solidFill>
                  <a:srgbClr val="5a6b73"/>
                </a:solidFill>
                <a:latin typeface="Arial"/>
              </a:rPr>
              <a:t>EPS · ADCS · GPS · Payload · XLINK-S · UHF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56" name="Rounded Rectangle 15"/>
          <p:cNvSpPr/>
          <p:nvPr/>
        </p:nvSpPr>
        <p:spPr>
          <a:xfrm>
            <a:off x="7360920" y="3785760"/>
            <a:ext cx="4407120" cy="859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7" name="Rectangle 16"/>
          <p:cNvSpPr/>
          <p:nvPr/>
        </p:nvSpPr>
        <p:spPr>
          <a:xfrm>
            <a:off x="7360920" y="3785760"/>
            <a:ext cx="50040" cy="859320"/>
          </a:xfrm>
          <a:prstGeom prst="rect">
            <a:avLst/>
          </a:prstGeom>
          <a:solidFill>
            <a:srgbClr val="009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8" name="TextBox 17"/>
          <p:cNvSpPr/>
          <p:nvPr/>
        </p:nvSpPr>
        <p:spPr>
          <a:xfrm>
            <a:off x="7562160" y="4033440"/>
            <a:ext cx="1416960" cy="38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500" spc="-1" strike="noStrike">
                <a:solidFill>
                  <a:srgbClr val="006b83"/>
                </a:solidFill>
                <a:latin typeface="Arial"/>
              </a:rPr>
              <a:t>418</a:t>
            </a:r>
            <a:endParaRPr b="0" lang="en-IN" sz="2500" spc="-1" strike="noStrike">
              <a:latin typeface="Arial"/>
            </a:endParaRPr>
          </a:p>
        </p:txBody>
      </p:sp>
      <p:sp>
        <p:nvSpPr>
          <p:cNvPr id="159" name="TextBox 18"/>
          <p:cNvSpPr/>
          <p:nvPr/>
        </p:nvSpPr>
        <p:spPr>
          <a:xfrm>
            <a:off x="9006840" y="3931920"/>
            <a:ext cx="260568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15242b"/>
                </a:solidFill>
                <a:latin typeface="Arial"/>
              </a:rPr>
              <a:t>MIB message definitions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900" spc="-1" strike="noStrike">
                <a:solidFill>
                  <a:srgbClr val="5a6b73"/>
                </a:solidFill>
                <a:latin typeface="Arial"/>
              </a:rPr>
              <a:t>loaded from mib/*.json at start-up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60" name="Rounded Rectangle 19"/>
          <p:cNvSpPr/>
          <p:nvPr/>
        </p:nvSpPr>
        <p:spPr>
          <a:xfrm>
            <a:off x="7360920" y="4791600"/>
            <a:ext cx="4407120" cy="859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1" name="Rectangle 20"/>
          <p:cNvSpPr/>
          <p:nvPr/>
        </p:nvSpPr>
        <p:spPr>
          <a:xfrm>
            <a:off x="7360920" y="4791600"/>
            <a:ext cx="50040" cy="859320"/>
          </a:xfrm>
          <a:prstGeom prst="rect">
            <a:avLst/>
          </a:prstGeom>
          <a:solidFill>
            <a:srgbClr val="009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2" name="TextBox 21"/>
          <p:cNvSpPr/>
          <p:nvPr/>
        </p:nvSpPr>
        <p:spPr>
          <a:xfrm>
            <a:off x="7562160" y="5039280"/>
            <a:ext cx="1416960" cy="38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500" spc="-1" strike="noStrike">
                <a:solidFill>
                  <a:srgbClr val="006b83"/>
                </a:solidFill>
                <a:latin typeface="Arial"/>
              </a:rPr>
              <a:t>110</a:t>
            </a:r>
            <a:endParaRPr b="0" lang="en-IN" sz="2500" spc="-1" strike="noStrike">
              <a:latin typeface="Arial"/>
            </a:endParaRPr>
          </a:p>
        </p:txBody>
      </p:sp>
      <p:sp>
        <p:nvSpPr>
          <p:cNvPr id="163" name="TextBox 22"/>
          <p:cNvSpPr/>
          <p:nvPr/>
        </p:nvSpPr>
        <p:spPr>
          <a:xfrm>
            <a:off x="9006840" y="4937760"/>
            <a:ext cx="260568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15242b"/>
                </a:solidFill>
                <a:latin typeface="Arial"/>
              </a:rPr>
              <a:t>test cases, all passing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None/>
            </a:pPr>
            <a:r>
              <a:rPr b="0" lang="en-US" sz="900" spc="-1" strike="noStrike">
                <a:solidFill>
                  <a:srgbClr val="5a6b73"/>
                </a:solidFill>
                <a:latin typeface="Arial"/>
              </a:rPr>
              <a:t>1 672 assertions under Catch2 v3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64" name="TextBox 23"/>
          <p:cNvSpPr/>
          <p:nvPr/>
        </p:nvSpPr>
        <p:spPr>
          <a:xfrm>
            <a:off x="225720" y="6144840"/>
            <a:ext cx="11521080" cy="12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i="1" lang="en-US" sz="850" spc="-1" strike="noStrike">
                <a:solidFill>
                  <a:srgbClr val="8d9ba1"/>
                </a:solidFill>
                <a:latin typeface="Arial"/>
              </a:rPr>
              <a:t>Test figure measured by running ./build/xdos_tests on the current working tree.</a:t>
            </a:r>
            <a:endParaRPr b="0" lang="en-IN" sz="8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225720" y="176760"/>
            <a:ext cx="11740320" cy="7318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500" spc="-1" strike="noStrike">
                <a:solidFill>
                  <a:srgbClr val="15242b"/>
                </a:solidFill>
                <a:latin typeface="Arial"/>
              </a:rPr>
              <a:t>System block </a:t>
            </a:r>
            <a:r>
              <a:rPr b="1" lang="en-US" sz="2500" spc="-1" strike="noStrike">
                <a:solidFill>
                  <a:srgbClr val="15242b"/>
                </a:solidFill>
                <a:latin typeface="Arial"/>
              </a:rPr>
              <a:t>diagram</a:t>
            </a:r>
            <a:endParaRPr b="0" lang="en-US" sz="25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6" name="TextBox 3"/>
          <p:cNvSpPr/>
          <p:nvPr/>
        </p:nvSpPr>
        <p:spPr>
          <a:xfrm>
            <a:off x="225720" y="873360"/>
            <a:ext cx="1174068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50" spc="-1" strike="noStrike">
                <a:solidFill>
                  <a:srgbClr val="006b83"/>
                </a:solidFill>
                <a:latin typeface="Arial"/>
              </a:rPr>
              <a:t>Five cooperating processes on one host; every link is a plain TCP socket, so any node can be replaced by real hardware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67" name="Rounded Rectangle 4"/>
          <p:cNvSpPr/>
          <p:nvPr/>
        </p:nvSpPr>
        <p:spPr>
          <a:xfrm>
            <a:off x="274320" y="1280160"/>
            <a:ext cx="2742840" cy="4525920"/>
          </a:xfrm>
          <a:prstGeom prst="roundRect">
            <a:avLst>
              <a:gd name="adj" fmla="val 3000"/>
            </a:avLst>
          </a:prstGeom>
          <a:noFill/>
          <a:ln w="12700">
            <a:solidFill>
              <a:srgbClr val="8d9ba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8" name="TextBox 5"/>
          <p:cNvSpPr/>
          <p:nvPr/>
        </p:nvSpPr>
        <p:spPr>
          <a:xfrm>
            <a:off x="402480" y="1275480"/>
            <a:ext cx="248688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950" spc="-1" strike="noStrike">
                <a:solidFill>
                  <a:srgbClr val="006b83"/>
                </a:solidFill>
                <a:latin typeface="Arial"/>
              </a:rPr>
              <a:t>GROUND SEGMENT — operator host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169" name="Rounded Rectangle 6"/>
          <p:cNvSpPr/>
          <p:nvPr/>
        </p:nvSpPr>
        <p:spPr>
          <a:xfrm>
            <a:off x="4526280" y="1280160"/>
            <a:ext cx="3062880" cy="4525920"/>
          </a:xfrm>
          <a:prstGeom prst="roundRect">
            <a:avLst>
              <a:gd name="adj" fmla="val 3000"/>
            </a:avLst>
          </a:prstGeom>
          <a:noFill/>
          <a:ln w="12700">
            <a:solidFill>
              <a:srgbClr val="8d9ba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0" name="TextBox 7"/>
          <p:cNvSpPr/>
          <p:nvPr/>
        </p:nvSpPr>
        <p:spPr>
          <a:xfrm>
            <a:off x="4654440" y="1275480"/>
            <a:ext cx="28069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950" spc="-1" strike="noStrike">
                <a:solidFill>
                  <a:srgbClr val="006b83"/>
                </a:solidFill>
                <a:latin typeface="Arial"/>
              </a:rPr>
              <a:t>ON-BOARD COMPUTER — xdos_obc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171" name="Rounded Rectangle 8"/>
          <p:cNvSpPr/>
          <p:nvPr/>
        </p:nvSpPr>
        <p:spPr>
          <a:xfrm>
            <a:off x="9006840" y="1280160"/>
            <a:ext cx="2907360" cy="4525920"/>
          </a:xfrm>
          <a:prstGeom prst="roundRect">
            <a:avLst>
              <a:gd name="adj" fmla="val 3000"/>
            </a:avLst>
          </a:prstGeom>
          <a:noFill/>
          <a:ln w="12700">
            <a:solidFill>
              <a:srgbClr val="8d9ba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2" name="TextBox 9"/>
          <p:cNvSpPr/>
          <p:nvPr/>
        </p:nvSpPr>
        <p:spPr>
          <a:xfrm>
            <a:off x="9135000" y="1275480"/>
            <a:ext cx="265140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950" spc="-1" strike="noStrike">
                <a:solidFill>
                  <a:srgbClr val="006b83"/>
                </a:solidFill>
                <a:latin typeface="Arial"/>
              </a:rPr>
              <a:t>SUBSYSTEM SIMULATORS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173" name="Rounded Rectangle 10"/>
          <p:cNvSpPr/>
          <p:nvPr/>
        </p:nvSpPr>
        <p:spPr>
          <a:xfrm>
            <a:off x="438840" y="1600200"/>
            <a:ext cx="2413800" cy="914040"/>
          </a:xfrm>
          <a:prstGeom prst="roundRect">
            <a:avLst>
              <a:gd name="adj" fmla="val 10000"/>
            </a:avLst>
          </a:prstGeom>
          <a:solidFill>
            <a:srgbClr val="e4f4f8"/>
          </a:solidFill>
          <a:ln w="15875">
            <a:solidFill>
              <a:srgbClr val="009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36720" bIns="36720" anchor="ctr">
            <a:noAutofit/>
          </a:bodyPr>
          <a:p>
            <a:pPr algn="ctr">
              <a:lnSpc>
                <a:spcPct val="92000"/>
              </a:lnSpc>
              <a:buNone/>
            </a:pPr>
            <a:r>
              <a:rPr b="1" lang="en-US" sz="1250" spc="-1" strike="noStrike">
                <a:solidFill>
                  <a:srgbClr val="15242b"/>
                </a:solidFill>
                <a:latin typeface="Arial"/>
              </a:rPr>
              <a:t>xdos_gs</a:t>
            </a:r>
            <a:endParaRPr b="0" lang="en-IN" sz="1250" spc="-1" strike="noStrike">
              <a:latin typeface="Arial"/>
            </a:endParaRPr>
          </a:p>
          <a:p>
            <a:pPr algn="ctr">
              <a:lnSpc>
                <a:spcPct val="92000"/>
              </a:lnSpc>
              <a:spcBef>
                <a:spcPts val="300"/>
              </a:spcBef>
              <a:buNone/>
            </a:pPr>
            <a:r>
              <a:rPr b="0" lang="en-US" sz="850" spc="-1" strike="noStrike">
                <a:solidFill>
                  <a:srgbClr val="5a6b73"/>
                </a:solidFill>
                <a:latin typeface="Arial"/>
              </a:rPr>
              <a:t>Operator CLI — telecommanding</a:t>
            </a:r>
            <a:endParaRPr b="0" lang="en-IN" sz="850" spc="-1" strike="noStrike">
              <a:latin typeface="Arial"/>
            </a:endParaRPr>
          </a:p>
          <a:p>
            <a:pPr algn="ctr">
              <a:lnSpc>
                <a:spcPct val="92000"/>
              </a:lnSpc>
              <a:spcBef>
                <a:spcPts val="99"/>
              </a:spcBef>
              <a:buNone/>
            </a:pPr>
            <a:r>
              <a:rPr b="0" lang="en-US" sz="850" spc="-1" strike="noStrike">
                <a:solidFill>
                  <a:srgbClr val="5a6b73"/>
                </a:solidFill>
                <a:latin typeface="Arial"/>
              </a:rPr>
              <a:t>MIB-driven listings, params, decode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174" name="Rounded Rectangle 11"/>
          <p:cNvSpPr/>
          <p:nvPr/>
        </p:nvSpPr>
        <p:spPr>
          <a:xfrm>
            <a:off x="438840" y="2724840"/>
            <a:ext cx="2413800" cy="959760"/>
          </a:xfrm>
          <a:prstGeom prst="roundRect">
            <a:avLst>
              <a:gd name="adj" fmla="val 10000"/>
            </a:avLst>
          </a:prstGeom>
          <a:solidFill>
            <a:srgbClr val="e4f4f8"/>
          </a:solidFill>
          <a:ln w="15875">
            <a:solidFill>
              <a:srgbClr val="009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36720" bIns="36720" anchor="ctr">
            <a:noAutofit/>
          </a:bodyPr>
          <a:p>
            <a:pPr algn="ctr">
              <a:lnSpc>
                <a:spcPct val="92000"/>
              </a:lnSpc>
              <a:buNone/>
            </a:pPr>
            <a:r>
              <a:rPr b="1" lang="en-US" sz="1250" spc="-1" strike="noStrike">
                <a:solidFill>
                  <a:srgbClr val="15242b"/>
                </a:solidFill>
                <a:latin typeface="Arial"/>
              </a:rPr>
              <a:t>xdos_tm_view</a:t>
            </a:r>
            <a:endParaRPr b="0" lang="en-IN" sz="1250" spc="-1" strike="noStrike">
              <a:latin typeface="Arial"/>
            </a:endParaRPr>
          </a:p>
          <a:p>
            <a:pPr algn="ctr">
              <a:lnSpc>
                <a:spcPct val="92000"/>
              </a:lnSpc>
              <a:spcBef>
                <a:spcPts val="300"/>
              </a:spcBef>
              <a:buNone/>
            </a:pPr>
            <a:r>
              <a:rPr b="0" lang="en-US" sz="850" spc="-1" strike="noStrike">
                <a:solidFill>
                  <a:srgbClr val="5a6b73"/>
                </a:solidFill>
                <a:latin typeface="Arial"/>
              </a:rPr>
              <a:t>Master-frame telemetry viewer</a:t>
            </a:r>
            <a:endParaRPr b="0" lang="en-IN" sz="850" spc="-1" strike="noStrike">
              <a:latin typeface="Arial"/>
            </a:endParaRPr>
          </a:p>
          <a:p>
            <a:pPr algn="ctr">
              <a:lnSpc>
                <a:spcPct val="92000"/>
              </a:lnSpc>
              <a:spcBef>
                <a:spcPts val="99"/>
              </a:spcBef>
              <a:buNone/>
            </a:pPr>
            <a:r>
              <a:rPr b="0" lang="en-US" sz="850" spc="-1" strike="noStrike">
                <a:solidFill>
                  <a:srgbClr val="5a6b73"/>
                </a:solidFill>
                <a:latin typeface="Arial"/>
              </a:rPr>
              <a:t>tier-indexed, slot-aligned decode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175" name="Rounded Rectangle 12"/>
          <p:cNvSpPr/>
          <p:nvPr/>
        </p:nvSpPr>
        <p:spPr>
          <a:xfrm>
            <a:off x="438840" y="3895200"/>
            <a:ext cx="2413800" cy="959760"/>
          </a:xfrm>
          <a:prstGeom prst="roundRect">
            <a:avLst>
              <a:gd name="adj" fmla="val 10000"/>
            </a:avLst>
          </a:prstGeom>
          <a:solidFill>
            <a:srgbClr val="fdf3e0"/>
          </a:solidFill>
          <a:ln w="15875">
            <a:solidFill>
              <a:srgbClr val="e092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36720" bIns="36720" anchor="ctr">
            <a:noAutofit/>
          </a:bodyPr>
          <a:p>
            <a:pPr algn="ctr">
              <a:lnSpc>
                <a:spcPct val="92000"/>
              </a:lnSpc>
              <a:buNone/>
            </a:pPr>
            <a:r>
              <a:rPr b="1" lang="en-US" sz="1250" spc="-1" strike="noStrike">
                <a:solidFill>
                  <a:srgbClr val="15242b"/>
                </a:solidFill>
                <a:latin typeface="Arial"/>
              </a:rPr>
              <a:t>LUT authoring</a:t>
            </a:r>
            <a:endParaRPr b="0" lang="en-IN" sz="1250" spc="-1" strike="noStrike">
              <a:latin typeface="Arial"/>
            </a:endParaRPr>
          </a:p>
          <a:p>
            <a:pPr algn="ctr">
              <a:lnSpc>
                <a:spcPct val="92000"/>
              </a:lnSpc>
              <a:spcBef>
                <a:spcPts val="300"/>
              </a:spcBef>
              <a:buNone/>
            </a:pPr>
            <a:r>
              <a:rPr b="0" lang="en-US" sz="850" spc="-1" strike="noStrike">
                <a:solidFill>
                  <a:srgbClr val="5a6b73"/>
                </a:solidFill>
                <a:latin typeface="Arial"/>
              </a:rPr>
              <a:t>rate_group_commands.csv</a:t>
            </a:r>
            <a:endParaRPr b="0" lang="en-IN" sz="850" spc="-1" strike="noStrike">
              <a:latin typeface="Arial"/>
            </a:endParaRPr>
          </a:p>
          <a:p>
            <a:pPr algn="ctr">
              <a:lnSpc>
                <a:spcPct val="92000"/>
              </a:lnSpc>
              <a:spcBef>
                <a:spcPts val="99"/>
              </a:spcBef>
              <a:buNone/>
            </a:pPr>
            <a:r>
              <a:rPr b="0" lang="en-US" sz="850" spc="-1" strike="noStrike">
                <a:solidFill>
                  <a:srgbClr val="5a6b73"/>
                </a:solidFill>
                <a:latin typeface="Arial"/>
              </a:rPr>
              <a:t>xdos_lut_csv  ·  [g] composer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176" name="Rounded Rectangle 13"/>
          <p:cNvSpPr/>
          <p:nvPr/>
        </p:nvSpPr>
        <p:spPr>
          <a:xfrm>
            <a:off x="438840" y="5074920"/>
            <a:ext cx="2413800" cy="566640"/>
          </a:xfrm>
          <a:prstGeom prst="roundRect">
            <a:avLst>
              <a:gd name="adj" fmla="val 10000"/>
            </a:avLst>
          </a:prstGeom>
          <a:solidFill>
            <a:srgbClr val="f2f5f6"/>
          </a:solidFill>
          <a:ln w="15875">
            <a:solidFill>
              <a:srgbClr val="8d9b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36720" bIns="36720" anchor="ctr">
            <a:noAutofit/>
          </a:bodyPr>
          <a:p>
            <a:pPr algn="ctr">
              <a:lnSpc>
                <a:spcPct val="92000"/>
              </a:lnSpc>
              <a:buNone/>
            </a:pPr>
            <a:r>
              <a:rPr b="1" lang="en-US" sz="1250" spc="-1" strike="noStrike">
                <a:solidFill>
                  <a:srgbClr val="15242b"/>
                </a:solidFill>
                <a:latin typeface="Arial"/>
              </a:rPr>
              <a:t>EGSE power monitor</a:t>
            </a:r>
            <a:endParaRPr b="0" lang="en-IN" sz="1250" spc="-1" strike="noStrike">
              <a:latin typeface="Arial"/>
            </a:endParaRPr>
          </a:p>
          <a:p>
            <a:pPr algn="ctr">
              <a:lnSpc>
                <a:spcPct val="92000"/>
              </a:lnSpc>
              <a:spcBef>
                <a:spcPts val="300"/>
              </a:spcBef>
              <a:buNone/>
            </a:pPr>
            <a:r>
              <a:rPr b="0" lang="en-US" sz="850" spc="-1" strike="noStrike">
                <a:solidFill>
                  <a:srgbClr val="5a6b73"/>
                </a:solidFill>
                <a:latin typeface="Arial"/>
              </a:rPr>
              <a:t>umbilical poll — [p] menu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177" name="Rounded Rectangle 14"/>
          <p:cNvSpPr/>
          <p:nvPr/>
        </p:nvSpPr>
        <p:spPr>
          <a:xfrm>
            <a:off x="4690800" y="1600200"/>
            <a:ext cx="2733840" cy="822600"/>
          </a:xfrm>
          <a:prstGeom prst="roundRect">
            <a:avLst>
              <a:gd name="adj" fmla="val 10000"/>
            </a:avLst>
          </a:prstGeom>
          <a:solidFill>
            <a:srgbClr val="e4f4f8"/>
          </a:solidFill>
          <a:ln w="15875">
            <a:solidFill>
              <a:srgbClr val="009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36720" bIns="36720" anchor="ctr">
            <a:noAutofit/>
          </a:bodyPr>
          <a:p>
            <a:pPr algn="ctr">
              <a:lnSpc>
                <a:spcPct val="92000"/>
              </a:lnSpc>
              <a:buNone/>
            </a:pPr>
            <a:r>
              <a:rPr b="1" lang="en-US" sz="1250" spc="-1" strike="noStrike">
                <a:solidFill>
                  <a:srgbClr val="15242b"/>
                </a:solidFill>
                <a:latin typeface="Arial"/>
              </a:rPr>
              <a:t>Frame Bridge / Router</a:t>
            </a:r>
            <a:endParaRPr b="0" lang="en-IN" sz="1250" spc="-1" strike="noStrike">
              <a:latin typeface="Arial"/>
            </a:endParaRPr>
          </a:p>
          <a:p>
            <a:pPr algn="ctr">
              <a:lnSpc>
                <a:spcPct val="92000"/>
              </a:lnSpc>
              <a:spcBef>
                <a:spcPts val="300"/>
              </a:spcBef>
              <a:buNone/>
            </a:pPr>
            <a:r>
              <a:rPr b="0" lang="en-US" sz="850" spc="-1" strike="noStrike">
                <a:solidFill>
                  <a:srgbClr val="5a6b73"/>
                </a:solidFill>
                <a:latin typeface="Arial"/>
              </a:rPr>
              <a:t>prefix + APID routing</a:t>
            </a:r>
            <a:endParaRPr b="0" lang="en-IN" sz="850" spc="-1" strike="noStrike">
              <a:latin typeface="Arial"/>
            </a:endParaRPr>
          </a:p>
          <a:p>
            <a:pPr algn="ctr">
              <a:lnSpc>
                <a:spcPct val="92000"/>
              </a:lnSpc>
              <a:spcBef>
                <a:spcPts val="99"/>
              </a:spcBef>
              <a:buNone/>
            </a:pPr>
            <a:r>
              <a:rPr b="0" lang="en-US" sz="850" spc="-1" strike="noStrike">
                <a:solidFill>
                  <a:srgbClr val="5a6b73"/>
                </a:solidFill>
                <a:latin typeface="Arial"/>
              </a:rPr>
              <a:t>CCSDS wrap / unwrap, CRC check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178" name="Rounded Rectangle 15"/>
          <p:cNvSpPr/>
          <p:nvPr/>
        </p:nvSpPr>
        <p:spPr>
          <a:xfrm>
            <a:off x="4690800" y="2541960"/>
            <a:ext cx="2733840" cy="658080"/>
          </a:xfrm>
          <a:prstGeom prst="roundRect">
            <a:avLst>
              <a:gd name="adj" fmla="val 10000"/>
            </a:avLst>
          </a:prstGeom>
          <a:solidFill>
            <a:srgbClr val="e4f4f8"/>
          </a:solidFill>
          <a:ln w="15875">
            <a:solidFill>
              <a:srgbClr val="009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36720" bIns="36720" anchor="ctr">
            <a:noAutofit/>
          </a:bodyPr>
          <a:p>
            <a:pPr algn="ctr">
              <a:lnSpc>
                <a:spcPct val="92000"/>
              </a:lnSpc>
              <a:buNone/>
            </a:pPr>
            <a:r>
              <a:rPr b="1" lang="en-US" sz="1250" spc="-1" strike="noStrike">
                <a:solidFill>
                  <a:srgbClr val="15242b"/>
                </a:solidFill>
                <a:latin typeface="Arial"/>
              </a:rPr>
              <a:t>CCSDS TC / TM codecs</a:t>
            </a:r>
            <a:endParaRPr b="0" lang="en-IN" sz="1250" spc="-1" strike="noStrike">
              <a:latin typeface="Arial"/>
            </a:endParaRPr>
          </a:p>
          <a:p>
            <a:pPr algn="ctr">
              <a:lnSpc>
                <a:spcPct val="92000"/>
              </a:lnSpc>
              <a:spcBef>
                <a:spcPts val="300"/>
              </a:spcBef>
              <a:buNone/>
            </a:pPr>
            <a:r>
              <a:rPr b="0" lang="en-US" sz="850" spc="-1" strike="noStrike">
                <a:solidFill>
                  <a:srgbClr val="5a6b73"/>
                </a:solidFill>
                <a:latin typeface="Arial"/>
              </a:rPr>
              <a:t>TC SOF 1ACF  ·  TM SOF FCA1 (1432 B)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179" name="Rounded Rectangle 16"/>
          <p:cNvSpPr/>
          <p:nvPr/>
        </p:nvSpPr>
        <p:spPr>
          <a:xfrm>
            <a:off x="4690800" y="3319200"/>
            <a:ext cx="2733840" cy="868320"/>
          </a:xfrm>
          <a:prstGeom prst="roundRect">
            <a:avLst>
              <a:gd name="adj" fmla="val 10000"/>
            </a:avLst>
          </a:prstGeom>
          <a:solidFill>
            <a:srgbClr val="e9f4ee"/>
          </a:solidFill>
          <a:ln w="15875">
            <a:solidFill>
              <a:srgbClr val="3f8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36720" bIns="36720" anchor="ctr">
            <a:noAutofit/>
          </a:bodyPr>
          <a:p>
            <a:pPr algn="ctr">
              <a:lnSpc>
                <a:spcPct val="92000"/>
              </a:lnSpc>
              <a:buNone/>
            </a:pPr>
            <a:r>
              <a:rPr b="1" lang="en-US" sz="1250" spc="-1" strike="noStrike">
                <a:solidFill>
                  <a:srgbClr val="15242b"/>
                </a:solidFill>
                <a:latin typeface="Arial"/>
              </a:rPr>
              <a:t>Rate-Group Engine</a:t>
            </a:r>
            <a:endParaRPr b="0" lang="en-IN" sz="1250" spc="-1" strike="noStrike">
              <a:latin typeface="Arial"/>
            </a:endParaRPr>
          </a:p>
          <a:p>
            <a:pPr algn="ctr">
              <a:lnSpc>
                <a:spcPct val="92000"/>
              </a:lnSpc>
              <a:spcBef>
                <a:spcPts val="300"/>
              </a:spcBef>
              <a:buNone/>
            </a:pPr>
            <a:r>
              <a:rPr b="0" lang="en-US" sz="850" spc="-1" strike="noStrike">
                <a:solidFill>
                  <a:srgbClr val="5a6b73"/>
                </a:solidFill>
                <a:latin typeface="Arial"/>
              </a:rPr>
              <a:t>16-slot tier schedule  ·  poll → memcpy picks</a:t>
            </a:r>
            <a:endParaRPr b="0" lang="en-IN" sz="850" spc="-1" strike="noStrike">
              <a:latin typeface="Arial"/>
            </a:endParaRPr>
          </a:p>
          <a:p>
            <a:pPr algn="ctr">
              <a:lnSpc>
                <a:spcPct val="92000"/>
              </a:lnSpc>
              <a:spcBef>
                <a:spcPts val="99"/>
              </a:spcBef>
              <a:buNone/>
            </a:pPr>
            <a:r>
              <a:rPr b="0" lang="en-US" sz="850" spc="-1" strike="noStrike">
                <a:solidFill>
                  <a:srgbClr val="5a6b73"/>
                </a:solidFill>
                <a:latin typeface="Arial"/>
              </a:rPr>
              <a:t>assembles the 1280 B subframe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180" name="Rounded Rectangle 17"/>
          <p:cNvSpPr/>
          <p:nvPr/>
        </p:nvSpPr>
        <p:spPr>
          <a:xfrm>
            <a:off x="4690800" y="4306680"/>
            <a:ext cx="2733840" cy="603000"/>
          </a:xfrm>
          <a:prstGeom prst="roundRect">
            <a:avLst>
              <a:gd name="adj" fmla="val 10000"/>
            </a:avLst>
          </a:prstGeom>
          <a:solidFill>
            <a:srgbClr val="fdf3e0"/>
          </a:solidFill>
          <a:ln w="15875">
            <a:solidFill>
              <a:srgbClr val="e092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36720" bIns="36720" anchor="ctr">
            <a:noAutofit/>
          </a:bodyPr>
          <a:p>
            <a:pPr algn="ctr">
              <a:lnSpc>
                <a:spcPct val="92000"/>
              </a:lnSpc>
              <a:buNone/>
            </a:pPr>
            <a:r>
              <a:rPr b="1" lang="en-US" sz="1250" spc="-1" strike="noStrike">
                <a:solidFill>
                  <a:srgbClr val="15242b"/>
                </a:solidFill>
                <a:latin typeface="Arial"/>
              </a:rPr>
              <a:t>Binary LUT store</a:t>
            </a:r>
            <a:endParaRPr b="0" lang="en-IN" sz="1250" spc="-1" strike="noStrike">
              <a:latin typeface="Arial"/>
            </a:endParaRPr>
          </a:p>
          <a:p>
            <a:pPr algn="ctr">
              <a:lnSpc>
                <a:spcPct val="92000"/>
              </a:lnSpc>
              <a:spcBef>
                <a:spcPts val="300"/>
              </a:spcBef>
              <a:buNone/>
            </a:pPr>
            <a:r>
              <a:rPr b="0" lang="en-US" sz="850" spc="-1" strike="noStrike">
                <a:solidFill>
                  <a:srgbClr val="5a6b73"/>
                </a:solidFill>
                <a:latin typeface="Arial"/>
              </a:rPr>
              <a:t>obc_lut_store.bin  ·  CRC-16 verified, hot-swappable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181" name="Rounded Rectangle 18"/>
          <p:cNvSpPr/>
          <p:nvPr/>
        </p:nvSpPr>
        <p:spPr>
          <a:xfrm>
            <a:off x="4690800" y="5029200"/>
            <a:ext cx="2733840" cy="658080"/>
          </a:xfrm>
          <a:prstGeom prst="roundRect">
            <a:avLst>
              <a:gd name="adj" fmla="val 10000"/>
            </a:avLst>
          </a:prstGeom>
          <a:solidFill>
            <a:srgbClr val="efecf7"/>
          </a:solidFill>
          <a:ln w="15875">
            <a:solidFill>
              <a:srgbClr val="6a5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36720" bIns="36720" anchor="ctr">
            <a:noAutofit/>
          </a:bodyPr>
          <a:p>
            <a:pPr algn="ctr">
              <a:lnSpc>
                <a:spcPct val="92000"/>
              </a:lnSpc>
              <a:buNone/>
            </a:pPr>
            <a:r>
              <a:rPr b="1" lang="en-US" sz="1250" spc="-1" strike="noStrike">
                <a:solidFill>
                  <a:srgbClr val="15242b"/>
                </a:solidFill>
                <a:latin typeface="Arial"/>
              </a:rPr>
              <a:t>Power FSM</a:t>
            </a:r>
            <a:endParaRPr b="0" lang="en-IN" sz="1250" spc="-1" strike="noStrike">
              <a:latin typeface="Arial"/>
            </a:endParaRPr>
          </a:p>
          <a:p>
            <a:pPr algn="ctr">
              <a:lnSpc>
                <a:spcPct val="92000"/>
              </a:lnSpc>
              <a:spcBef>
                <a:spcPts val="300"/>
              </a:spcBef>
              <a:buNone/>
            </a:pPr>
            <a:r>
              <a:rPr b="0" lang="en-US" sz="850" spc="-1" strike="noStrike">
                <a:solidFill>
                  <a:srgbClr val="5a6b73"/>
                </a:solidFill>
                <a:latin typeface="Arial"/>
              </a:rPr>
              <a:t>UNPOWERED → BOOTING → SEQUENCING → ON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182" name="Rounded Rectangle 19"/>
          <p:cNvSpPr/>
          <p:nvPr/>
        </p:nvSpPr>
        <p:spPr>
          <a:xfrm>
            <a:off x="9189720" y="1600200"/>
            <a:ext cx="2541600" cy="566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6b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36720" bIns="36720" anchor="ctr">
            <a:noAutofit/>
          </a:bodyPr>
          <a:p>
            <a:pPr algn="ctr">
              <a:lnSpc>
                <a:spcPct val="92000"/>
              </a:lnSpc>
              <a:buNone/>
            </a:pPr>
            <a:r>
              <a:rPr b="1" lang="en-US" sz="1150" spc="-1" strike="noStrike">
                <a:solidFill>
                  <a:srgbClr val="15242b"/>
                </a:solidFill>
                <a:latin typeface="Arial"/>
              </a:rPr>
              <a:t>EPS  sim   </a:t>
            </a:r>
            <a:r>
              <a:rPr b="0" lang="en-US" sz="900" spc="-1" strike="noStrike">
                <a:solidFill>
                  <a:srgbClr val="006b83"/>
                </a:solidFill>
                <a:latin typeface="Consolas"/>
              </a:rPr>
              <a:t>TCP 10010</a:t>
            </a:r>
            <a:endParaRPr b="0" lang="en-IN" sz="9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201"/>
              </a:spcBef>
              <a:buNone/>
            </a:pPr>
            <a:r>
              <a:rPr b="0" lang="en-US" sz="850" spc="-1" strike="noStrike">
                <a:solidFill>
                  <a:srgbClr val="5a6b73"/>
                </a:solidFill>
                <a:latin typeface="Arial"/>
              </a:rPr>
              <a:t>orbit / SOC / Vbatt engine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183" name="Rounded Rectangle 20"/>
          <p:cNvSpPr/>
          <p:nvPr/>
        </p:nvSpPr>
        <p:spPr>
          <a:xfrm>
            <a:off x="9189720" y="2272320"/>
            <a:ext cx="2541600" cy="566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6b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36720" bIns="36720" anchor="ctr">
            <a:noAutofit/>
          </a:bodyPr>
          <a:p>
            <a:pPr algn="ctr">
              <a:lnSpc>
                <a:spcPct val="92000"/>
              </a:lnSpc>
              <a:buNone/>
            </a:pPr>
            <a:r>
              <a:rPr b="1" lang="en-US" sz="1150" spc="-1" strike="noStrike">
                <a:solidFill>
                  <a:srgbClr val="15242b"/>
                </a:solidFill>
                <a:latin typeface="Arial"/>
              </a:rPr>
              <a:t>ADCS sim   </a:t>
            </a:r>
            <a:r>
              <a:rPr b="0" lang="en-US" sz="900" spc="-1" strike="noStrike">
                <a:solidFill>
                  <a:srgbClr val="006b83"/>
                </a:solidFill>
                <a:latin typeface="Consolas"/>
              </a:rPr>
              <a:t>TCP 10020</a:t>
            </a:r>
            <a:endParaRPr b="0" lang="en-IN" sz="9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201"/>
              </a:spcBef>
              <a:buNone/>
            </a:pPr>
            <a:r>
              <a:rPr b="0" lang="en-US" sz="850" spc="-1" strike="noStrike">
                <a:solidFill>
                  <a:srgbClr val="5a6b73"/>
                </a:solidFill>
                <a:latin typeface="Arial"/>
              </a:rPr>
              <a:t>quaternion + PD controller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184" name="Rounded Rectangle 21"/>
          <p:cNvSpPr/>
          <p:nvPr/>
        </p:nvSpPr>
        <p:spPr>
          <a:xfrm>
            <a:off x="9189720" y="2944440"/>
            <a:ext cx="2541600" cy="566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6b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36720" bIns="36720" anchor="ctr">
            <a:noAutofit/>
          </a:bodyPr>
          <a:p>
            <a:pPr algn="ctr">
              <a:lnSpc>
                <a:spcPct val="92000"/>
              </a:lnSpc>
              <a:buNone/>
            </a:pPr>
            <a:r>
              <a:rPr b="1" lang="en-US" sz="1150" spc="-1" strike="noStrike">
                <a:solidFill>
                  <a:srgbClr val="15242b"/>
                </a:solidFill>
                <a:latin typeface="Arial"/>
              </a:rPr>
              <a:t>GPS  sim   </a:t>
            </a:r>
            <a:r>
              <a:rPr b="0" lang="en-US" sz="900" spc="-1" strike="noStrike">
                <a:solidFill>
                  <a:srgbClr val="006b83"/>
                </a:solidFill>
                <a:latin typeface="Consolas"/>
              </a:rPr>
              <a:t>TCP 10030</a:t>
            </a:r>
            <a:endParaRPr b="0" lang="en-IN" sz="9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201"/>
              </a:spcBef>
              <a:buNone/>
            </a:pPr>
            <a:r>
              <a:rPr b="0" lang="en-US" sz="850" spc="-1" strike="noStrike">
                <a:solidFill>
                  <a:srgbClr val="5a6b73"/>
                </a:solidFill>
                <a:latin typeface="Arial"/>
              </a:rPr>
              <a:t>Keplerian orbit propagator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185" name="Rounded Rectangle 22"/>
          <p:cNvSpPr/>
          <p:nvPr/>
        </p:nvSpPr>
        <p:spPr>
          <a:xfrm>
            <a:off x="9189720" y="3616560"/>
            <a:ext cx="2541600" cy="566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6b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36720" bIns="36720" anchor="ctr">
            <a:noAutofit/>
          </a:bodyPr>
          <a:p>
            <a:pPr algn="ctr">
              <a:lnSpc>
                <a:spcPct val="92000"/>
              </a:lnSpc>
              <a:buNone/>
            </a:pPr>
            <a:r>
              <a:rPr b="1" lang="en-US" sz="1150" spc="-1" strike="noStrike">
                <a:solidFill>
                  <a:srgbClr val="15242b"/>
                </a:solidFill>
                <a:latin typeface="Arial"/>
              </a:rPr>
              <a:t>Payload sim   </a:t>
            </a:r>
            <a:r>
              <a:rPr b="0" lang="en-US" sz="900" spc="-1" strike="noStrike">
                <a:solidFill>
                  <a:srgbClr val="006b83"/>
                </a:solidFill>
                <a:latin typeface="Consolas"/>
              </a:rPr>
              <a:t>TCP 10040</a:t>
            </a:r>
            <a:endParaRPr b="0" lang="en-IN" sz="9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201"/>
              </a:spcBef>
              <a:buNone/>
            </a:pPr>
            <a:r>
              <a:rPr b="0" lang="en-US" sz="850" spc="-1" strike="noStrike">
                <a:solidFill>
                  <a:srgbClr val="5a6b73"/>
                </a:solidFill>
                <a:latin typeface="Arial"/>
              </a:rPr>
              <a:t>container + capture server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186" name="Rounded Rectangle 23"/>
          <p:cNvSpPr/>
          <p:nvPr/>
        </p:nvSpPr>
        <p:spPr>
          <a:xfrm>
            <a:off x="9189720" y="4288680"/>
            <a:ext cx="2541600" cy="566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6b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36720" bIns="36720" anchor="ctr">
            <a:noAutofit/>
          </a:bodyPr>
          <a:p>
            <a:pPr algn="ctr">
              <a:lnSpc>
                <a:spcPct val="92000"/>
              </a:lnSpc>
              <a:buNone/>
            </a:pPr>
            <a:r>
              <a:rPr b="1" lang="en-US" sz="1150" spc="-1" strike="noStrike">
                <a:solidFill>
                  <a:srgbClr val="15242b"/>
                </a:solidFill>
                <a:latin typeface="Arial"/>
              </a:rPr>
              <a:t>XLINK-S sim   </a:t>
            </a:r>
            <a:r>
              <a:rPr b="0" lang="en-US" sz="900" spc="-1" strike="noStrike">
                <a:solidFill>
                  <a:srgbClr val="006b83"/>
                </a:solidFill>
                <a:latin typeface="Consolas"/>
              </a:rPr>
              <a:t>TCP 10050</a:t>
            </a:r>
            <a:endParaRPr b="0" lang="en-IN" sz="9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201"/>
              </a:spcBef>
              <a:buNone/>
            </a:pPr>
            <a:r>
              <a:rPr b="0" lang="en-US" sz="850" spc="-1" strike="noStrike">
                <a:solidFill>
                  <a:srgbClr val="5a6b73"/>
                </a:solidFill>
                <a:latin typeface="Arial"/>
              </a:rPr>
              <a:t>keyed S-band transceiver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187" name="Rounded Rectangle 24"/>
          <p:cNvSpPr/>
          <p:nvPr/>
        </p:nvSpPr>
        <p:spPr>
          <a:xfrm>
            <a:off x="9189720" y="4960800"/>
            <a:ext cx="2541600" cy="566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6b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36720" bIns="36720" anchor="ctr">
            <a:noAutofit/>
          </a:bodyPr>
          <a:p>
            <a:pPr algn="ctr">
              <a:lnSpc>
                <a:spcPct val="92000"/>
              </a:lnSpc>
              <a:buNone/>
            </a:pPr>
            <a:r>
              <a:rPr b="1" lang="en-US" sz="1150" spc="-1" strike="noStrike">
                <a:solidFill>
                  <a:srgbClr val="15242b"/>
                </a:solidFill>
                <a:latin typeface="Arial"/>
              </a:rPr>
              <a:t>UHF sim   </a:t>
            </a:r>
            <a:r>
              <a:rPr b="0" lang="en-US" sz="900" spc="-1" strike="noStrike">
                <a:solidFill>
                  <a:srgbClr val="006b83"/>
                </a:solidFill>
                <a:latin typeface="Consolas"/>
              </a:rPr>
              <a:t>TCP 10060</a:t>
            </a:r>
            <a:endParaRPr b="0" lang="en-IN" sz="9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201"/>
              </a:spcBef>
              <a:buNone/>
            </a:pPr>
            <a:r>
              <a:rPr b="0" lang="en-US" sz="850" spc="-1" strike="noStrike">
                <a:solidFill>
                  <a:srgbClr val="5a6b73"/>
                </a:solidFill>
                <a:latin typeface="Arial"/>
              </a:rPr>
              <a:t>OpenLST transceiver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188" name="Connector 25"/>
          <p:cNvSpPr/>
          <p:nvPr/>
        </p:nvSpPr>
        <p:spPr>
          <a:xfrm>
            <a:off x="2852640" y="2057400"/>
            <a:ext cx="1838160" cy="360"/>
          </a:xfrm>
          <a:prstGeom prst="line">
            <a:avLst/>
          </a:prstGeom>
          <a:ln w="22225">
            <a:solidFill>
              <a:srgbClr val="009ebe"/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89" name="TextBox 26"/>
          <p:cNvSpPr/>
          <p:nvPr/>
        </p:nvSpPr>
        <p:spPr>
          <a:xfrm>
            <a:off x="2871360" y="1654920"/>
            <a:ext cx="1801080" cy="26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850" spc="-1" strike="noStrike">
                <a:solidFill>
                  <a:srgbClr val="009ebe"/>
                </a:solidFill>
                <a:latin typeface="Arial"/>
              </a:rPr>
              <a:t>TCP  P = 10000</a:t>
            </a:r>
            <a:endParaRPr b="0" lang="en-IN" sz="85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800" spc="-1" strike="noStrike">
                <a:solidFill>
                  <a:srgbClr val="5a6b73"/>
                </a:solidFill>
                <a:latin typeface="Arial"/>
              </a:rPr>
              <a:t>CCSDS TC  /  TM responses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190" name="Connector 27"/>
          <p:cNvSpPr/>
          <p:nvPr/>
        </p:nvSpPr>
        <p:spPr>
          <a:xfrm flipH="1">
            <a:off x="2852640" y="3429000"/>
            <a:ext cx="1838160" cy="360"/>
          </a:xfrm>
          <a:prstGeom prst="line">
            <a:avLst/>
          </a:prstGeom>
          <a:ln w="22225">
            <a:solidFill>
              <a:srgbClr val="3f8f62"/>
            </a:solidFill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91" name="TextBox 28"/>
          <p:cNvSpPr/>
          <p:nvPr/>
        </p:nvSpPr>
        <p:spPr>
          <a:xfrm>
            <a:off x="2871360" y="3026520"/>
            <a:ext cx="1801080" cy="26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850" spc="-1" strike="noStrike">
                <a:solidFill>
                  <a:srgbClr val="3f8f62"/>
                </a:solidFill>
                <a:latin typeface="Arial"/>
              </a:rPr>
              <a:t>TCP  P+2 = 10002</a:t>
            </a:r>
            <a:endParaRPr b="0" lang="en-IN" sz="85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800" spc="-1" strike="noStrike">
                <a:solidFill>
                  <a:srgbClr val="5a6b73"/>
                </a:solidFill>
                <a:latin typeface="Arial"/>
              </a:rPr>
              <a:t>master-frame push, 1 Hz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192" name="Connector 29"/>
          <p:cNvSpPr/>
          <p:nvPr/>
        </p:nvSpPr>
        <p:spPr>
          <a:xfrm>
            <a:off x="2852640" y="4480560"/>
            <a:ext cx="1838160" cy="360"/>
          </a:xfrm>
          <a:prstGeom prst="line">
            <a:avLst/>
          </a:prstGeom>
          <a:ln w="22225">
            <a:solidFill>
              <a:srgbClr val="e0921c"/>
            </a:solidFill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93" name="TextBox 30"/>
          <p:cNvSpPr/>
          <p:nvPr/>
        </p:nvSpPr>
        <p:spPr>
          <a:xfrm>
            <a:off x="2871360" y="4078080"/>
            <a:ext cx="1801080" cy="26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850" spc="-1" strike="noStrike">
                <a:solidFill>
                  <a:srgbClr val="e0921c"/>
                </a:solidFill>
                <a:latin typeface="Arial"/>
              </a:rPr>
              <a:t>TCP  P+3 = 10003</a:t>
            </a:r>
            <a:endParaRPr b="0" lang="en-IN" sz="85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800" spc="-1" strike="noStrike">
                <a:solidFill>
                  <a:srgbClr val="5a6b73"/>
                </a:solidFill>
                <a:latin typeface="Arial"/>
              </a:rPr>
              <a:t>binary LUT uplink  (“XLUT”)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194" name="Connector 31"/>
          <p:cNvSpPr/>
          <p:nvPr/>
        </p:nvSpPr>
        <p:spPr>
          <a:xfrm>
            <a:off x="2852640" y="5358240"/>
            <a:ext cx="1838160" cy="360"/>
          </a:xfrm>
          <a:prstGeom prst="line">
            <a:avLst/>
          </a:prstGeom>
          <a:ln w="22225">
            <a:solidFill>
              <a:srgbClr val="6a5a9e"/>
            </a:solidFill>
            <a:headEnd len="med" type="triangle" w="med"/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95" name="TextBox 32"/>
          <p:cNvSpPr/>
          <p:nvPr/>
        </p:nvSpPr>
        <p:spPr>
          <a:xfrm>
            <a:off x="2871360" y="4956120"/>
            <a:ext cx="1801080" cy="26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850" spc="-1" strike="noStrike">
                <a:solidFill>
                  <a:srgbClr val="6a5a9e"/>
                </a:solidFill>
                <a:latin typeface="Arial"/>
              </a:rPr>
              <a:t>TCP  P+1 = 10001</a:t>
            </a:r>
            <a:endParaRPr b="0" lang="en-IN" sz="85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800" spc="-1" strike="noStrike">
                <a:solidFill>
                  <a:srgbClr val="5a6b73"/>
                </a:solidFill>
                <a:latin typeface="Arial"/>
              </a:rPr>
              <a:t>EGSE / OBC power status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196" name="Connector 33"/>
          <p:cNvSpPr/>
          <p:nvPr/>
        </p:nvSpPr>
        <p:spPr>
          <a:xfrm>
            <a:off x="7424640" y="2011680"/>
            <a:ext cx="987840" cy="360"/>
          </a:xfrm>
          <a:prstGeom prst="line">
            <a:avLst/>
          </a:prstGeom>
          <a:ln w="22225">
            <a:solidFill>
              <a:srgbClr val="006b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97" name="Connector 34"/>
          <p:cNvSpPr/>
          <p:nvPr/>
        </p:nvSpPr>
        <p:spPr>
          <a:xfrm>
            <a:off x="7424640" y="3748680"/>
            <a:ext cx="987840" cy="360"/>
          </a:xfrm>
          <a:prstGeom prst="line">
            <a:avLst/>
          </a:prstGeom>
          <a:ln w="19050">
            <a:solidFill>
              <a:srgbClr val="3f8f6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98" name="Connector 35"/>
          <p:cNvSpPr/>
          <p:nvPr/>
        </p:nvSpPr>
        <p:spPr>
          <a:xfrm>
            <a:off x="8412480" y="1883520"/>
            <a:ext cx="360" cy="3360240"/>
          </a:xfrm>
          <a:prstGeom prst="line">
            <a:avLst/>
          </a:prstGeom>
          <a:ln w="22225">
            <a:solidFill>
              <a:srgbClr val="006b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99" name="Connector 36"/>
          <p:cNvSpPr/>
          <p:nvPr/>
        </p:nvSpPr>
        <p:spPr>
          <a:xfrm>
            <a:off x="8412480" y="1883520"/>
            <a:ext cx="776880" cy="360"/>
          </a:xfrm>
          <a:prstGeom prst="line">
            <a:avLst/>
          </a:prstGeom>
          <a:ln w="19050">
            <a:solidFill>
              <a:srgbClr val="006b83"/>
            </a:solidFill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200" name="Connector 37"/>
          <p:cNvSpPr/>
          <p:nvPr/>
        </p:nvSpPr>
        <p:spPr>
          <a:xfrm>
            <a:off x="8412480" y="2555640"/>
            <a:ext cx="776880" cy="360"/>
          </a:xfrm>
          <a:prstGeom prst="line">
            <a:avLst/>
          </a:prstGeom>
          <a:ln w="19050">
            <a:solidFill>
              <a:srgbClr val="006b83"/>
            </a:solidFill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201" name="Connector 38"/>
          <p:cNvSpPr/>
          <p:nvPr/>
        </p:nvSpPr>
        <p:spPr>
          <a:xfrm>
            <a:off x="8412480" y="3227760"/>
            <a:ext cx="776880" cy="360"/>
          </a:xfrm>
          <a:prstGeom prst="line">
            <a:avLst/>
          </a:prstGeom>
          <a:ln w="19050">
            <a:solidFill>
              <a:srgbClr val="006b83"/>
            </a:solidFill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202" name="Connector 39"/>
          <p:cNvSpPr/>
          <p:nvPr/>
        </p:nvSpPr>
        <p:spPr>
          <a:xfrm>
            <a:off x="8412480" y="3899880"/>
            <a:ext cx="776880" cy="360"/>
          </a:xfrm>
          <a:prstGeom prst="line">
            <a:avLst/>
          </a:prstGeom>
          <a:ln w="19050">
            <a:solidFill>
              <a:srgbClr val="006b83"/>
            </a:solidFill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203" name="Connector 40"/>
          <p:cNvSpPr/>
          <p:nvPr/>
        </p:nvSpPr>
        <p:spPr>
          <a:xfrm>
            <a:off x="8412480" y="4571640"/>
            <a:ext cx="776880" cy="360"/>
          </a:xfrm>
          <a:prstGeom prst="line">
            <a:avLst/>
          </a:prstGeom>
          <a:ln w="19050">
            <a:solidFill>
              <a:srgbClr val="006b83"/>
            </a:solidFill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204" name="Connector 41"/>
          <p:cNvSpPr/>
          <p:nvPr/>
        </p:nvSpPr>
        <p:spPr>
          <a:xfrm>
            <a:off x="8412480" y="5243760"/>
            <a:ext cx="776880" cy="360"/>
          </a:xfrm>
          <a:prstGeom prst="line">
            <a:avLst/>
          </a:prstGeom>
          <a:ln w="19050">
            <a:solidFill>
              <a:srgbClr val="006b83"/>
            </a:solidFill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205" name="TextBox 42"/>
          <p:cNvSpPr/>
          <p:nvPr/>
        </p:nvSpPr>
        <p:spPr>
          <a:xfrm>
            <a:off x="7406640" y="1481400"/>
            <a:ext cx="1572480" cy="26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850" spc="-1" strike="noStrike">
                <a:solidFill>
                  <a:srgbClr val="006b83"/>
                </a:solidFill>
                <a:latin typeface="Arial"/>
              </a:rPr>
              <a:t>Native subsystem framing</a:t>
            </a:r>
            <a:endParaRPr b="0" lang="en-IN" sz="85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800" spc="-1" strike="noStrike">
                <a:solidFill>
                  <a:srgbClr val="5a6b73"/>
                </a:solidFill>
                <a:latin typeface="Consolas"/>
              </a:rPr>
              <a:t>TCP 10010 – 10060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206" name="TextBox 43"/>
          <p:cNvSpPr/>
          <p:nvPr/>
        </p:nvSpPr>
        <p:spPr>
          <a:xfrm>
            <a:off x="7461360" y="3785760"/>
            <a:ext cx="84096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i="1" lang="en-US" sz="800" spc="-1" strike="noStrike">
                <a:solidFill>
                  <a:srgbClr val="3f8f62"/>
                </a:solidFill>
                <a:latin typeface="Arial"/>
              </a:rPr>
              <a:t>autonomous polls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207" name="TextBox 44"/>
          <p:cNvSpPr/>
          <p:nvPr/>
        </p:nvSpPr>
        <p:spPr>
          <a:xfrm>
            <a:off x="225720" y="6144840"/>
            <a:ext cx="11521080" cy="12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i="1" lang="en-US" sz="850" spc="-1" strike="noStrike">
                <a:solidFill>
                  <a:srgbClr val="8d9ba1"/>
                </a:solidFill>
                <a:latin typeface="Arial"/>
              </a:rPr>
              <a:t>P is the OBC routing port — 10000 in simulation, 7000 on the bench; the three side channels are always P+1, P+2 and P+3. Solid lines carry commanded traffic, the dashed line is the rate-group engine polling on its own schedule.</a:t>
            </a:r>
            <a:endParaRPr b="0" lang="en-IN" sz="8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225720" y="176760"/>
            <a:ext cx="11740320" cy="7318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500" spc="-1" strike="noStrike">
                <a:solidFill>
                  <a:srgbClr val="15242b"/>
                </a:solidFill>
                <a:latin typeface="Arial"/>
              </a:rPr>
              <a:t>Nod</a:t>
            </a:r>
            <a:r>
              <a:rPr b="1" lang="en-US" sz="2500" spc="-1" strike="noStrike">
                <a:solidFill>
                  <a:srgbClr val="15242b"/>
                </a:solidFill>
                <a:latin typeface="Arial"/>
              </a:rPr>
              <a:t>es, </a:t>
            </a:r>
            <a:r>
              <a:rPr b="1" lang="en-US" sz="2500" spc="-1" strike="noStrike">
                <a:solidFill>
                  <a:srgbClr val="15242b"/>
                </a:solidFill>
                <a:latin typeface="Arial"/>
              </a:rPr>
              <a:t>link</a:t>
            </a:r>
            <a:r>
              <a:rPr b="1" lang="en-US" sz="2500" spc="-1" strike="noStrike">
                <a:solidFill>
                  <a:srgbClr val="15242b"/>
                </a:solidFill>
                <a:latin typeface="Arial"/>
              </a:rPr>
              <a:t>s </a:t>
            </a:r>
            <a:r>
              <a:rPr b="1" lang="en-US" sz="2500" spc="-1" strike="noStrike">
                <a:solidFill>
                  <a:srgbClr val="15242b"/>
                </a:solidFill>
                <a:latin typeface="Arial"/>
              </a:rPr>
              <a:t>and </a:t>
            </a:r>
            <a:r>
              <a:rPr b="1" lang="en-US" sz="2500" spc="-1" strike="noStrike">
                <a:solidFill>
                  <a:srgbClr val="15242b"/>
                </a:solidFill>
                <a:latin typeface="Arial"/>
              </a:rPr>
              <a:t>port</a:t>
            </a:r>
            <a:r>
              <a:rPr b="1" lang="en-US" sz="2500" spc="-1" strike="noStrike">
                <a:solidFill>
                  <a:srgbClr val="15242b"/>
                </a:solidFill>
                <a:latin typeface="Arial"/>
              </a:rPr>
              <a:t>s</a:t>
            </a:r>
            <a:endParaRPr b="0" lang="en-US" sz="25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9" name="TextBox 3"/>
          <p:cNvSpPr/>
          <p:nvPr/>
        </p:nvSpPr>
        <p:spPr>
          <a:xfrm>
            <a:off x="225720" y="873360"/>
            <a:ext cx="1174068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50" spc="-1" strike="noStrike">
                <a:solidFill>
                  <a:srgbClr val="006b83"/>
                </a:solidFill>
                <a:latin typeface="Arial"/>
              </a:rPr>
              <a:t>Each side channel is deliberately separate so an unprompted 1 Hz telemetry stream can never contend with a command reply</a:t>
            </a:r>
            <a:endParaRPr b="0" lang="en-IN" sz="1050" spc="-1" strike="noStrike">
              <a:latin typeface="Arial"/>
            </a:endParaRPr>
          </a:p>
        </p:txBody>
      </p:sp>
      <p:graphicFrame>
        <p:nvGraphicFramePr>
          <p:cNvPr id="210" name="Table 4"/>
          <p:cNvGraphicFramePr/>
          <p:nvPr/>
        </p:nvGraphicFramePr>
        <p:xfrm>
          <a:off x="274320" y="1325880"/>
          <a:ext cx="11639880" cy="2688120"/>
        </p:xfrm>
        <a:graphic>
          <a:graphicData uri="http://schemas.openxmlformats.org/drawingml/2006/table">
            <a:tbl>
              <a:tblPr/>
              <a:tblGrid>
                <a:gridCol w="1481040"/>
                <a:gridCol w="2103120"/>
                <a:gridCol w="1234440"/>
                <a:gridCol w="4901040"/>
                <a:gridCol w="1920240"/>
              </a:tblGrid>
              <a:tr h="310680"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Port</a:t>
                      </a:r>
                      <a:endParaRPr b="0" lang="en-IN" sz="100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6b83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Link</a:t>
                      </a:r>
                      <a:endParaRPr b="0" lang="en-IN" sz="100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6b83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Direction</a:t>
                      </a:r>
                      <a:endParaRPr b="0" lang="en-IN" sz="100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6b83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Carries</a:t>
                      </a:r>
                      <a:endParaRPr b="0" lang="en-IN" sz="100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6b83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Endpoint</a:t>
                      </a:r>
                      <a:endParaRPr b="0" lang="en-IN" sz="100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6b83"/>
                    </a:solidFill>
                  </a:tcPr>
                </a:tc>
              </a:tr>
              <a:tr h="475200"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P  = 10000</a:t>
                      </a:r>
                      <a:endParaRPr b="0" lang="en-IN" sz="10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TC / TM routing</a:t>
                      </a:r>
                      <a:endParaRPr b="0" lang="en-IN" sz="10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GS ⇄ OBC</a:t>
                      </a:r>
                      <a:endParaRPr b="0" lang="en-IN" sz="10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CCSDS TC frames and their responses — the flight link</a:t>
                      </a:r>
                      <a:endParaRPr b="0" lang="en-IN" sz="10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xdos_gs ⇄ Bridge</a:t>
                      </a:r>
                      <a:endParaRPr b="0" lang="en-IN" sz="10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75200"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P+1 = 10001</a:t>
                      </a:r>
                      <a:endParaRPr b="0" lang="en-IN" sz="10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EGSE umbilical status</a:t>
                      </a:r>
                      <a:endParaRPr b="0" lang="en-IN" sz="10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GS → OBC</a:t>
                      </a:r>
                      <a:endParaRPr b="0" lang="en-IN" sz="10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OBC power state during boot and load-shed recovery</a:t>
                      </a:r>
                      <a:endParaRPr b="0" lang="en-IN" sz="10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PowerMonitor ⇄ Power FSM</a:t>
                      </a:r>
                      <a:endParaRPr b="0" lang="en-IN" sz="10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5f6"/>
                    </a:solidFill>
                  </a:tcPr>
                </a:tc>
              </a:tr>
              <a:tr h="475200"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P+2 = 10002</a:t>
                      </a:r>
                      <a:endParaRPr b="0" lang="en-IN" sz="10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Rate-group stream</a:t>
                      </a:r>
                      <a:endParaRPr b="0" lang="en-IN" sz="10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OBC → GS</a:t>
                      </a:r>
                      <a:endParaRPr b="0" lang="en-IN" sz="10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1280 B subframes wrapped in 1432 B TM frames, once per second</a:t>
                      </a:r>
                      <a:endParaRPr b="0" lang="en-IN" sz="10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Engine → xdos_tm_view</a:t>
                      </a:r>
                      <a:endParaRPr b="0" lang="en-IN" sz="10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75200"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P+3 = 10003</a:t>
                      </a:r>
                      <a:endParaRPr b="0" lang="en-IN" sz="10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Binary LUT uplink</a:t>
                      </a:r>
                      <a:endParaRPr b="0" lang="en-IN" sz="10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GS → OBC</a:t>
                      </a:r>
                      <a:endParaRPr b="0" lang="en-IN" sz="10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“</a:t>
                      </a:r>
                      <a:r>
                        <a:rPr b="0" lang="en-US" sz="10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XLUT” + u32 length + file bytes; replies OK / ERR</a:t>
                      </a:r>
                      <a:endParaRPr b="0" lang="en-IN" sz="10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Composer → LUT listener</a:t>
                      </a:r>
                      <a:endParaRPr b="0" lang="en-IN" sz="10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5f6"/>
                    </a:solidFill>
                  </a:tcPr>
                </a:tc>
              </a:tr>
              <a:tr h="476640"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10010 – 10060</a:t>
                      </a:r>
                      <a:endParaRPr b="0" lang="en-IN" sz="10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Subsystem buses</a:t>
                      </a:r>
                      <a:endParaRPr b="0" lang="en-IN" sz="10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OBC ⇄ Sim</a:t>
                      </a:r>
                      <a:endParaRPr b="0" lang="en-IN" sz="10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Native subsystem framing, one TCP port per subsystem</a:t>
                      </a:r>
                      <a:endParaRPr b="0" lang="en-IN" sz="10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Bridge ⇄ six simulators</a:t>
                      </a:r>
                      <a:endParaRPr b="0" lang="en-IN" sz="10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1" name="TextBox 5"/>
          <p:cNvSpPr/>
          <p:nvPr/>
        </p:nvSpPr>
        <p:spPr>
          <a:xfrm>
            <a:off x="274320" y="4316040"/>
            <a:ext cx="1163988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006b83"/>
                </a:solidFill>
                <a:latin typeface="Arial"/>
              </a:rPr>
              <a:t>SUBSYSTEM IDENTITY — spacecraft ID 625 (0x271), shared by the TC and TM profiles so uplink and downlink can never drift apart</a:t>
            </a:r>
            <a:endParaRPr b="0" lang="en-IN" sz="1000" spc="-1" strike="noStrike">
              <a:latin typeface="Arial"/>
            </a:endParaRPr>
          </a:p>
        </p:txBody>
      </p:sp>
      <p:graphicFrame>
        <p:nvGraphicFramePr>
          <p:cNvPr id="212" name="Table 6"/>
          <p:cNvGraphicFramePr/>
          <p:nvPr/>
        </p:nvGraphicFramePr>
        <p:xfrm>
          <a:off x="274320" y="4626720"/>
          <a:ext cx="11639880" cy="1760040"/>
        </p:xfrm>
        <a:graphic>
          <a:graphicData uri="http://schemas.openxmlformats.org/drawingml/2006/table">
            <a:tbl>
              <a:tblPr/>
              <a:tblGrid>
                <a:gridCol w="1920240"/>
                <a:gridCol w="1554480"/>
                <a:gridCol w="1234440"/>
                <a:gridCol w="3566160"/>
                <a:gridCol w="3364920"/>
              </a:tblGrid>
              <a:tr h="255960"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95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Subsystem</a:t>
                      </a:r>
                      <a:endParaRPr b="0" lang="en-IN" sz="9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6b83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95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APID</a:t>
                      </a:r>
                      <a:endParaRPr b="0" lang="en-IN" sz="9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6b83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95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Sim port</a:t>
                      </a:r>
                      <a:endParaRPr b="0" lang="en-IN" sz="9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6b83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95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Native framing prefix</a:t>
                      </a:r>
                      <a:endParaRPr b="0" lang="en-IN" sz="9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6b83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95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MIB definitions</a:t>
                      </a:r>
                      <a:endParaRPr b="0" lang="en-IN" sz="9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6b83"/>
                    </a:solidFill>
                  </a:tcPr>
                </a:tc>
              </a:tr>
              <a:tr h="214560"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ADCS</a:t>
                      </a:r>
                      <a:endParaRPr b="0" lang="en-IN" sz="9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1  (0x001)</a:t>
                      </a:r>
                      <a:endParaRPr b="0" lang="en-IN" sz="9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10020</a:t>
                      </a:r>
                      <a:endParaRPr b="0" lang="en-IN" sz="9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1F 7F &lt;id&gt; … 1F FF</a:t>
                      </a:r>
                      <a:endParaRPr b="0" lang="en-IN" sz="9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220 messages · 79 enums</a:t>
                      </a:r>
                      <a:endParaRPr b="0" lang="en-IN" sz="9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14560"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UHF</a:t>
                      </a:r>
                      <a:endParaRPr b="0" lang="en-IN" sz="9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2  (0x002)</a:t>
                      </a:r>
                      <a:endParaRPr b="0" lang="en-IN" sz="9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10060</a:t>
                      </a:r>
                      <a:endParaRPr b="0" lang="en-IN" sz="9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OpenLST framing</a:t>
                      </a:r>
                      <a:endParaRPr b="0" lang="en-IN" sz="9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41 messages</a:t>
                      </a:r>
                      <a:endParaRPr b="0" lang="en-IN" sz="9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5f6"/>
                    </a:solidFill>
                  </a:tcPr>
                </a:tc>
              </a:tr>
              <a:tr h="214560"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EPS</a:t>
                      </a:r>
                      <a:endParaRPr b="0" lang="en-IN" sz="9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3  (0x003)</a:t>
                      </a:r>
                      <a:endParaRPr b="0" lang="en-IN" sz="9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10010</a:t>
                      </a:r>
                      <a:endParaRPr b="0" lang="en-IN" sz="9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00 &lt;base64 telegram&gt; 01</a:t>
                      </a:r>
                      <a:endParaRPr b="0" lang="en-IN" sz="9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82 messages · 16 PDU channels</a:t>
                      </a:r>
                      <a:endParaRPr b="0" lang="en-IN" sz="9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14560"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GPS</a:t>
                      </a:r>
                      <a:endParaRPr b="0" lang="en-IN" sz="9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4  (0x004)</a:t>
                      </a:r>
                      <a:endParaRPr b="0" lang="en-IN" sz="9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10030</a:t>
                      </a:r>
                      <a:endParaRPr b="0" lang="en-IN" sz="9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AA 44 12 …</a:t>
                      </a:r>
                      <a:endParaRPr b="0" lang="en-IN" sz="9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19 messages</a:t>
                      </a:r>
                      <a:endParaRPr b="0" lang="en-IN" sz="9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5f6"/>
                    </a:solidFill>
                  </a:tcPr>
                </a:tc>
              </a:tr>
              <a:tr h="214560"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Payload</a:t>
                      </a:r>
                      <a:endParaRPr b="0" lang="en-IN" sz="9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5  (0x005)</a:t>
                      </a:r>
                      <a:endParaRPr b="0" lang="en-IN" sz="9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10040</a:t>
                      </a:r>
                      <a:endParaRPr b="0" lang="en-IN" sz="9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[type | cmd | len] + data</a:t>
                      </a:r>
                      <a:endParaRPr b="0" lang="en-IN" sz="9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10 messages</a:t>
                      </a:r>
                      <a:endParaRPr b="0" lang="en-IN" sz="9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14560"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XLINK-S</a:t>
                      </a:r>
                      <a:endParaRPr b="0" lang="en-IN" sz="9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6  (0x006)</a:t>
                      </a:r>
                      <a:endParaRPr b="0" lang="en-IN" sz="9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10050</a:t>
                      </a:r>
                      <a:endParaRPr b="0" lang="en-IN" sz="9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product key + event frame</a:t>
                      </a:r>
                      <a:endParaRPr b="0" lang="en-IN" sz="9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46 messages</a:t>
                      </a:r>
                      <a:endParaRPr b="0" lang="en-IN" sz="9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5f6"/>
                    </a:solidFill>
                  </a:tcPr>
                </a:tc>
              </a:tr>
              <a:tr h="216720"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Rate group</a:t>
                      </a:r>
                      <a:endParaRPr b="0" lang="en-IN" sz="9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600 (0x258)</a:t>
                      </a:r>
                      <a:endParaRPr b="0" lang="en-IN" sz="9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—</a:t>
                      </a:r>
                      <a:endParaRPr b="0" lang="en-IN" sz="9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TM only — master-frame push</a:t>
                      </a:r>
                      <a:endParaRPr b="0" lang="en-IN" sz="9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n/a — position-indexed</a:t>
                      </a:r>
                      <a:endParaRPr b="0" lang="en-IN" sz="9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title"/>
          </p:nvPr>
        </p:nvSpPr>
        <p:spPr>
          <a:xfrm>
            <a:off x="225720" y="176760"/>
            <a:ext cx="11740320" cy="7318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500" spc="-1" strike="noStrike">
                <a:solidFill>
                  <a:srgbClr val="15242b"/>
                </a:solidFill>
                <a:latin typeface="Arial"/>
              </a:rPr>
              <a:t>Soft</a:t>
            </a:r>
            <a:r>
              <a:rPr b="1" lang="en-US" sz="2500" spc="-1" strike="noStrike">
                <a:solidFill>
                  <a:srgbClr val="15242b"/>
                </a:solidFill>
                <a:latin typeface="Arial"/>
              </a:rPr>
              <a:t>war</a:t>
            </a:r>
            <a:r>
              <a:rPr b="1" lang="en-US" sz="2500" spc="-1" strike="noStrike">
                <a:solidFill>
                  <a:srgbClr val="15242b"/>
                </a:solidFill>
                <a:latin typeface="Arial"/>
              </a:rPr>
              <a:t>e </a:t>
            </a:r>
            <a:r>
              <a:rPr b="1" lang="en-US" sz="2500" spc="-1" strike="noStrike">
                <a:solidFill>
                  <a:srgbClr val="15242b"/>
                </a:solidFill>
                <a:latin typeface="Arial"/>
              </a:rPr>
              <a:t>arc</a:t>
            </a:r>
            <a:r>
              <a:rPr b="1" lang="en-US" sz="2500" spc="-1" strike="noStrike">
                <a:solidFill>
                  <a:srgbClr val="15242b"/>
                </a:solidFill>
                <a:latin typeface="Arial"/>
              </a:rPr>
              <a:t>hite</a:t>
            </a:r>
            <a:r>
              <a:rPr b="1" lang="en-US" sz="2500" spc="-1" strike="noStrike">
                <a:solidFill>
                  <a:srgbClr val="15242b"/>
                </a:solidFill>
                <a:latin typeface="Arial"/>
              </a:rPr>
              <a:t>ctur</a:t>
            </a:r>
            <a:r>
              <a:rPr b="1" lang="en-US" sz="2500" spc="-1" strike="noStrike">
                <a:solidFill>
                  <a:srgbClr val="15242b"/>
                </a:solidFill>
                <a:latin typeface="Arial"/>
              </a:rPr>
              <a:t>e — </a:t>
            </a:r>
            <a:r>
              <a:rPr b="1" lang="en-US" sz="2500" spc="-1" strike="noStrike">
                <a:solidFill>
                  <a:srgbClr val="15242b"/>
                </a:solidFill>
                <a:latin typeface="Arial"/>
              </a:rPr>
              <a:t>the </a:t>
            </a:r>
            <a:r>
              <a:rPr b="1" lang="en-US" sz="2500" spc="-1" strike="noStrike">
                <a:solidFill>
                  <a:srgbClr val="15242b"/>
                </a:solidFill>
                <a:latin typeface="Arial"/>
              </a:rPr>
              <a:t>laye</a:t>
            </a:r>
            <a:r>
              <a:rPr b="1" lang="en-US" sz="2500" spc="-1" strike="noStrike">
                <a:solidFill>
                  <a:srgbClr val="15242b"/>
                </a:solidFill>
                <a:latin typeface="Arial"/>
              </a:rPr>
              <a:t>red </a:t>
            </a:r>
            <a:r>
              <a:rPr b="1" lang="en-US" sz="2500" spc="-1" strike="noStrike">
                <a:solidFill>
                  <a:srgbClr val="15242b"/>
                </a:solidFill>
                <a:latin typeface="Arial"/>
              </a:rPr>
              <a:t>sta</a:t>
            </a:r>
            <a:r>
              <a:rPr b="1" lang="en-US" sz="2500" spc="-1" strike="noStrike">
                <a:solidFill>
                  <a:srgbClr val="15242b"/>
                </a:solidFill>
                <a:latin typeface="Arial"/>
              </a:rPr>
              <a:t>ck</a:t>
            </a:r>
            <a:endParaRPr b="0" lang="en-US" sz="25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4" name="TextBox 3"/>
          <p:cNvSpPr/>
          <p:nvPr/>
        </p:nvSpPr>
        <p:spPr>
          <a:xfrm>
            <a:off x="225720" y="873360"/>
            <a:ext cx="1174068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50" spc="-1" strike="noStrike">
                <a:solidFill>
                  <a:srgbClr val="006b83"/>
                </a:solidFill>
                <a:latin typeface="Arial"/>
              </a:rPr>
              <a:t>One static library, xdos_core, carries every layer; the executables are thin shells over it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15" name="Rounded Rectangle 4"/>
          <p:cNvSpPr/>
          <p:nvPr/>
        </p:nvSpPr>
        <p:spPr>
          <a:xfrm>
            <a:off x="274320" y="1261800"/>
            <a:ext cx="2212560" cy="694440"/>
          </a:xfrm>
          <a:prstGeom prst="roundRect">
            <a:avLst>
              <a:gd name="adj" fmla="val 8000"/>
            </a:avLst>
          </a:prstGeom>
          <a:solidFill>
            <a:srgbClr val="009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16" name="TextBox 5"/>
          <p:cNvSpPr/>
          <p:nvPr/>
        </p:nvSpPr>
        <p:spPr>
          <a:xfrm>
            <a:off x="384120" y="1460160"/>
            <a:ext cx="1992960" cy="29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90000"/>
              </a:lnSpc>
              <a:buNone/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</a:rPr>
              <a:t>APPLICATIONS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buNone/>
            </a:pPr>
            <a:r>
              <a:rPr b="0" lang="en-US" sz="800" spc="-1" strike="noStrike">
                <a:solidFill>
                  <a:srgbClr val="dde8ec"/>
                </a:solidFill>
                <a:latin typeface="Consolas"/>
              </a:rPr>
              <a:t>executable targets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217" name="Rounded Rectangle 6"/>
          <p:cNvSpPr/>
          <p:nvPr/>
        </p:nvSpPr>
        <p:spPr>
          <a:xfrm>
            <a:off x="2651760" y="1261800"/>
            <a:ext cx="1436760" cy="694440"/>
          </a:xfrm>
          <a:prstGeom prst="roundRect">
            <a:avLst>
              <a:gd name="adj" fmla="val 8000"/>
            </a:avLst>
          </a:prstGeom>
          <a:solidFill>
            <a:srgbClr val="e4f4f8"/>
          </a:solidFill>
          <a:ln w="12700">
            <a:solidFill>
              <a:srgbClr val="009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18" name="TextBox 7"/>
          <p:cNvSpPr/>
          <p:nvPr/>
        </p:nvSpPr>
        <p:spPr>
          <a:xfrm>
            <a:off x="2706480" y="1469160"/>
            <a:ext cx="1326960" cy="27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90000"/>
              </a:lnSpc>
              <a:buNone/>
            </a:pPr>
            <a:r>
              <a:rPr b="1" lang="en-US" sz="1050" spc="-1" strike="noStrike">
                <a:solidFill>
                  <a:srgbClr val="15242b"/>
                </a:solidFill>
                <a:latin typeface="Arial"/>
              </a:rPr>
              <a:t>xdos_gs</a:t>
            </a:r>
            <a:endParaRPr b="0" lang="en-IN" sz="1050" spc="-1" strike="noStrike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201"/>
              </a:spcBef>
              <a:buNone/>
            </a:pPr>
            <a:r>
              <a:rPr b="0" lang="en-US" sz="800" spc="-1" strike="noStrike">
                <a:solidFill>
                  <a:srgbClr val="5a6b73"/>
                </a:solidFill>
                <a:latin typeface="Arial"/>
              </a:rPr>
              <a:t>operator CLI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219" name="Rounded Rectangle 8"/>
          <p:cNvSpPr/>
          <p:nvPr/>
        </p:nvSpPr>
        <p:spPr>
          <a:xfrm>
            <a:off x="4217040" y="1261800"/>
            <a:ext cx="1436760" cy="694440"/>
          </a:xfrm>
          <a:prstGeom prst="roundRect">
            <a:avLst>
              <a:gd name="adj" fmla="val 8000"/>
            </a:avLst>
          </a:prstGeom>
          <a:solidFill>
            <a:srgbClr val="e4f4f8"/>
          </a:solidFill>
          <a:ln w="12700">
            <a:solidFill>
              <a:srgbClr val="009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20" name="TextBox 9"/>
          <p:cNvSpPr/>
          <p:nvPr/>
        </p:nvSpPr>
        <p:spPr>
          <a:xfrm>
            <a:off x="4271760" y="1469160"/>
            <a:ext cx="1326960" cy="27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90000"/>
              </a:lnSpc>
              <a:buNone/>
            </a:pPr>
            <a:r>
              <a:rPr b="1" lang="en-US" sz="1050" spc="-1" strike="noStrike">
                <a:solidFill>
                  <a:srgbClr val="15242b"/>
                </a:solidFill>
                <a:latin typeface="Arial"/>
              </a:rPr>
              <a:t>xdos_tm_view</a:t>
            </a:r>
            <a:endParaRPr b="0" lang="en-IN" sz="1050" spc="-1" strike="noStrike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201"/>
              </a:spcBef>
              <a:buNone/>
            </a:pPr>
            <a:r>
              <a:rPr b="0" lang="en-US" sz="800" spc="-1" strike="noStrike">
                <a:solidFill>
                  <a:srgbClr val="5a6b73"/>
                </a:solidFill>
                <a:latin typeface="Arial"/>
              </a:rPr>
              <a:t>master-frame viewer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221" name="Rounded Rectangle 10"/>
          <p:cNvSpPr/>
          <p:nvPr/>
        </p:nvSpPr>
        <p:spPr>
          <a:xfrm>
            <a:off x="5781960" y="1261800"/>
            <a:ext cx="1436760" cy="694440"/>
          </a:xfrm>
          <a:prstGeom prst="roundRect">
            <a:avLst>
              <a:gd name="adj" fmla="val 8000"/>
            </a:avLst>
          </a:prstGeom>
          <a:solidFill>
            <a:srgbClr val="e4f4f8"/>
          </a:solidFill>
          <a:ln w="12700">
            <a:solidFill>
              <a:srgbClr val="009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22" name="TextBox 11"/>
          <p:cNvSpPr/>
          <p:nvPr/>
        </p:nvSpPr>
        <p:spPr>
          <a:xfrm>
            <a:off x="5837040" y="1469160"/>
            <a:ext cx="1326960" cy="27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90000"/>
              </a:lnSpc>
              <a:buNone/>
            </a:pPr>
            <a:r>
              <a:rPr b="1" lang="en-US" sz="1050" spc="-1" strike="noStrike">
                <a:solidFill>
                  <a:srgbClr val="15242b"/>
                </a:solidFill>
                <a:latin typeface="Arial"/>
              </a:rPr>
              <a:t>xdos_obc</a:t>
            </a:r>
            <a:endParaRPr b="0" lang="en-IN" sz="1050" spc="-1" strike="noStrike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201"/>
              </a:spcBef>
              <a:buNone/>
            </a:pPr>
            <a:r>
              <a:rPr b="0" lang="en-US" sz="800" spc="-1" strike="noStrike">
                <a:solidFill>
                  <a:srgbClr val="5a6b73"/>
                </a:solidFill>
                <a:latin typeface="Arial"/>
              </a:rPr>
              <a:t>bridge + engine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223" name="Rounded Rectangle 12"/>
          <p:cNvSpPr/>
          <p:nvPr/>
        </p:nvSpPr>
        <p:spPr>
          <a:xfrm>
            <a:off x="7347240" y="1261800"/>
            <a:ext cx="1436760" cy="694440"/>
          </a:xfrm>
          <a:prstGeom prst="roundRect">
            <a:avLst>
              <a:gd name="adj" fmla="val 8000"/>
            </a:avLst>
          </a:prstGeom>
          <a:solidFill>
            <a:srgbClr val="e4f4f8"/>
          </a:solidFill>
          <a:ln w="12700">
            <a:solidFill>
              <a:srgbClr val="009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24" name="TextBox 13"/>
          <p:cNvSpPr/>
          <p:nvPr/>
        </p:nvSpPr>
        <p:spPr>
          <a:xfrm>
            <a:off x="7401960" y="1469160"/>
            <a:ext cx="1326960" cy="27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90000"/>
              </a:lnSpc>
              <a:buNone/>
            </a:pPr>
            <a:r>
              <a:rPr b="1" lang="en-US" sz="1050" spc="-1" strike="noStrike">
                <a:solidFill>
                  <a:srgbClr val="15242b"/>
                </a:solidFill>
                <a:latin typeface="Arial"/>
              </a:rPr>
              <a:t>xdos_lut_csv</a:t>
            </a:r>
            <a:endParaRPr b="0" lang="en-IN" sz="1050" spc="-1" strike="noStrike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201"/>
              </a:spcBef>
              <a:buNone/>
            </a:pPr>
            <a:r>
              <a:rPr b="0" lang="en-US" sz="800" spc="-1" strike="noStrike">
                <a:solidFill>
                  <a:srgbClr val="5a6b73"/>
                </a:solidFill>
                <a:latin typeface="Arial"/>
              </a:rPr>
              <a:t>LUT compiler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225" name="Rounded Rectangle 14"/>
          <p:cNvSpPr/>
          <p:nvPr/>
        </p:nvSpPr>
        <p:spPr>
          <a:xfrm>
            <a:off x="8912520" y="1261800"/>
            <a:ext cx="1436760" cy="694440"/>
          </a:xfrm>
          <a:prstGeom prst="roundRect">
            <a:avLst>
              <a:gd name="adj" fmla="val 8000"/>
            </a:avLst>
          </a:prstGeom>
          <a:solidFill>
            <a:srgbClr val="e4f4f8"/>
          </a:solidFill>
          <a:ln w="12700">
            <a:solidFill>
              <a:srgbClr val="009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26" name="TextBox 15"/>
          <p:cNvSpPr/>
          <p:nvPr/>
        </p:nvSpPr>
        <p:spPr>
          <a:xfrm>
            <a:off x="8967240" y="1536840"/>
            <a:ext cx="1326960" cy="14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90000"/>
              </a:lnSpc>
              <a:buNone/>
            </a:pPr>
            <a:r>
              <a:rPr b="1" lang="en-US" sz="1050" spc="-1" strike="noStrike">
                <a:solidFill>
                  <a:srgbClr val="15242b"/>
                </a:solidFill>
                <a:latin typeface="Arial"/>
              </a:rPr>
              <a:t>6 × subsystem sims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27" name="Rounded Rectangle 16"/>
          <p:cNvSpPr/>
          <p:nvPr/>
        </p:nvSpPr>
        <p:spPr>
          <a:xfrm>
            <a:off x="10477440" y="1261800"/>
            <a:ext cx="1436760" cy="694440"/>
          </a:xfrm>
          <a:prstGeom prst="roundRect">
            <a:avLst>
              <a:gd name="adj" fmla="val 8000"/>
            </a:avLst>
          </a:prstGeom>
          <a:solidFill>
            <a:srgbClr val="e4f4f8"/>
          </a:solidFill>
          <a:ln w="12700">
            <a:solidFill>
              <a:srgbClr val="009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28" name="TextBox 17"/>
          <p:cNvSpPr/>
          <p:nvPr/>
        </p:nvSpPr>
        <p:spPr>
          <a:xfrm>
            <a:off x="10532520" y="1469160"/>
            <a:ext cx="1326960" cy="27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90000"/>
              </a:lnSpc>
              <a:buNone/>
            </a:pPr>
            <a:r>
              <a:rPr b="1" lang="en-US" sz="1050" spc="-1" strike="noStrike">
                <a:solidFill>
                  <a:srgbClr val="15242b"/>
                </a:solidFill>
                <a:latin typeface="Arial"/>
              </a:rPr>
              <a:t>xdos_tests</a:t>
            </a:r>
            <a:endParaRPr b="0" lang="en-IN" sz="1050" spc="-1" strike="noStrike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201"/>
              </a:spcBef>
              <a:buNone/>
            </a:pPr>
            <a:r>
              <a:rPr b="0" lang="en-US" sz="800" spc="-1" strike="noStrike">
                <a:solidFill>
                  <a:srgbClr val="5a6b73"/>
                </a:solidFill>
                <a:latin typeface="Arial"/>
              </a:rPr>
              <a:t>Catch2 v3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229" name="Rounded Rectangle 18"/>
          <p:cNvSpPr/>
          <p:nvPr/>
        </p:nvSpPr>
        <p:spPr>
          <a:xfrm>
            <a:off x="274320" y="2066400"/>
            <a:ext cx="2212560" cy="694440"/>
          </a:xfrm>
          <a:prstGeom prst="roundRect">
            <a:avLst>
              <a:gd name="adj" fmla="val 8000"/>
            </a:avLst>
          </a:prstGeom>
          <a:solidFill>
            <a:srgbClr val="006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30" name="TextBox 19"/>
          <p:cNvSpPr/>
          <p:nvPr/>
        </p:nvSpPr>
        <p:spPr>
          <a:xfrm>
            <a:off x="384120" y="2264760"/>
            <a:ext cx="1992960" cy="29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90000"/>
              </a:lnSpc>
              <a:buNone/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</a:rPr>
              <a:t>SESSION &amp; SUBSYSTEMS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buNone/>
            </a:pPr>
            <a:r>
              <a:rPr b="0" lang="en-US" sz="800" spc="-1" strike="noStrike">
                <a:solidFill>
                  <a:srgbClr val="dde8ec"/>
                </a:solidFill>
                <a:latin typeface="Consolas"/>
              </a:rPr>
              <a:t>src/session · src/subsystems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231" name="Rounded Rectangle 20"/>
          <p:cNvSpPr/>
          <p:nvPr/>
        </p:nvSpPr>
        <p:spPr>
          <a:xfrm>
            <a:off x="2651760" y="2066400"/>
            <a:ext cx="3002040" cy="694440"/>
          </a:xfrm>
          <a:prstGeom prst="roundRect">
            <a:avLst>
              <a:gd name="adj" fmla="val 8000"/>
            </a:avLst>
          </a:prstGeom>
          <a:solidFill>
            <a:srgbClr val="e4f4f8"/>
          </a:solidFill>
          <a:ln w="12700">
            <a:solidFill>
              <a:srgbClr val="006b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32" name="TextBox 21"/>
          <p:cNvSpPr/>
          <p:nvPr/>
        </p:nvSpPr>
        <p:spPr>
          <a:xfrm>
            <a:off x="2706480" y="2273760"/>
            <a:ext cx="2892240" cy="27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90000"/>
              </a:lnSpc>
              <a:buNone/>
            </a:pPr>
            <a:r>
              <a:rPr b="1" lang="en-US" sz="1050" spc="-1" strike="noStrike">
                <a:solidFill>
                  <a:srgbClr val="15242b"/>
                </a:solidFill>
                <a:latin typeface="Arial"/>
              </a:rPr>
              <a:t>Session</a:t>
            </a:r>
            <a:endParaRPr b="0" lang="en-IN" sz="1050" spc="-1" strike="noStrike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201"/>
              </a:spcBef>
              <a:buNone/>
            </a:pPr>
            <a:r>
              <a:rPr b="0" lang="en-US" sz="800" spc="-1" strike="noStrike">
                <a:solidFill>
                  <a:srgbClr val="5a6b73"/>
                </a:solidFill>
                <a:latin typeface="Arial"/>
              </a:rPr>
              <a:t>shared-link slots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233" name="Rounded Rectangle 22"/>
          <p:cNvSpPr/>
          <p:nvPr/>
        </p:nvSpPr>
        <p:spPr>
          <a:xfrm>
            <a:off x="5781960" y="2066400"/>
            <a:ext cx="3002040" cy="694440"/>
          </a:xfrm>
          <a:prstGeom prst="roundRect">
            <a:avLst>
              <a:gd name="adj" fmla="val 8000"/>
            </a:avLst>
          </a:prstGeom>
          <a:solidFill>
            <a:srgbClr val="e4f4f8"/>
          </a:solidFill>
          <a:ln w="12700">
            <a:solidFill>
              <a:srgbClr val="006b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34" name="TextBox 23"/>
          <p:cNvSpPr/>
          <p:nvPr/>
        </p:nvSpPr>
        <p:spPr>
          <a:xfrm>
            <a:off x="5837040" y="2341440"/>
            <a:ext cx="2892240" cy="14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90000"/>
              </a:lnSpc>
              <a:buNone/>
            </a:pPr>
            <a:r>
              <a:rPr b="1" lang="en-US" sz="1050" spc="-1" strike="noStrike">
                <a:solidFill>
                  <a:srgbClr val="15242b"/>
                </a:solidFill>
                <a:latin typeface="Arial"/>
              </a:rPr>
              <a:t>Plugin registry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35" name="Rounded Rectangle 24"/>
          <p:cNvSpPr/>
          <p:nvPr/>
        </p:nvSpPr>
        <p:spPr>
          <a:xfrm>
            <a:off x="8912520" y="2066400"/>
            <a:ext cx="3002040" cy="694440"/>
          </a:xfrm>
          <a:prstGeom prst="roundRect">
            <a:avLst>
              <a:gd name="adj" fmla="val 8000"/>
            </a:avLst>
          </a:prstGeom>
          <a:solidFill>
            <a:srgbClr val="e4f4f8"/>
          </a:solidFill>
          <a:ln w="12700">
            <a:solidFill>
              <a:srgbClr val="006b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36" name="TextBox 25"/>
          <p:cNvSpPr/>
          <p:nvPr/>
        </p:nvSpPr>
        <p:spPr>
          <a:xfrm>
            <a:off x="8967240" y="2273760"/>
            <a:ext cx="2892240" cy="27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90000"/>
              </a:lnSpc>
              <a:buNone/>
            </a:pPr>
            <a:r>
              <a:rPr b="1" lang="en-US" sz="1050" spc="-1" strike="noStrike">
                <a:solidFill>
                  <a:srgbClr val="15242b"/>
                </a:solidFill>
                <a:latin typeface="Arial"/>
              </a:rPr>
              <a:t>XLINK codec</a:t>
            </a:r>
            <a:endParaRPr b="0" lang="en-IN" sz="1050" spc="-1" strike="noStrike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201"/>
              </a:spcBef>
              <a:buNone/>
            </a:pPr>
            <a:r>
              <a:rPr b="0" lang="en-US" sz="800" spc="-1" strike="noStrike">
                <a:solidFill>
                  <a:srgbClr val="5a6b73"/>
                </a:solidFill>
                <a:latin typeface="Arial"/>
              </a:rPr>
              <a:t>keyed auth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237" name="Rounded Rectangle 26"/>
          <p:cNvSpPr/>
          <p:nvPr/>
        </p:nvSpPr>
        <p:spPr>
          <a:xfrm>
            <a:off x="274320" y="2871360"/>
            <a:ext cx="2212560" cy="694440"/>
          </a:xfrm>
          <a:prstGeom prst="roundRect">
            <a:avLst>
              <a:gd name="adj" fmla="val 8000"/>
            </a:avLst>
          </a:prstGeom>
          <a:solidFill>
            <a:srgbClr val="6a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38" name="TextBox 27"/>
          <p:cNvSpPr/>
          <p:nvPr/>
        </p:nvSpPr>
        <p:spPr>
          <a:xfrm>
            <a:off x="384120" y="3069360"/>
            <a:ext cx="1992960" cy="29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90000"/>
              </a:lnSpc>
              <a:buNone/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</a:rPr>
              <a:t>CODEC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buNone/>
            </a:pPr>
            <a:r>
              <a:rPr b="0" lang="en-US" sz="800" spc="-1" strike="noStrike">
                <a:solidFill>
                  <a:srgbClr val="dde8ec"/>
                </a:solidFill>
                <a:latin typeface="Consolas"/>
              </a:rPr>
              <a:t>src/codec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239" name="Rounded Rectangle 28"/>
          <p:cNvSpPr/>
          <p:nvPr/>
        </p:nvSpPr>
        <p:spPr>
          <a:xfrm>
            <a:off x="2651760" y="2871360"/>
            <a:ext cx="3002040" cy="694440"/>
          </a:xfrm>
          <a:prstGeom prst="roundRect">
            <a:avLst>
              <a:gd name="adj" fmla="val 8000"/>
            </a:avLst>
          </a:prstGeom>
          <a:solidFill>
            <a:srgbClr val="efecf7"/>
          </a:solidFill>
          <a:ln w="12700">
            <a:solidFill>
              <a:srgbClr val="6a5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40" name="TextBox 29"/>
          <p:cNvSpPr/>
          <p:nvPr/>
        </p:nvSpPr>
        <p:spPr>
          <a:xfrm>
            <a:off x="2706480" y="3078720"/>
            <a:ext cx="2892240" cy="27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90000"/>
              </a:lnSpc>
              <a:buNone/>
            </a:pPr>
            <a:r>
              <a:rPr b="1" lang="en-US" sz="1050" spc="-1" strike="noStrike">
                <a:solidFill>
                  <a:srgbClr val="15242b"/>
                </a:solidFill>
                <a:latin typeface="Arial"/>
              </a:rPr>
              <a:t>CCSDS TC codec</a:t>
            </a:r>
            <a:endParaRPr b="0" lang="en-IN" sz="1050" spc="-1" strike="noStrike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201"/>
              </a:spcBef>
              <a:buNone/>
            </a:pPr>
            <a:r>
              <a:rPr b="0" lang="en-US" sz="800" spc="-1" strike="noStrike">
                <a:solidFill>
                  <a:srgbClr val="5a6b73"/>
                </a:solidFill>
                <a:latin typeface="Arial"/>
              </a:rPr>
              <a:t>SOF 1ACF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241" name="Rounded Rectangle 30"/>
          <p:cNvSpPr/>
          <p:nvPr/>
        </p:nvSpPr>
        <p:spPr>
          <a:xfrm>
            <a:off x="5781960" y="2871360"/>
            <a:ext cx="3002040" cy="694440"/>
          </a:xfrm>
          <a:prstGeom prst="roundRect">
            <a:avLst>
              <a:gd name="adj" fmla="val 8000"/>
            </a:avLst>
          </a:prstGeom>
          <a:solidFill>
            <a:srgbClr val="efecf7"/>
          </a:solidFill>
          <a:ln w="12700">
            <a:solidFill>
              <a:srgbClr val="6a5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42" name="TextBox 31"/>
          <p:cNvSpPr/>
          <p:nvPr/>
        </p:nvSpPr>
        <p:spPr>
          <a:xfrm>
            <a:off x="5837040" y="3078720"/>
            <a:ext cx="2892240" cy="27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90000"/>
              </a:lnSpc>
              <a:buNone/>
            </a:pPr>
            <a:r>
              <a:rPr b="1" lang="en-US" sz="1050" spc="-1" strike="noStrike">
                <a:solidFill>
                  <a:srgbClr val="15242b"/>
                </a:solidFill>
                <a:latin typeface="Arial"/>
              </a:rPr>
              <a:t>CCSDS TM codec</a:t>
            </a:r>
            <a:endParaRPr b="0" lang="en-IN" sz="1050" spc="-1" strike="noStrike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201"/>
              </a:spcBef>
              <a:buNone/>
            </a:pPr>
            <a:r>
              <a:rPr b="0" lang="en-US" sz="800" spc="-1" strike="noStrike">
                <a:solidFill>
                  <a:srgbClr val="5a6b73"/>
                </a:solidFill>
                <a:latin typeface="Arial"/>
              </a:rPr>
              <a:t>SOF FCA1, 1432 B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243" name="Rounded Rectangle 32"/>
          <p:cNvSpPr/>
          <p:nvPr/>
        </p:nvSpPr>
        <p:spPr>
          <a:xfrm>
            <a:off x="8912520" y="2871360"/>
            <a:ext cx="3002040" cy="694440"/>
          </a:xfrm>
          <a:prstGeom prst="roundRect">
            <a:avLst>
              <a:gd name="adj" fmla="val 8000"/>
            </a:avLst>
          </a:prstGeom>
          <a:solidFill>
            <a:srgbClr val="efecf7"/>
          </a:solidFill>
          <a:ln w="12700">
            <a:solidFill>
              <a:srgbClr val="6a5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44" name="TextBox 33"/>
          <p:cNvSpPr/>
          <p:nvPr/>
        </p:nvSpPr>
        <p:spPr>
          <a:xfrm>
            <a:off x="8967240" y="3146400"/>
            <a:ext cx="2892240" cy="14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90000"/>
              </a:lnSpc>
              <a:buNone/>
            </a:pPr>
            <a:r>
              <a:rPr b="1" lang="en-US" sz="1050" spc="-1" strike="noStrike">
                <a:solidFill>
                  <a:srgbClr val="15242b"/>
                </a:solidFill>
                <a:latin typeface="Arial"/>
              </a:rPr>
              <a:t>legacy codec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45" name="Rounded Rectangle 34"/>
          <p:cNvSpPr/>
          <p:nvPr/>
        </p:nvSpPr>
        <p:spPr>
          <a:xfrm>
            <a:off x="274320" y="3675960"/>
            <a:ext cx="2212560" cy="511560"/>
          </a:xfrm>
          <a:prstGeom prst="roundRect">
            <a:avLst>
              <a:gd name="adj" fmla="val 8000"/>
            </a:avLst>
          </a:prstGeom>
          <a:solidFill>
            <a:srgbClr val="6a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46" name="TextBox 35"/>
          <p:cNvSpPr/>
          <p:nvPr/>
        </p:nvSpPr>
        <p:spPr>
          <a:xfrm>
            <a:off x="384120" y="3782520"/>
            <a:ext cx="1992960" cy="29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90000"/>
              </a:lnSpc>
              <a:buNone/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</a:rPr>
              <a:t>FRAMING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buNone/>
            </a:pPr>
            <a:r>
              <a:rPr b="0" lang="en-US" sz="800" spc="-1" strike="noStrike">
                <a:solidFill>
                  <a:srgbClr val="dde8ec"/>
                </a:solidFill>
                <a:latin typeface="Consolas"/>
              </a:rPr>
              <a:t>src/framing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247" name="Rounded Rectangle 36"/>
          <p:cNvSpPr/>
          <p:nvPr/>
        </p:nvSpPr>
        <p:spPr>
          <a:xfrm>
            <a:off x="2651760" y="3675960"/>
            <a:ext cx="1436760" cy="511560"/>
          </a:xfrm>
          <a:prstGeom prst="roundRect">
            <a:avLst>
              <a:gd name="adj" fmla="val 8000"/>
            </a:avLst>
          </a:prstGeom>
          <a:solidFill>
            <a:srgbClr val="efecf7"/>
          </a:solidFill>
          <a:ln w="12700">
            <a:solidFill>
              <a:srgbClr val="6a5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48" name="TextBox 37"/>
          <p:cNvSpPr/>
          <p:nvPr/>
        </p:nvSpPr>
        <p:spPr>
          <a:xfrm>
            <a:off x="2706480" y="3859560"/>
            <a:ext cx="1326960" cy="14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90000"/>
              </a:lnSpc>
              <a:buNone/>
            </a:pPr>
            <a:r>
              <a:rPr b="1" lang="en-US" sz="1050" spc="-1" strike="noStrike">
                <a:solidFill>
                  <a:srgbClr val="15242b"/>
                </a:solidFill>
                <a:latin typeface="Arial"/>
              </a:rPr>
              <a:t>adcs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49" name="Rounded Rectangle 38"/>
          <p:cNvSpPr/>
          <p:nvPr/>
        </p:nvSpPr>
        <p:spPr>
          <a:xfrm>
            <a:off x="4217040" y="3675960"/>
            <a:ext cx="1436760" cy="511560"/>
          </a:xfrm>
          <a:prstGeom prst="roundRect">
            <a:avLst>
              <a:gd name="adj" fmla="val 8000"/>
            </a:avLst>
          </a:prstGeom>
          <a:solidFill>
            <a:srgbClr val="efecf7"/>
          </a:solidFill>
          <a:ln w="12700">
            <a:solidFill>
              <a:srgbClr val="6a5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50" name="TextBox 39"/>
          <p:cNvSpPr/>
          <p:nvPr/>
        </p:nvSpPr>
        <p:spPr>
          <a:xfrm>
            <a:off x="4271760" y="3859560"/>
            <a:ext cx="1326960" cy="14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90000"/>
              </a:lnSpc>
              <a:buNone/>
            </a:pPr>
            <a:r>
              <a:rPr b="1" lang="en-US" sz="1050" spc="-1" strike="noStrike">
                <a:solidFill>
                  <a:srgbClr val="15242b"/>
                </a:solidFill>
                <a:latin typeface="Arial"/>
              </a:rPr>
              <a:t>eps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51" name="Rounded Rectangle 40"/>
          <p:cNvSpPr/>
          <p:nvPr/>
        </p:nvSpPr>
        <p:spPr>
          <a:xfrm>
            <a:off x="5781960" y="3675960"/>
            <a:ext cx="1436760" cy="511560"/>
          </a:xfrm>
          <a:prstGeom prst="roundRect">
            <a:avLst>
              <a:gd name="adj" fmla="val 8000"/>
            </a:avLst>
          </a:prstGeom>
          <a:solidFill>
            <a:srgbClr val="efecf7"/>
          </a:solidFill>
          <a:ln w="12700">
            <a:solidFill>
              <a:srgbClr val="6a5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52" name="TextBox 41"/>
          <p:cNvSpPr/>
          <p:nvPr/>
        </p:nvSpPr>
        <p:spPr>
          <a:xfrm>
            <a:off x="5837040" y="3859560"/>
            <a:ext cx="1326960" cy="14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90000"/>
              </a:lnSpc>
              <a:buNone/>
            </a:pPr>
            <a:r>
              <a:rPr b="1" lang="en-US" sz="1050" spc="-1" strike="noStrike">
                <a:solidFill>
                  <a:srgbClr val="15242b"/>
                </a:solidFill>
                <a:latin typeface="Arial"/>
              </a:rPr>
              <a:t>gps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53" name="Rounded Rectangle 42"/>
          <p:cNvSpPr/>
          <p:nvPr/>
        </p:nvSpPr>
        <p:spPr>
          <a:xfrm>
            <a:off x="7347240" y="3675960"/>
            <a:ext cx="1436760" cy="511560"/>
          </a:xfrm>
          <a:prstGeom prst="roundRect">
            <a:avLst>
              <a:gd name="adj" fmla="val 8000"/>
            </a:avLst>
          </a:prstGeom>
          <a:solidFill>
            <a:srgbClr val="efecf7"/>
          </a:solidFill>
          <a:ln w="12700">
            <a:solidFill>
              <a:srgbClr val="6a5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54" name="TextBox 43"/>
          <p:cNvSpPr/>
          <p:nvPr/>
        </p:nvSpPr>
        <p:spPr>
          <a:xfrm>
            <a:off x="7401960" y="3859560"/>
            <a:ext cx="1326960" cy="14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90000"/>
              </a:lnSpc>
              <a:buNone/>
            </a:pPr>
            <a:r>
              <a:rPr b="1" lang="en-US" sz="1050" spc="-1" strike="noStrike">
                <a:solidFill>
                  <a:srgbClr val="15242b"/>
                </a:solidFill>
                <a:latin typeface="Arial"/>
              </a:rPr>
              <a:t>payload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55" name="Rounded Rectangle 44"/>
          <p:cNvSpPr/>
          <p:nvPr/>
        </p:nvSpPr>
        <p:spPr>
          <a:xfrm>
            <a:off x="8912520" y="3675960"/>
            <a:ext cx="1436760" cy="511560"/>
          </a:xfrm>
          <a:prstGeom prst="roundRect">
            <a:avLst>
              <a:gd name="adj" fmla="val 8000"/>
            </a:avLst>
          </a:prstGeom>
          <a:solidFill>
            <a:srgbClr val="efecf7"/>
          </a:solidFill>
          <a:ln w="12700">
            <a:solidFill>
              <a:srgbClr val="6a5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56" name="TextBox 45"/>
          <p:cNvSpPr/>
          <p:nvPr/>
        </p:nvSpPr>
        <p:spPr>
          <a:xfrm>
            <a:off x="8967240" y="3859560"/>
            <a:ext cx="1326960" cy="14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90000"/>
              </a:lnSpc>
              <a:buNone/>
            </a:pPr>
            <a:r>
              <a:rPr b="1" lang="en-US" sz="1050" spc="-1" strike="noStrike">
                <a:solidFill>
                  <a:srgbClr val="15242b"/>
                </a:solidFill>
                <a:latin typeface="Arial"/>
              </a:rPr>
              <a:t>uhf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57" name="Rounded Rectangle 46"/>
          <p:cNvSpPr/>
          <p:nvPr/>
        </p:nvSpPr>
        <p:spPr>
          <a:xfrm>
            <a:off x="10477440" y="3675960"/>
            <a:ext cx="1436760" cy="511560"/>
          </a:xfrm>
          <a:prstGeom prst="roundRect">
            <a:avLst>
              <a:gd name="adj" fmla="val 8000"/>
            </a:avLst>
          </a:prstGeom>
          <a:solidFill>
            <a:srgbClr val="efecf7"/>
          </a:solidFill>
          <a:ln w="12700">
            <a:solidFill>
              <a:srgbClr val="6a5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58" name="TextBox 47"/>
          <p:cNvSpPr/>
          <p:nvPr/>
        </p:nvSpPr>
        <p:spPr>
          <a:xfrm>
            <a:off x="10532520" y="3859560"/>
            <a:ext cx="1326960" cy="14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90000"/>
              </a:lnSpc>
              <a:buNone/>
            </a:pPr>
            <a:r>
              <a:rPr b="1" lang="en-US" sz="1050" spc="-1" strike="noStrike">
                <a:solidFill>
                  <a:srgbClr val="15242b"/>
                </a:solidFill>
                <a:latin typeface="Arial"/>
              </a:rPr>
              <a:t>xlink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59" name="Rounded Rectangle 48"/>
          <p:cNvSpPr/>
          <p:nvPr/>
        </p:nvSpPr>
        <p:spPr>
          <a:xfrm>
            <a:off x="274320" y="4297680"/>
            <a:ext cx="2212560" cy="694440"/>
          </a:xfrm>
          <a:prstGeom prst="roundRect">
            <a:avLst>
              <a:gd name="adj" fmla="val 8000"/>
            </a:avLst>
          </a:prstGeom>
          <a:solidFill>
            <a:srgbClr val="e09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60" name="TextBox 49"/>
          <p:cNvSpPr/>
          <p:nvPr/>
        </p:nvSpPr>
        <p:spPr>
          <a:xfrm>
            <a:off x="384120" y="4495680"/>
            <a:ext cx="1992960" cy="29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90000"/>
              </a:lnSpc>
              <a:buNone/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</a:rPr>
              <a:t>DATA MODEL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buNone/>
            </a:pPr>
            <a:r>
              <a:rPr b="0" lang="en-US" sz="800" spc="-1" strike="noStrike">
                <a:solidFill>
                  <a:srgbClr val="dde8ec"/>
                </a:solidFill>
                <a:latin typeface="Consolas"/>
              </a:rPr>
              <a:t>src/mib · src/lut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261" name="Rounded Rectangle 50"/>
          <p:cNvSpPr/>
          <p:nvPr/>
        </p:nvSpPr>
        <p:spPr>
          <a:xfrm>
            <a:off x="2651760" y="4297680"/>
            <a:ext cx="3002040" cy="694440"/>
          </a:xfrm>
          <a:prstGeom prst="roundRect">
            <a:avLst>
              <a:gd name="adj" fmla="val 8000"/>
            </a:avLst>
          </a:prstGeom>
          <a:solidFill>
            <a:srgbClr val="fdf3e0"/>
          </a:solidFill>
          <a:ln w="12700">
            <a:solidFill>
              <a:srgbClr val="e092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62" name="TextBox 51"/>
          <p:cNvSpPr/>
          <p:nvPr/>
        </p:nvSpPr>
        <p:spPr>
          <a:xfrm>
            <a:off x="2706480" y="4505040"/>
            <a:ext cx="2892240" cy="27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90000"/>
              </a:lnSpc>
              <a:buNone/>
            </a:pPr>
            <a:r>
              <a:rPr b="1" lang="en-US" sz="1050" spc="-1" strike="noStrike">
                <a:solidFill>
                  <a:srgbClr val="15242b"/>
                </a:solidFill>
                <a:latin typeface="Arial"/>
              </a:rPr>
              <a:t>MIB loader</a:t>
            </a:r>
            <a:endParaRPr b="0" lang="en-IN" sz="1050" spc="-1" strike="noStrike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201"/>
              </a:spcBef>
              <a:buNone/>
            </a:pPr>
            <a:r>
              <a:rPr b="0" lang="en-US" sz="800" spc="-1" strike="noStrike">
                <a:solidFill>
                  <a:srgbClr val="5a6b73"/>
                </a:solidFill>
                <a:latin typeface="Arial"/>
              </a:rPr>
              <a:t>messages, params, enums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263" name="Rounded Rectangle 52"/>
          <p:cNvSpPr/>
          <p:nvPr/>
        </p:nvSpPr>
        <p:spPr>
          <a:xfrm>
            <a:off x="5781960" y="4297680"/>
            <a:ext cx="3002040" cy="694440"/>
          </a:xfrm>
          <a:prstGeom prst="roundRect">
            <a:avLst>
              <a:gd name="adj" fmla="val 8000"/>
            </a:avLst>
          </a:prstGeom>
          <a:solidFill>
            <a:srgbClr val="fdf3e0"/>
          </a:solidFill>
          <a:ln w="12700">
            <a:solidFill>
              <a:srgbClr val="e092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64" name="TextBox 53"/>
          <p:cNvSpPr/>
          <p:nvPr/>
        </p:nvSpPr>
        <p:spPr>
          <a:xfrm>
            <a:off x="5837040" y="4505040"/>
            <a:ext cx="2892240" cy="27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90000"/>
              </a:lnSpc>
              <a:buNone/>
            </a:pPr>
            <a:r>
              <a:rPr b="1" lang="en-US" sz="1050" spc="-1" strike="noStrike">
                <a:solidFill>
                  <a:srgbClr val="15242b"/>
                </a:solidFill>
                <a:latin typeface="Arial"/>
              </a:rPr>
              <a:t>Binary LUT builder</a:t>
            </a:r>
            <a:endParaRPr b="0" lang="en-IN" sz="1050" spc="-1" strike="noStrike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201"/>
              </a:spcBef>
              <a:buNone/>
            </a:pPr>
            <a:r>
              <a:rPr b="0" lang="en-US" sz="800" spc="-1" strike="noStrike">
                <a:solidFill>
                  <a:srgbClr val="5a6b73"/>
                </a:solidFill>
                <a:latin typeface="Arial"/>
              </a:rPr>
              <a:t>+ CSV grammar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265" name="Rounded Rectangle 54"/>
          <p:cNvSpPr/>
          <p:nvPr/>
        </p:nvSpPr>
        <p:spPr>
          <a:xfrm>
            <a:off x="8912520" y="4297680"/>
            <a:ext cx="3002040" cy="694440"/>
          </a:xfrm>
          <a:prstGeom prst="roundRect">
            <a:avLst>
              <a:gd name="adj" fmla="val 8000"/>
            </a:avLst>
          </a:prstGeom>
          <a:solidFill>
            <a:srgbClr val="fdf3e0"/>
          </a:solidFill>
          <a:ln w="12700">
            <a:solidFill>
              <a:srgbClr val="e092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66" name="TextBox 55"/>
          <p:cNvSpPr/>
          <p:nvPr/>
        </p:nvSpPr>
        <p:spPr>
          <a:xfrm>
            <a:off x="8967240" y="4505040"/>
            <a:ext cx="2892240" cy="27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90000"/>
              </a:lnSpc>
              <a:buNone/>
            </a:pPr>
            <a:r>
              <a:rPr b="1" lang="en-US" sz="1050" spc="-1" strike="noStrike">
                <a:solidFill>
                  <a:srgbClr val="15242b"/>
                </a:solidFill>
                <a:latin typeface="Arial"/>
              </a:rPr>
              <a:t>LUT format</a:t>
            </a:r>
            <a:endParaRPr b="0" lang="en-IN" sz="1050" spc="-1" strike="noStrike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201"/>
              </a:spcBef>
              <a:buNone/>
            </a:pPr>
            <a:r>
              <a:rPr b="0" lang="en-US" sz="800" spc="-1" strike="noStrike">
                <a:solidFill>
                  <a:srgbClr val="5a6b73"/>
                </a:solidFill>
                <a:latin typeface="Arial"/>
              </a:rPr>
              <a:t>header · entry · picks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267" name="Rounded Rectangle 56"/>
          <p:cNvSpPr/>
          <p:nvPr/>
        </p:nvSpPr>
        <p:spPr>
          <a:xfrm>
            <a:off x="274320" y="5102280"/>
            <a:ext cx="2212560" cy="694440"/>
          </a:xfrm>
          <a:prstGeom prst="roundRect">
            <a:avLst>
              <a:gd name="adj" fmla="val 8000"/>
            </a:avLst>
          </a:prstGeom>
          <a:solidFill>
            <a:srgbClr val="5a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68" name="TextBox 57"/>
          <p:cNvSpPr/>
          <p:nvPr/>
        </p:nvSpPr>
        <p:spPr>
          <a:xfrm>
            <a:off x="384120" y="5300640"/>
            <a:ext cx="1992960" cy="29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90000"/>
              </a:lnSpc>
              <a:buNone/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</a:rPr>
              <a:t>COMMON &amp; TRANSPORT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buNone/>
            </a:pPr>
            <a:r>
              <a:rPr b="0" lang="en-US" sz="800" spc="-1" strike="noStrike">
                <a:solidFill>
                  <a:srgbClr val="dde8ec"/>
                </a:solidFill>
                <a:latin typeface="Consolas"/>
              </a:rPr>
              <a:t>src/common · src/transport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269" name="Rounded Rectangle 58"/>
          <p:cNvSpPr/>
          <p:nvPr/>
        </p:nvSpPr>
        <p:spPr>
          <a:xfrm>
            <a:off x="2651760" y="5102280"/>
            <a:ext cx="1436760" cy="694440"/>
          </a:xfrm>
          <a:prstGeom prst="roundRect">
            <a:avLst>
              <a:gd name="adj" fmla="val 8000"/>
            </a:avLst>
          </a:prstGeom>
          <a:solidFill>
            <a:srgbClr val="f2f5f6"/>
          </a:solidFill>
          <a:ln w="12700">
            <a:solidFill>
              <a:srgbClr val="5a6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70" name="TextBox 59"/>
          <p:cNvSpPr/>
          <p:nvPr/>
        </p:nvSpPr>
        <p:spPr>
          <a:xfrm>
            <a:off x="2706480" y="5377320"/>
            <a:ext cx="1326960" cy="14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90000"/>
              </a:lnSpc>
              <a:buNone/>
            </a:pPr>
            <a:r>
              <a:rPr b="1" lang="en-US" sz="1050" spc="-1" strike="noStrike">
                <a:solidFill>
                  <a:srgbClr val="15242b"/>
                </a:solidFill>
                <a:latin typeface="Arial"/>
              </a:rPr>
              <a:t>CRC-16-CCITT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71" name="Rounded Rectangle 60"/>
          <p:cNvSpPr/>
          <p:nvPr/>
        </p:nvSpPr>
        <p:spPr>
          <a:xfrm>
            <a:off x="4217040" y="5102280"/>
            <a:ext cx="1436760" cy="694440"/>
          </a:xfrm>
          <a:prstGeom prst="roundRect">
            <a:avLst>
              <a:gd name="adj" fmla="val 8000"/>
            </a:avLst>
          </a:prstGeom>
          <a:solidFill>
            <a:srgbClr val="f2f5f6"/>
          </a:solidFill>
          <a:ln w="12700">
            <a:solidFill>
              <a:srgbClr val="5a6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72" name="TextBox 61"/>
          <p:cNvSpPr/>
          <p:nvPr/>
        </p:nvSpPr>
        <p:spPr>
          <a:xfrm>
            <a:off x="4271760" y="5377320"/>
            <a:ext cx="1326960" cy="14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90000"/>
              </a:lnSpc>
              <a:buNone/>
            </a:pPr>
            <a:r>
              <a:rPr b="1" lang="en-US" sz="1050" spc="-1" strike="noStrike">
                <a:solidFill>
                  <a:srgbClr val="15242b"/>
                </a:solidFill>
                <a:latin typeface="Arial"/>
              </a:rPr>
              <a:t>hex / colour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73" name="Rounded Rectangle 62"/>
          <p:cNvSpPr/>
          <p:nvPr/>
        </p:nvSpPr>
        <p:spPr>
          <a:xfrm>
            <a:off x="5781960" y="5102280"/>
            <a:ext cx="1436760" cy="694440"/>
          </a:xfrm>
          <a:prstGeom prst="roundRect">
            <a:avLst>
              <a:gd name="adj" fmla="val 8000"/>
            </a:avLst>
          </a:prstGeom>
          <a:solidFill>
            <a:srgbClr val="f2f5f6"/>
          </a:solidFill>
          <a:ln w="12700">
            <a:solidFill>
              <a:srgbClr val="5a6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74" name="TextBox 63"/>
          <p:cNvSpPr/>
          <p:nvPr/>
        </p:nvSpPr>
        <p:spPr>
          <a:xfrm>
            <a:off x="5837040" y="5377320"/>
            <a:ext cx="1326960" cy="14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90000"/>
              </a:lnSpc>
              <a:buNone/>
            </a:pPr>
            <a:r>
              <a:rPr b="1" lang="en-US" sz="1050" spc="-1" strike="noStrike">
                <a:solidFill>
                  <a:srgbClr val="15242b"/>
                </a:solidFill>
                <a:latin typeface="Arial"/>
              </a:rPr>
              <a:t>EGSE model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75" name="Rounded Rectangle 64"/>
          <p:cNvSpPr/>
          <p:nvPr/>
        </p:nvSpPr>
        <p:spPr>
          <a:xfrm>
            <a:off x="7347240" y="5102280"/>
            <a:ext cx="1436760" cy="694440"/>
          </a:xfrm>
          <a:prstGeom prst="roundRect">
            <a:avLst>
              <a:gd name="adj" fmla="val 8000"/>
            </a:avLst>
          </a:prstGeom>
          <a:solidFill>
            <a:srgbClr val="f2f5f6"/>
          </a:solidFill>
          <a:ln w="12700">
            <a:solidFill>
              <a:srgbClr val="5a6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76" name="TextBox 65"/>
          <p:cNvSpPr/>
          <p:nvPr/>
        </p:nvSpPr>
        <p:spPr>
          <a:xfrm>
            <a:off x="7401960" y="5377320"/>
            <a:ext cx="1326960" cy="14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90000"/>
              </a:lnSpc>
              <a:buNone/>
            </a:pPr>
            <a:r>
              <a:rPr b="1" lang="en-US" sz="1050" spc="-1" strike="noStrike">
                <a:solidFill>
                  <a:srgbClr val="15242b"/>
                </a:solidFill>
                <a:latin typeface="Arial"/>
              </a:rPr>
              <a:t>types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77" name="Rounded Rectangle 66"/>
          <p:cNvSpPr/>
          <p:nvPr/>
        </p:nvSpPr>
        <p:spPr>
          <a:xfrm>
            <a:off x="8912520" y="5102280"/>
            <a:ext cx="1436760" cy="694440"/>
          </a:xfrm>
          <a:prstGeom prst="roundRect">
            <a:avLst>
              <a:gd name="adj" fmla="val 8000"/>
            </a:avLst>
          </a:prstGeom>
          <a:solidFill>
            <a:srgbClr val="f2f5f6"/>
          </a:solidFill>
          <a:ln w="12700">
            <a:solidFill>
              <a:srgbClr val="5a6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78" name="TextBox 67"/>
          <p:cNvSpPr/>
          <p:nvPr/>
        </p:nvSpPr>
        <p:spPr>
          <a:xfrm>
            <a:off x="8967240" y="5309640"/>
            <a:ext cx="1326960" cy="27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90000"/>
              </a:lnSpc>
              <a:buNone/>
            </a:pPr>
            <a:r>
              <a:rPr b="1" lang="en-US" sz="1050" spc="-1" strike="noStrike">
                <a:solidFill>
                  <a:srgbClr val="15242b"/>
                </a:solidFill>
                <a:latin typeface="Arial"/>
              </a:rPr>
              <a:t>socket_compat</a:t>
            </a:r>
            <a:endParaRPr b="0" lang="en-IN" sz="1050" spc="-1" strike="noStrike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201"/>
              </a:spcBef>
              <a:buNone/>
            </a:pPr>
            <a:r>
              <a:rPr b="0" lang="en-US" sz="800" spc="-1" strike="noStrike">
                <a:solidFill>
                  <a:srgbClr val="5a6b73"/>
                </a:solidFill>
                <a:latin typeface="Arial"/>
              </a:rPr>
              <a:t>POSIX + WinSock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279" name="Rounded Rectangle 68"/>
          <p:cNvSpPr/>
          <p:nvPr/>
        </p:nvSpPr>
        <p:spPr>
          <a:xfrm>
            <a:off x="10477440" y="5102280"/>
            <a:ext cx="1436760" cy="694440"/>
          </a:xfrm>
          <a:prstGeom prst="roundRect">
            <a:avLst>
              <a:gd name="adj" fmla="val 8000"/>
            </a:avLst>
          </a:prstGeom>
          <a:solidFill>
            <a:srgbClr val="f2f5f6"/>
          </a:solidFill>
          <a:ln w="12700">
            <a:solidFill>
              <a:srgbClr val="5a6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80" name="TextBox 69"/>
          <p:cNvSpPr/>
          <p:nvPr/>
        </p:nvSpPr>
        <p:spPr>
          <a:xfrm>
            <a:off x="10532520" y="5377320"/>
            <a:ext cx="1326960" cy="14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90000"/>
              </a:lnSpc>
              <a:buNone/>
            </a:pPr>
            <a:r>
              <a:rPr b="1" lang="en-US" sz="1050" spc="-1" strike="noStrike">
                <a:solidFill>
                  <a:srgbClr val="15242b"/>
                </a:solidFill>
                <a:latin typeface="Arial"/>
              </a:rPr>
              <a:t>TCP client / server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81" name="TextBox 70"/>
          <p:cNvSpPr/>
          <p:nvPr/>
        </p:nvSpPr>
        <p:spPr>
          <a:xfrm>
            <a:off x="225720" y="5961960"/>
            <a:ext cx="11521080" cy="12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i="1" lang="en-US" sz="850" spc="-1" strike="noStrike">
                <a:solidFill>
                  <a:srgbClr val="8d9ba1"/>
                </a:solidFill>
                <a:latin typeface="Arial"/>
              </a:rPr>
              <a:t>Dependencies point downward only. Third-party code is limited to a vendored nlohmann/json header and Catch2 v3 for the test target; everything else is C++17 standard library plus the platform socket API.</a:t>
            </a:r>
            <a:endParaRPr b="0" lang="en-IN" sz="8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PlaceHolder 1"/>
          <p:cNvSpPr>
            <a:spLocks noGrp="1"/>
          </p:cNvSpPr>
          <p:nvPr>
            <p:ph type="title"/>
          </p:nvPr>
        </p:nvSpPr>
        <p:spPr>
          <a:xfrm>
            <a:off x="225720" y="176760"/>
            <a:ext cx="11740320" cy="7318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500" spc="-1" strike="noStrike">
                <a:solidFill>
                  <a:srgbClr val="15242b"/>
                </a:solidFill>
                <a:latin typeface="Arial"/>
              </a:rPr>
              <a:t>Tele</a:t>
            </a:r>
            <a:r>
              <a:rPr b="1" lang="en-US" sz="2500" spc="-1" strike="noStrike">
                <a:solidFill>
                  <a:srgbClr val="15242b"/>
                </a:solidFill>
                <a:latin typeface="Arial"/>
              </a:rPr>
              <a:t>co</a:t>
            </a:r>
            <a:r>
              <a:rPr b="1" lang="en-US" sz="2500" spc="-1" strike="noStrike">
                <a:solidFill>
                  <a:srgbClr val="15242b"/>
                </a:solidFill>
                <a:latin typeface="Arial"/>
              </a:rPr>
              <a:t>mm</a:t>
            </a:r>
            <a:r>
              <a:rPr b="1" lang="en-US" sz="2500" spc="-1" strike="noStrike">
                <a:solidFill>
                  <a:srgbClr val="15242b"/>
                </a:solidFill>
                <a:latin typeface="Arial"/>
              </a:rPr>
              <a:t>and </a:t>
            </a:r>
            <a:r>
              <a:rPr b="1" lang="en-US" sz="2500" spc="-1" strike="noStrike">
                <a:solidFill>
                  <a:srgbClr val="15242b"/>
                </a:solidFill>
                <a:latin typeface="Arial"/>
              </a:rPr>
              <a:t>flow</a:t>
            </a:r>
            <a:r>
              <a:rPr b="1" lang="en-US" sz="2500" spc="-1" strike="noStrike">
                <a:solidFill>
                  <a:srgbClr val="15242b"/>
                </a:solidFill>
                <a:latin typeface="Arial"/>
              </a:rPr>
              <a:t>, </a:t>
            </a:r>
            <a:r>
              <a:rPr b="1" lang="en-US" sz="2500" spc="-1" strike="noStrike">
                <a:solidFill>
                  <a:srgbClr val="15242b"/>
                </a:solidFill>
                <a:latin typeface="Arial"/>
              </a:rPr>
              <a:t>end </a:t>
            </a:r>
            <a:r>
              <a:rPr b="1" lang="en-US" sz="2500" spc="-1" strike="noStrike">
                <a:solidFill>
                  <a:srgbClr val="15242b"/>
                </a:solidFill>
                <a:latin typeface="Arial"/>
              </a:rPr>
              <a:t>to </a:t>
            </a:r>
            <a:r>
              <a:rPr b="1" lang="en-US" sz="2500" spc="-1" strike="noStrike">
                <a:solidFill>
                  <a:srgbClr val="15242b"/>
                </a:solidFill>
                <a:latin typeface="Arial"/>
              </a:rPr>
              <a:t>end</a:t>
            </a:r>
            <a:endParaRPr b="0" lang="en-US" sz="25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3" name="TextBox 3"/>
          <p:cNvSpPr/>
          <p:nvPr/>
        </p:nvSpPr>
        <p:spPr>
          <a:xfrm>
            <a:off x="225720" y="873360"/>
            <a:ext cx="1174068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50" spc="-1" strike="noStrike">
                <a:solidFill>
                  <a:srgbClr val="006b83"/>
                </a:solidFill>
                <a:latin typeface="Arial"/>
              </a:rPr>
              <a:t>Ten steps from an operator keystroke to a decoded, unit-tagged response — every hop length-checked and CRC-verified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84" name="TextBox 4"/>
          <p:cNvSpPr/>
          <p:nvPr/>
        </p:nvSpPr>
        <p:spPr>
          <a:xfrm>
            <a:off x="274320" y="1211040"/>
            <a:ext cx="548604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90000"/>
              </a:lnSpc>
              <a:buNone/>
            </a:pPr>
            <a:r>
              <a:rPr b="1" lang="en-US" sz="1000" spc="-1" strike="noStrike">
                <a:solidFill>
                  <a:srgbClr val="006b83"/>
                </a:solidFill>
                <a:latin typeface="Arial"/>
              </a:rPr>
              <a:t>UPLINK  ·  ground → on-board computer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85" name="TextBox 5"/>
          <p:cNvSpPr/>
          <p:nvPr/>
        </p:nvSpPr>
        <p:spPr>
          <a:xfrm>
            <a:off x="274320" y="3405600"/>
            <a:ext cx="685764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90000"/>
              </a:lnSpc>
              <a:buNone/>
            </a:pPr>
            <a:r>
              <a:rPr b="1" lang="en-US" sz="1000" spc="-1" strike="noStrike">
                <a:solidFill>
                  <a:srgbClr val="3f8f62"/>
                </a:solidFill>
                <a:latin typeface="Arial"/>
              </a:rPr>
              <a:t>EXECUTION &amp; DOWNLINK  ·  OBC → subsystem → ground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86" name="Rounded Rectangle 6"/>
          <p:cNvSpPr/>
          <p:nvPr/>
        </p:nvSpPr>
        <p:spPr>
          <a:xfrm>
            <a:off x="274320" y="1481400"/>
            <a:ext cx="2020320" cy="1462680"/>
          </a:xfrm>
          <a:prstGeom prst="roundRect">
            <a:avLst>
              <a:gd name="adj" fmla="val 7000"/>
            </a:avLst>
          </a:prstGeom>
          <a:solidFill>
            <a:srgbClr val="e4f4f8"/>
          </a:solidFill>
          <a:ln w="15875">
            <a:solidFill>
              <a:srgbClr val="009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87" name="Oval 7"/>
          <p:cNvSpPr/>
          <p:nvPr/>
        </p:nvSpPr>
        <p:spPr>
          <a:xfrm>
            <a:off x="374760" y="1581840"/>
            <a:ext cx="301320" cy="301320"/>
          </a:xfrm>
          <a:prstGeom prst="ellipse">
            <a:avLst/>
          </a:prstGeom>
          <a:solidFill>
            <a:srgbClr val="009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88" name="TextBox 8"/>
          <p:cNvSpPr/>
          <p:nvPr/>
        </p:nvSpPr>
        <p:spPr>
          <a:xfrm>
            <a:off x="374760" y="1656000"/>
            <a:ext cx="30132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ffffff"/>
                </a:solidFill>
                <a:latin typeface="Arial"/>
              </a:rPr>
              <a:t>1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89" name="TextBox 9"/>
          <p:cNvSpPr/>
          <p:nvPr/>
        </p:nvSpPr>
        <p:spPr>
          <a:xfrm>
            <a:off x="749880" y="1652400"/>
            <a:ext cx="1435320" cy="31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90000"/>
              </a:lnSpc>
              <a:buNone/>
            </a:pPr>
            <a:r>
              <a:rPr b="1" lang="en-US" sz="1150" spc="-1" strike="noStrike">
                <a:solidFill>
                  <a:srgbClr val="15242b"/>
                </a:solidFill>
                <a:latin typeface="Arial"/>
              </a:rPr>
              <a:t>Select the telecommand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290" name="TextBox 10"/>
          <p:cNvSpPr/>
          <p:nvPr/>
        </p:nvSpPr>
        <p:spPr>
          <a:xfrm>
            <a:off x="393120" y="2084760"/>
            <a:ext cx="1782720" cy="68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2000"/>
              </a:lnSpc>
              <a:buNone/>
            </a:pPr>
            <a:r>
              <a:rPr b="0" lang="en-US" sz="880" spc="-1" strike="noStrike">
                <a:solidFill>
                  <a:srgbClr val="5a6b73"/>
                </a:solidFill>
                <a:latin typeface="Arial"/>
              </a:rPr>
              <a:t>xdos_gs lists every MIB command plus synthesized GET entries for GPS and ADCS telemetry. “?ID” shows the full parameter table without sending.</a:t>
            </a:r>
            <a:endParaRPr b="0" lang="en-IN" sz="880" spc="-1" strike="noStrike">
              <a:latin typeface="Arial"/>
            </a:endParaRPr>
          </a:p>
        </p:txBody>
      </p:sp>
      <p:sp>
        <p:nvSpPr>
          <p:cNvPr id="291" name="Right Arrow 11"/>
          <p:cNvSpPr/>
          <p:nvPr/>
        </p:nvSpPr>
        <p:spPr>
          <a:xfrm>
            <a:off x="2359080" y="2121480"/>
            <a:ext cx="255600" cy="1825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9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92" name="Rounded Rectangle 12"/>
          <p:cNvSpPr/>
          <p:nvPr/>
        </p:nvSpPr>
        <p:spPr>
          <a:xfrm>
            <a:off x="2679120" y="1481400"/>
            <a:ext cx="2020320" cy="1462680"/>
          </a:xfrm>
          <a:prstGeom prst="roundRect">
            <a:avLst>
              <a:gd name="adj" fmla="val 7000"/>
            </a:avLst>
          </a:prstGeom>
          <a:solidFill>
            <a:srgbClr val="e4f4f8"/>
          </a:solidFill>
          <a:ln w="15875">
            <a:solidFill>
              <a:srgbClr val="009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93" name="Oval 13"/>
          <p:cNvSpPr/>
          <p:nvPr/>
        </p:nvSpPr>
        <p:spPr>
          <a:xfrm>
            <a:off x="2779920" y="1581840"/>
            <a:ext cx="301320" cy="301320"/>
          </a:xfrm>
          <a:prstGeom prst="ellipse">
            <a:avLst/>
          </a:prstGeom>
          <a:solidFill>
            <a:srgbClr val="009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94" name="TextBox 14"/>
          <p:cNvSpPr/>
          <p:nvPr/>
        </p:nvSpPr>
        <p:spPr>
          <a:xfrm>
            <a:off x="2779920" y="1656000"/>
            <a:ext cx="30132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ffffff"/>
                </a:solidFill>
                <a:latin typeface="Arial"/>
              </a:rPr>
              <a:t>2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95" name="TextBox 15"/>
          <p:cNvSpPr/>
          <p:nvPr/>
        </p:nvSpPr>
        <p:spPr>
          <a:xfrm>
            <a:off x="3154680" y="1652400"/>
            <a:ext cx="1435320" cy="31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90000"/>
              </a:lnSpc>
              <a:buNone/>
            </a:pPr>
            <a:r>
              <a:rPr b="1" lang="en-US" sz="1150" spc="-1" strike="noStrike">
                <a:solidFill>
                  <a:srgbClr val="15242b"/>
                </a:solidFill>
                <a:latin typeface="Arial"/>
              </a:rPr>
              <a:t>Enter the parameters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296" name="TextBox 16"/>
          <p:cNvSpPr/>
          <p:nvPr/>
        </p:nvSpPr>
        <p:spPr>
          <a:xfrm>
            <a:off x="2797920" y="2084760"/>
            <a:ext cx="1782720" cy="54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2000"/>
              </a:lnSpc>
              <a:buNone/>
            </a:pPr>
            <a:r>
              <a:rPr b="0" lang="en-US" sz="880" spc="-1" strike="noStrike">
                <a:solidFill>
                  <a:srgbClr val="5a6b73"/>
                </a:solidFill>
                <a:latin typeface="Arial"/>
              </a:rPr>
              <a:t>One prompt per parameter with a [0] default. EPS channel-mask bytes open a picker that names each bit’s subsystem from the MIB.</a:t>
            </a:r>
            <a:endParaRPr b="0" lang="en-IN" sz="880" spc="-1" strike="noStrike">
              <a:latin typeface="Arial"/>
            </a:endParaRPr>
          </a:p>
        </p:txBody>
      </p:sp>
      <p:sp>
        <p:nvSpPr>
          <p:cNvPr id="297" name="Right Arrow 17"/>
          <p:cNvSpPr/>
          <p:nvPr/>
        </p:nvSpPr>
        <p:spPr>
          <a:xfrm>
            <a:off x="4763880" y="2121480"/>
            <a:ext cx="255600" cy="1825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9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98" name="Rounded Rectangle 18"/>
          <p:cNvSpPr/>
          <p:nvPr/>
        </p:nvSpPr>
        <p:spPr>
          <a:xfrm>
            <a:off x="5083920" y="1481400"/>
            <a:ext cx="2020320" cy="1462680"/>
          </a:xfrm>
          <a:prstGeom prst="roundRect">
            <a:avLst>
              <a:gd name="adj" fmla="val 7000"/>
            </a:avLst>
          </a:prstGeom>
          <a:solidFill>
            <a:srgbClr val="e4f4f8"/>
          </a:solidFill>
          <a:ln w="15875">
            <a:solidFill>
              <a:srgbClr val="009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99" name="Oval 19"/>
          <p:cNvSpPr/>
          <p:nvPr/>
        </p:nvSpPr>
        <p:spPr>
          <a:xfrm>
            <a:off x="5184720" y="1581840"/>
            <a:ext cx="301320" cy="301320"/>
          </a:xfrm>
          <a:prstGeom prst="ellipse">
            <a:avLst/>
          </a:prstGeom>
          <a:solidFill>
            <a:srgbClr val="009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00" name="TextBox 20"/>
          <p:cNvSpPr/>
          <p:nvPr/>
        </p:nvSpPr>
        <p:spPr>
          <a:xfrm>
            <a:off x="5184720" y="1656000"/>
            <a:ext cx="30132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ffffff"/>
                </a:solidFill>
                <a:latin typeface="Arial"/>
              </a:rPr>
              <a:t>3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01" name="TextBox 21"/>
          <p:cNvSpPr/>
          <p:nvPr/>
        </p:nvSpPr>
        <p:spPr>
          <a:xfrm>
            <a:off x="5559480" y="1652400"/>
            <a:ext cx="1435320" cy="31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90000"/>
              </a:lnSpc>
              <a:buNone/>
            </a:pPr>
            <a:r>
              <a:rPr b="1" lang="en-US" sz="1150" spc="-1" strike="noStrike">
                <a:solidFill>
                  <a:srgbClr val="15242b"/>
                </a:solidFill>
                <a:latin typeface="Arial"/>
              </a:rPr>
              <a:t>Build the native frame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302" name="TextBox 22"/>
          <p:cNvSpPr/>
          <p:nvPr/>
        </p:nvSpPr>
        <p:spPr>
          <a:xfrm>
            <a:off x="5203080" y="2084760"/>
            <a:ext cx="1782720" cy="68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2000"/>
              </a:lnSpc>
              <a:buNone/>
            </a:pPr>
            <a:r>
              <a:rPr b="0" lang="en-US" sz="880" spc="-1" strike="noStrike">
                <a:solidFill>
                  <a:srgbClr val="5a6b73"/>
                </a:solidFill>
                <a:latin typeface="Arial"/>
              </a:rPr>
              <a:t>The exact bytes the subsystem expects: ADCS 1F 7F … 1F FF, EPS base64 telegram, GPS LOG command, XLINK product key + event.</a:t>
            </a:r>
            <a:endParaRPr b="0" lang="en-IN" sz="880" spc="-1" strike="noStrike">
              <a:latin typeface="Arial"/>
            </a:endParaRPr>
          </a:p>
        </p:txBody>
      </p:sp>
      <p:sp>
        <p:nvSpPr>
          <p:cNvPr id="303" name="Right Arrow 23"/>
          <p:cNvSpPr/>
          <p:nvPr/>
        </p:nvSpPr>
        <p:spPr>
          <a:xfrm>
            <a:off x="7169040" y="2121480"/>
            <a:ext cx="255600" cy="1825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9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04" name="Rounded Rectangle 24"/>
          <p:cNvSpPr/>
          <p:nvPr/>
        </p:nvSpPr>
        <p:spPr>
          <a:xfrm>
            <a:off x="7489080" y="1481400"/>
            <a:ext cx="2020320" cy="1462680"/>
          </a:xfrm>
          <a:prstGeom prst="roundRect">
            <a:avLst>
              <a:gd name="adj" fmla="val 7000"/>
            </a:avLst>
          </a:prstGeom>
          <a:solidFill>
            <a:srgbClr val="e4f4f8"/>
          </a:solidFill>
          <a:ln w="15875">
            <a:solidFill>
              <a:srgbClr val="009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05" name="Oval 25"/>
          <p:cNvSpPr/>
          <p:nvPr/>
        </p:nvSpPr>
        <p:spPr>
          <a:xfrm>
            <a:off x="7589520" y="1581840"/>
            <a:ext cx="301320" cy="301320"/>
          </a:xfrm>
          <a:prstGeom prst="ellipse">
            <a:avLst/>
          </a:prstGeom>
          <a:solidFill>
            <a:srgbClr val="009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06" name="TextBox 26"/>
          <p:cNvSpPr/>
          <p:nvPr/>
        </p:nvSpPr>
        <p:spPr>
          <a:xfrm>
            <a:off x="7589520" y="1656000"/>
            <a:ext cx="30132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ffffff"/>
                </a:solidFill>
                <a:latin typeface="Arial"/>
              </a:rPr>
              <a:t>4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07" name="TextBox 27"/>
          <p:cNvSpPr/>
          <p:nvPr/>
        </p:nvSpPr>
        <p:spPr>
          <a:xfrm>
            <a:off x="7964280" y="1652400"/>
            <a:ext cx="1435320" cy="31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90000"/>
              </a:lnSpc>
              <a:buNone/>
            </a:pPr>
            <a:r>
              <a:rPr b="1" lang="en-US" sz="1150" spc="-1" strike="noStrike">
                <a:solidFill>
                  <a:srgbClr val="15242b"/>
                </a:solidFill>
                <a:latin typeface="Arial"/>
              </a:rPr>
              <a:t>Wrap in a CCSDS TC frame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308" name="TextBox 28"/>
          <p:cNvSpPr/>
          <p:nvPr/>
        </p:nvSpPr>
        <p:spPr>
          <a:xfrm>
            <a:off x="7607880" y="2084760"/>
            <a:ext cx="1782720" cy="54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2000"/>
              </a:lnSpc>
              <a:buNone/>
            </a:pPr>
            <a:r>
              <a:rPr b="0" lang="en-US" sz="880" spc="-1" strike="noStrike">
                <a:solidFill>
                  <a:srgbClr val="5a6b73"/>
                </a:solidFill>
                <a:latin typeface="Arial"/>
              </a:rPr>
              <a:t>SOF 1ACF, spacecraft 625, APID, GS-ID, time code, then TC-ID / TC-Len / TC-Data and a CRC-16 over the transfer-frame header onward.</a:t>
            </a:r>
            <a:endParaRPr b="0" lang="en-IN" sz="880" spc="-1" strike="noStrike">
              <a:latin typeface="Arial"/>
            </a:endParaRPr>
          </a:p>
        </p:txBody>
      </p:sp>
      <p:sp>
        <p:nvSpPr>
          <p:cNvPr id="309" name="Right Arrow 29"/>
          <p:cNvSpPr/>
          <p:nvPr/>
        </p:nvSpPr>
        <p:spPr>
          <a:xfrm>
            <a:off x="9573840" y="2121480"/>
            <a:ext cx="255600" cy="1825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9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10" name="Rounded Rectangle 30"/>
          <p:cNvSpPr/>
          <p:nvPr/>
        </p:nvSpPr>
        <p:spPr>
          <a:xfrm>
            <a:off x="9893880" y="1481400"/>
            <a:ext cx="2020320" cy="1462680"/>
          </a:xfrm>
          <a:prstGeom prst="roundRect">
            <a:avLst>
              <a:gd name="adj" fmla="val 7000"/>
            </a:avLst>
          </a:prstGeom>
          <a:solidFill>
            <a:srgbClr val="e4f4f8"/>
          </a:solidFill>
          <a:ln w="15875">
            <a:solidFill>
              <a:srgbClr val="009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11" name="Oval 31"/>
          <p:cNvSpPr/>
          <p:nvPr/>
        </p:nvSpPr>
        <p:spPr>
          <a:xfrm>
            <a:off x="9994320" y="1581840"/>
            <a:ext cx="301320" cy="301320"/>
          </a:xfrm>
          <a:prstGeom prst="ellipse">
            <a:avLst/>
          </a:prstGeom>
          <a:solidFill>
            <a:srgbClr val="009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12" name="TextBox 32"/>
          <p:cNvSpPr/>
          <p:nvPr/>
        </p:nvSpPr>
        <p:spPr>
          <a:xfrm>
            <a:off x="9994320" y="1656000"/>
            <a:ext cx="30132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ffffff"/>
                </a:solidFill>
                <a:latin typeface="Arial"/>
              </a:rPr>
              <a:t>5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13" name="TextBox 33"/>
          <p:cNvSpPr/>
          <p:nvPr/>
        </p:nvSpPr>
        <p:spPr>
          <a:xfrm>
            <a:off x="10369440" y="1652400"/>
            <a:ext cx="1435320" cy="31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90000"/>
              </a:lnSpc>
              <a:buNone/>
            </a:pPr>
            <a:r>
              <a:rPr b="1" lang="en-US" sz="1150" spc="-1" strike="noStrike">
                <a:solidFill>
                  <a:srgbClr val="15242b"/>
                </a:solidFill>
                <a:latin typeface="Arial"/>
              </a:rPr>
              <a:t>Send on the flight link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314" name="TextBox 34"/>
          <p:cNvSpPr/>
          <p:nvPr/>
        </p:nvSpPr>
        <p:spPr>
          <a:xfrm>
            <a:off x="10012680" y="2084760"/>
            <a:ext cx="1782720" cy="54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2000"/>
              </a:lnSpc>
              <a:buNone/>
            </a:pPr>
            <a:r>
              <a:rPr b="0" lang="en-US" sz="880" spc="-1" strike="noStrike">
                <a:solidFill>
                  <a:srgbClr val="5a6b73"/>
                </a:solidFill>
                <a:latin typeface="Arial"/>
              </a:rPr>
              <a:t>Length-prefixed TCP write to the OBC routing port P. The session keeps one shared slot so replies stay correlated.</a:t>
            </a:r>
            <a:endParaRPr b="0" lang="en-IN" sz="880" spc="-1" strike="noStrike">
              <a:latin typeface="Arial"/>
            </a:endParaRPr>
          </a:p>
        </p:txBody>
      </p:sp>
      <p:sp>
        <p:nvSpPr>
          <p:cNvPr id="315" name="Rounded Rectangle 35"/>
          <p:cNvSpPr/>
          <p:nvPr/>
        </p:nvSpPr>
        <p:spPr>
          <a:xfrm>
            <a:off x="274320" y="3675960"/>
            <a:ext cx="2020320" cy="1462680"/>
          </a:xfrm>
          <a:prstGeom prst="roundRect">
            <a:avLst>
              <a:gd name="adj" fmla="val 7000"/>
            </a:avLst>
          </a:prstGeom>
          <a:solidFill>
            <a:srgbClr val="e9f4ee"/>
          </a:solidFill>
          <a:ln w="15875">
            <a:solidFill>
              <a:srgbClr val="3f8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16" name="Oval 36"/>
          <p:cNvSpPr/>
          <p:nvPr/>
        </p:nvSpPr>
        <p:spPr>
          <a:xfrm>
            <a:off x="374760" y="3776400"/>
            <a:ext cx="301320" cy="301320"/>
          </a:xfrm>
          <a:prstGeom prst="ellipse">
            <a:avLst/>
          </a:prstGeom>
          <a:solidFill>
            <a:srgbClr val="3f8f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17" name="TextBox 37"/>
          <p:cNvSpPr/>
          <p:nvPr/>
        </p:nvSpPr>
        <p:spPr>
          <a:xfrm>
            <a:off x="374760" y="3850560"/>
            <a:ext cx="30132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ffffff"/>
                </a:solidFill>
                <a:latin typeface="Arial"/>
              </a:rPr>
              <a:t>6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18" name="TextBox 38"/>
          <p:cNvSpPr/>
          <p:nvPr/>
        </p:nvSpPr>
        <p:spPr>
          <a:xfrm>
            <a:off x="749880" y="3925800"/>
            <a:ext cx="1435320" cy="1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90000"/>
              </a:lnSpc>
              <a:buNone/>
            </a:pPr>
            <a:r>
              <a:rPr b="1" lang="en-US" sz="1150" spc="-1" strike="noStrike">
                <a:solidFill>
                  <a:srgbClr val="15242b"/>
                </a:solidFill>
                <a:latin typeface="Arial"/>
              </a:rPr>
              <a:t>Verify and unwrap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319" name="TextBox 39"/>
          <p:cNvSpPr/>
          <p:nvPr/>
        </p:nvSpPr>
        <p:spPr>
          <a:xfrm>
            <a:off x="393120" y="4279320"/>
            <a:ext cx="1782720" cy="54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2000"/>
              </a:lnSpc>
              <a:buNone/>
            </a:pPr>
            <a:r>
              <a:rPr b="0" lang="en-US" sz="880" spc="-1" strike="noStrike">
                <a:solidFill>
                  <a:srgbClr val="5a6b73"/>
                </a:solidFill>
                <a:latin typeface="Arial"/>
              </a:rPr>
              <a:t>The bridge checks SOF and CRC-16 before anything else. Running the OBC with --validate prints a structured per-field report.</a:t>
            </a:r>
            <a:endParaRPr b="0" lang="en-IN" sz="880" spc="-1" strike="noStrike">
              <a:latin typeface="Arial"/>
            </a:endParaRPr>
          </a:p>
        </p:txBody>
      </p:sp>
      <p:sp>
        <p:nvSpPr>
          <p:cNvPr id="320" name="Right Arrow 40"/>
          <p:cNvSpPr/>
          <p:nvPr/>
        </p:nvSpPr>
        <p:spPr>
          <a:xfrm>
            <a:off x="2359080" y="4316040"/>
            <a:ext cx="255600" cy="1825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3f8f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21" name="Rounded Rectangle 41"/>
          <p:cNvSpPr/>
          <p:nvPr/>
        </p:nvSpPr>
        <p:spPr>
          <a:xfrm>
            <a:off x="2679120" y="3675960"/>
            <a:ext cx="2020320" cy="1462680"/>
          </a:xfrm>
          <a:prstGeom prst="roundRect">
            <a:avLst>
              <a:gd name="adj" fmla="val 7000"/>
            </a:avLst>
          </a:prstGeom>
          <a:solidFill>
            <a:srgbClr val="e9f4ee"/>
          </a:solidFill>
          <a:ln w="15875">
            <a:solidFill>
              <a:srgbClr val="3f8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22" name="Oval 42"/>
          <p:cNvSpPr/>
          <p:nvPr/>
        </p:nvSpPr>
        <p:spPr>
          <a:xfrm>
            <a:off x="2779920" y="3776400"/>
            <a:ext cx="301320" cy="301320"/>
          </a:xfrm>
          <a:prstGeom prst="ellipse">
            <a:avLst/>
          </a:prstGeom>
          <a:solidFill>
            <a:srgbClr val="3f8f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23" name="TextBox 43"/>
          <p:cNvSpPr/>
          <p:nvPr/>
        </p:nvSpPr>
        <p:spPr>
          <a:xfrm>
            <a:off x="2779920" y="3850560"/>
            <a:ext cx="30132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ffffff"/>
                </a:solidFill>
                <a:latin typeface="Arial"/>
              </a:rPr>
              <a:t>7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24" name="TextBox 44"/>
          <p:cNvSpPr/>
          <p:nvPr/>
        </p:nvSpPr>
        <p:spPr>
          <a:xfrm>
            <a:off x="3154680" y="3846960"/>
            <a:ext cx="1435320" cy="31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90000"/>
              </a:lnSpc>
              <a:buNone/>
            </a:pPr>
            <a:r>
              <a:rPr b="1" lang="en-US" sz="1150" spc="-1" strike="noStrike">
                <a:solidFill>
                  <a:srgbClr val="15242b"/>
                </a:solidFill>
                <a:latin typeface="Arial"/>
              </a:rPr>
              <a:t>Route to the subsystem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325" name="TextBox 45"/>
          <p:cNvSpPr/>
          <p:nvPr/>
        </p:nvSpPr>
        <p:spPr>
          <a:xfrm>
            <a:off x="2797920" y="4279320"/>
            <a:ext cx="1782720" cy="54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2000"/>
              </a:lnSpc>
              <a:buNone/>
            </a:pPr>
            <a:r>
              <a:rPr b="0" lang="en-US" sz="880" spc="-1" strike="noStrike">
                <a:solidFill>
                  <a:srgbClr val="5a6b73"/>
                </a:solidFill>
                <a:latin typeface="Arial"/>
              </a:rPr>
              <a:t>The inner APID selects the bus; the native frame is forwarded verbatim to the matching port in 10010–10060.</a:t>
            </a:r>
            <a:endParaRPr b="0" lang="en-IN" sz="880" spc="-1" strike="noStrike">
              <a:latin typeface="Arial"/>
            </a:endParaRPr>
          </a:p>
        </p:txBody>
      </p:sp>
      <p:sp>
        <p:nvSpPr>
          <p:cNvPr id="326" name="Right Arrow 46"/>
          <p:cNvSpPr/>
          <p:nvPr/>
        </p:nvSpPr>
        <p:spPr>
          <a:xfrm>
            <a:off x="4763880" y="4316040"/>
            <a:ext cx="255600" cy="1825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3f8f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27" name="Rounded Rectangle 47"/>
          <p:cNvSpPr/>
          <p:nvPr/>
        </p:nvSpPr>
        <p:spPr>
          <a:xfrm>
            <a:off x="5083920" y="3675960"/>
            <a:ext cx="2020320" cy="1462680"/>
          </a:xfrm>
          <a:prstGeom prst="roundRect">
            <a:avLst>
              <a:gd name="adj" fmla="val 7000"/>
            </a:avLst>
          </a:prstGeom>
          <a:solidFill>
            <a:srgbClr val="e9f4ee"/>
          </a:solidFill>
          <a:ln w="15875">
            <a:solidFill>
              <a:srgbClr val="3f8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28" name="Oval 48"/>
          <p:cNvSpPr/>
          <p:nvPr/>
        </p:nvSpPr>
        <p:spPr>
          <a:xfrm>
            <a:off x="5184720" y="3776400"/>
            <a:ext cx="301320" cy="301320"/>
          </a:xfrm>
          <a:prstGeom prst="ellipse">
            <a:avLst/>
          </a:prstGeom>
          <a:solidFill>
            <a:srgbClr val="3f8f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29" name="TextBox 49"/>
          <p:cNvSpPr/>
          <p:nvPr/>
        </p:nvSpPr>
        <p:spPr>
          <a:xfrm>
            <a:off x="5184720" y="3850560"/>
            <a:ext cx="30132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ffffff"/>
                </a:solidFill>
                <a:latin typeface="Arial"/>
              </a:rPr>
              <a:t>8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30" name="TextBox 50"/>
          <p:cNvSpPr/>
          <p:nvPr/>
        </p:nvSpPr>
        <p:spPr>
          <a:xfrm>
            <a:off x="5559480" y="3925800"/>
            <a:ext cx="1435320" cy="1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90000"/>
              </a:lnSpc>
              <a:buNone/>
            </a:pPr>
            <a:r>
              <a:rPr b="1" lang="en-US" sz="1150" spc="-1" strike="noStrike">
                <a:solidFill>
                  <a:srgbClr val="15242b"/>
                </a:solidFill>
                <a:latin typeface="Arial"/>
              </a:rPr>
              <a:t>Simulator executes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331" name="TextBox 51"/>
          <p:cNvSpPr/>
          <p:nvPr/>
        </p:nvSpPr>
        <p:spPr>
          <a:xfrm>
            <a:off x="5203080" y="4279320"/>
            <a:ext cx="1782720" cy="54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2000"/>
              </a:lnSpc>
              <a:buNone/>
            </a:pPr>
            <a:r>
              <a:rPr b="0" lang="en-US" sz="880" spc="-1" strike="noStrike">
                <a:solidFill>
                  <a:srgbClr val="5a6b73"/>
                </a:solidFill>
                <a:latin typeface="Arial"/>
              </a:rPr>
              <a:t>The engine responder answers from a live model — orbit, state of charge, attitude quaternion — not from a canned table.</a:t>
            </a:r>
            <a:endParaRPr b="0" lang="en-IN" sz="880" spc="-1" strike="noStrike">
              <a:latin typeface="Arial"/>
            </a:endParaRPr>
          </a:p>
        </p:txBody>
      </p:sp>
      <p:sp>
        <p:nvSpPr>
          <p:cNvPr id="332" name="Right Arrow 52"/>
          <p:cNvSpPr/>
          <p:nvPr/>
        </p:nvSpPr>
        <p:spPr>
          <a:xfrm>
            <a:off x="7169040" y="4316040"/>
            <a:ext cx="255600" cy="1825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3f8f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33" name="Rounded Rectangle 53"/>
          <p:cNvSpPr/>
          <p:nvPr/>
        </p:nvSpPr>
        <p:spPr>
          <a:xfrm>
            <a:off x="7489080" y="3675960"/>
            <a:ext cx="2020320" cy="1462680"/>
          </a:xfrm>
          <a:prstGeom prst="roundRect">
            <a:avLst>
              <a:gd name="adj" fmla="val 7000"/>
            </a:avLst>
          </a:prstGeom>
          <a:solidFill>
            <a:srgbClr val="e9f4ee"/>
          </a:solidFill>
          <a:ln w="15875">
            <a:solidFill>
              <a:srgbClr val="3f8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34" name="Oval 54"/>
          <p:cNvSpPr/>
          <p:nvPr/>
        </p:nvSpPr>
        <p:spPr>
          <a:xfrm>
            <a:off x="7589520" y="3776400"/>
            <a:ext cx="301320" cy="301320"/>
          </a:xfrm>
          <a:prstGeom prst="ellipse">
            <a:avLst/>
          </a:prstGeom>
          <a:solidFill>
            <a:srgbClr val="3f8f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35" name="TextBox 55"/>
          <p:cNvSpPr/>
          <p:nvPr/>
        </p:nvSpPr>
        <p:spPr>
          <a:xfrm>
            <a:off x="7589520" y="3850560"/>
            <a:ext cx="30132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ffffff"/>
                </a:solidFill>
                <a:latin typeface="Arial"/>
              </a:rPr>
              <a:t>9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36" name="TextBox 56"/>
          <p:cNvSpPr/>
          <p:nvPr/>
        </p:nvSpPr>
        <p:spPr>
          <a:xfrm>
            <a:off x="7964280" y="3846960"/>
            <a:ext cx="1435320" cy="31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90000"/>
              </a:lnSpc>
              <a:buNone/>
            </a:pPr>
            <a:r>
              <a:rPr b="1" lang="en-US" sz="1150" spc="-1" strike="noStrike">
                <a:solidFill>
                  <a:srgbClr val="15242b"/>
                </a:solidFill>
                <a:latin typeface="Arial"/>
              </a:rPr>
              <a:t>Wrap the reply as TM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337" name="TextBox 57"/>
          <p:cNvSpPr/>
          <p:nvPr/>
        </p:nvSpPr>
        <p:spPr>
          <a:xfrm>
            <a:off x="7607880" y="4279320"/>
            <a:ext cx="1782720" cy="54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2000"/>
              </a:lnSpc>
              <a:buNone/>
            </a:pPr>
            <a:r>
              <a:rPr b="0" lang="en-US" sz="880" spc="-1" strike="noStrike">
                <a:solidFill>
                  <a:srgbClr val="5a6b73"/>
                </a:solidFill>
                <a:latin typeface="Arial"/>
              </a:rPr>
              <a:t>A fixed 1432 B FCA1 frame: TM DATA carries the native reply and the GS TC cmd field echoes the originating command.</a:t>
            </a:r>
            <a:endParaRPr b="0" lang="en-IN" sz="880" spc="-1" strike="noStrike">
              <a:latin typeface="Arial"/>
            </a:endParaRPr>
          </a:p>
        </p:txBody>
      </p:sp>
      <p:sp>
        <p:nvSpPr>
          <p:cNvPr id="338" name="Right Arrow 58"/>
          <p:cNvSpPr/>
          <p:nvPr/>
        </p:nvSpPr>
        <p:spPr>
          <a:xfrm>
            <a:off x="9573840" y="4316040"/>
            <a:ext cx="255600" cy="1825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3f8f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39" name="Rounded Rectangle 59"/>
          <p:cNvSpPr/>
          <p:nvPr/>
        </p:nvSpPr>
        <p:spPr>
          <a:xfrm>
            <a:off x="9893880" y="3675960"/>
            <a:ext cx="2020320" cy="1462680"/>
          </a:xfrm>
          <a:prstGeom prst="roundRect">
            <a:avLst>
              <a:gd name="adj" fmla="val 7000"/>
            </a:avLst>
          </a:prstGeom>
          <a:solidFill>
            <a:srgbClr val="e9f4ee"/>
          </a:solidFill>
          <a:ln w="15875">
            <a:solidFill>
              <a:srgbClr val="3f8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40" name="Oval 60"/>
          <p:cNvSpPr/>
          <p:nvPr/>
        </p:nvSpPr>
        <p:spPr>
          <a:xfrm>
            <a:off x="9994320" y="3776400"/>
            <a:ext cx="301320" cy="301320"/>
          </a:xfrm>
          <a:prstGeom prst="ellipse">
            <a:avLst/>
          </a:prstGeom>
          <a:solidFill>
            <a:srgbClr val="3f8f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41" name="TextBox 61"/>
          <p:cNvSpPr/>
          <p:nvPr/>
        </p:nvSpPr>
        <p:spPr>
          <a:xfrm>
            <a:off x="9994320" y="3850560"/>
            <a:ext cx="30132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ffffff"/>
                </a:solidFill>
                <a:latin typeface="Arial"/>
              </a:rPr>
              <a:t>10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42" name="TextBox 62"/>
          <p:cNvSpPr/>
          <p:nvPr/>
        </p:nvSpPr>
        <p:spPr>
          <a:xfrm>
            <a:off x="10369440" y="3925800"/>
            <a:ext cx="1435320" cy="1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90000"/>
              </a:lnSpc>
              <a:buNone/>
            </a:pPr>
            <a:r>
              <a:rPr b="1" lang="en-US" sz="1150" spc="-1" strike="noStrike">
                <a:solidFill>
                  <a:srgbClr val="15242b"/>
                </a:solidFill>
                <a:latin typeface="Arial"/>
              </a:rPr>
              <a:t>Decode and display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343" name="TextBox 63"/>
          <p:cNvSpPr/>
          <p:nvPr/>
        </p:nvSpPr>
        <p:spPr>
          <a:xfrm>
            <a:off x="10012680" y="4279320"/>
            <a:ext cx="1782720" cy="54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2000"/>
              </a:lnSpc>
              <a:buNone/>
            </a:pPr>
            <a:r>
              <a:rPr b="0" lang="en-US" sz="880" spc="-1" strike="noStrike">
                <a:solidFill>
                  <a:srgbClr val="5a6b73"/>
                </a:solidFill>
                <a:latin typeface="Arial"/>
              </a:rPr>
              <a:t>xdos_gs resolves each field by MIB offset and size, applies enums and units, and colours the render by command kind.</a:t>
            </a:r>
            <a:endParaRPr b="0" lang="en-IN" sz="880" spc="-1" strike="noStrike">
              <a:latin typeface="Arial"/>
            </a:endParaRPr>
          </a:p>
        </p:txBody>
      </p:sp>
      <p:sp>
        <p:nvSpPr>
          <p:cNvPr id="344" name="Connector 64"/>
          <p:cNvSpPr/>
          <p:nvPr/>
        </p:nvSpPr>
        <p:spPr>
          <a:xfrm>
            <a:off x="10904040" y="2944080"/>
            <a:ext cx="360" cy="302040"/>
          </a:xfrm>
          <a:prstGeom prst="line">
            <a:avLst/>
          </a:prstGeom>
          <a:ln w="19050">
            <a:solidFill>
              <a:srgbClr val="8d9b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345" name="Connector 65"/>
          <p:cNvSpPr/>
          <p:nvPr/>
        </p:nvSpPr>
        <p:spPr>
          <a:xfrm flipH="1">
            <a:off x="1284480" y="3246120"/>
            <a:ext cx="9619560" cy="360"/>
          </a:xfrm>
          <a:prstGeom prst="line">
            <a:avLst/>
          </a:prstGeom>
          <a:ln w="19050">
            <a:solidFill>
              <a:srgbClr val="8d9b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346" name="Connector 66"/>
          <p:cNvSpPr/>
          <p:nvPr/>
        </p:nvSpPr>
        <p:spPr>
          <a:xfrm>
            <a:off x="1284480" y="3246120"/>
            <a:ext cx="360" cy="429480"/>
          </a:xfrm>
          <a:prstGeom prst="line">
            <a:avLst/>
          </a:prstGeom>
          <a:ln w="22225">
            <a:solidFill>
              <a:srgbClr val="3f8f62"/>
            </a:solidFill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347" name="TextBox 67"/>
          <p:cNvSpPr/>
          <p:nvPr/>
        </p:nvSpPr>
        <p:spPr>
          <a:xfrm>
            <a:off x="4206240" y="3086640"/>
            <a:ext cx="3840120" cy="11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90000"/>
              </a:lnSpc>
              <a:buNone/>
            </a:pPr>
            <a:r>
              <a:rPr b="0" lang="en-US" sz="850" spc="-1" strike="noStrike">
                <a:solidFill>
                  <a:srgbClr val="5a6b73"/>
                </a:solidFill>
                <a:latin typeface="Arial"/>
              </a:rPr>
              <a:t>the frame crosses the link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348" name="Rounded Rectangle 68"/>
          <p:cNvSpPr/>
          <p:nvPr/>
        </p:nvSpPr>
        <p:spPr>
          <a:xfrm>
            <a:off x="274320" y="5340240"/>
            <a:ext cx="11639880" cy="566640"/>
          </a:xfrm>
          <a:prstGeom prst="roundRect">
            <a:avLst>
              <a:gd name="adj" fmla="val 10000"/>
            </a:avLst>
          </a:prstGeom>
          <a:solidFill>
            <a:srgbClr val="f2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49" name="TextBox 69"/>
          <p:cNvSpPr/>
          <p:nvPr/>
        </p:nvSpPr>
        <p:spPr>
          <a:xfrm>
            <a:off x="475560" y="5468400"/>
            <a:ext cx="1124676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15242b"/>
                </a:solidFill>
                <a:latin typeface="Arial"/>
              </a:rPr>
              <a:t>Nothing on this path is hard-coded.  </a:t>
            </a:r>
            <a:r>
              <a:rPr b="0" lang="en-US" sz="1050" spc="-1" strike="noStrike">
                <a:solidFill>
                  <a:srgbClr val="5a6b73"/>
                </a:solidFill>
                <a:latin typeface="Arial"/>
              </a:rPr>
              <a:t>Command lists, field offsets, enums and units all come from mib/*.json; the frame layout comes from mib/ccsds_tc.json. A database revision changes behaviour without a rebuild — and the same profile drives both directions, so uplink and downlink cannot drift apart.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50" name="TextBox 70"/>
          <p:cNvSpPr/>
          <p:nvPr/>
        </p:nvSpPr>
        <p:spPr>
          <a:xfrm>
            <a:off x="225720" y="6035040"/>
            <a:ext cx="11521080" cy="12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i="1" lang="en-US" sz="850" spc="-1" strike="noStrike">
                <a:solidFill>
                  <a:srgbClr val="8d9ba1"/>
                </a:solidFill>
                <a:latin typeface="Arial"/>
              </a:rPr>
              <a:t>Steps 3 and 9 are the only places where subsystem-specific knowledge lives; steps 4–7 are subsystem-agnostic.</a:t>
            </a:r>
            <a:endParaRPr b="0" lang="en-IN" sz="8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PlaceHolder 1"/>
          <p:cNvSpPr>
            <a:spLocks noGrp="1"/>
          </p:cNvSpPr>
          <p:nvPr>
            <p:ph type="title"/>
          </p:nvPr>
        </p:nvSpPr>
        <p:spPr>
          <a:xfrm>
            <a:off x="225720" y="176760"/>
            <a:ext cx="11740320" cy="7318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500" spc="-1" strike="noStrike">
                <a:solidFill>
                  <a:srgbClr val="15242b"/>
                </a:solidFill>
                <a:latin typeface="Arial"/>
              </a:rPr>
              <a:t>CC</a:t>
            </a:r>
            <a:r>
              <a:rPr b="1" lang="en-US" sz="2500" spc="-1" strike="noStrike">
                <a:solidFill>
                  <a:srgbClr val="15242b"/>
                </a:solidFill>
                <a:latin typeface="Arial"/>
              </a:rPr>
              <a:t>SD</a:t>
            </a:r>
            <a:r>
              <a:rPr b="1" lang="en-US" sz="2500" spc="-1" strike="noStrike">
                <a:solidFill>
                  <a:srgbClr val="15242b"/>
                </a:solidFill>
                <a:latin typeface="Arial"/>
              </a:rPr>
              <a:t>S </a:t>
            </a:r>
            <a:r>
              <a:rPr b="1" lang="en-US" sz="2500" spc="-1" strike="noStrike">
                <a:solidFill>
                  <a:srgbClr val="15242b"/>
                </a:solidFill>
                <a:latin typeface="Arial"/>
              </a:rPr>
              <a:t>TC / </a:t>
            </a:r>
            <a:r>
              <a:rPr b="1" lang="en-US" sz="2500" spc="-1" strike="noStrike">
                <a:solidFill>
                  <a:srgbClr val="15242b"/>
                </a:solidFill>
                <a:latin typeface="Arial"/>
              </a:rPr>
              <a:t>TM </a:t>
            </a:r>
            <a:r>
              <a:rPr b="1" lang="en-US" sz="2500" spc="-1" strike="noStrike">
                <a:solidFill>
                  <a:srgbClr val="15242b"/>
                </a:solidFill>
                <a:latin typeface="Arial"/>
              </a:rPr>
              <a:t>fra</a:t>
            </a:r>
            <a:r>
              <a:rPr b="1" lang="en-US" sz="2500" spc="-1" strike="noStrike">
                <a:solidFill>
                  <a:srgbClr val="15242b"/>
                </a:solidFill>
                <a:latin typeface="Arial"/>
              </a:rPr>
              <a:t>me </a:t>
            </a:r>
            <a:r>
              <a:rPr b="1" lang="en-US" sz="2500" spc="-1" strike="noStrike">
                <a:solidFill>
                  <a:srgbClr val="15242b"/>
                </a:solidFill>
                <a:latin typeface="Arial"/>
              </a:rPr>
              <a:t>for</a:t>
            </a:r>
            <a:r>
              <a:rPr b="1" lang="en-US" sz="2500" spc="-1" strike="noStrike">
                <a:solidFill>
                  <a:srgbClr val="15242b"/>
                </a:solidFill>
                <a:latin typeface="Arial"/>
              </a:rPr>
              <a:t>mat</a:t>
            </a:r>
            <a:r>
              <a:rPr b="1" lang="en-US" sz="2500" spc="-1" strike="noStrike">
                <a:solidFill>
                  <a:srgbClr val="15242b"/>
                </a:solidFill>
                <a:latin typeface="Arial"/>
              </a:rPr>
              <a:t>s</a:t>
            </a:r>
            <a:endParaRPr b="0" lang="en-US" sz="25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2" name="TextBox 3"/>
          <p:cNvSpPr/>
          <p:nvPr/>
        </p:nvSpPr>
        <p:spPr>
          <a:xfrm>
            <a:off x="225720" y="873360"/>
            <a:ext cx="1174068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50" spc="-1" strike="noStrike">
                <a:solidFill>
                  <a:srgbClr val="006b83"/>
                </a:solidFill>
                <a:latin typeface="Arial"/>
              </a:rPr>
              <a:t>The Level-2 wire contract — both layouts are loaded from JSON profiles that share one spacecraft identity and APID map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53" name="TextBox 4"/>
          <p:cNvSpPr/>
          <p:nvPr/>
        </p:nvSpPr>
        <p:spPr>
          <a:xfrm>
            <a:off x="274320" y="1244520"/>
            <a:ext cx="11612520" cy="14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90000"/>
              </a:lnSpc>
              <a:buNone/>
            </a:pPr>
            <a:r>
              <a:rPr b="1" lang="en-US" sz="1050" spc="-1" strike="noStrike">
                <a:solidFill>
                  <a:srgbClr val="006b83"/>
                </a:solidFill>
                <a:latin typeface="Arial"/>
              </a:rPr>
              <a:t>TELECOMMAND FRAME  ·  uplink  ·  variable length  ·  SOF 0x1ACF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54" name="Rectangle 5"/>
          <p:cNvSpPr/>
          <p:nvPr/>
        </p:nvSpPr>
        <p:spPr>
          <a:xfrm>
            <a:off x="274320" y="1499760"/>
            <a:ext cx="914040" cy="731160"/>
          </a:xfrm>
          <a:prstGeom prst="rect">
            <a:avLst/>
          </a:prstGeom>
          <a:solidFill>
            <a:srgbClr val="e4f4f8"/>
          </a:solidFill>
          <a:ln w="13970">
            <a:solidFill>
              <a:srgbClr val="009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55" name="TextBox 6"/>
          <p:cNvSpPr/>
          <p:nvPr/>
        </p:nvSpPr>
        <p:spPr>
          <a:xfrm>
            <a:off x="320040" y="1722240"/>
            <a:ext cx="82260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90000"/>
              </a:lnSpc>
              <a:buNone/>
            </a:pPr>
            <a:r>
              <a:rPr b="1" lang="en-US" sz="950" spc="-1" strike="noStrike">
                <a:solidFill>
                  <a:srgbClr val="15242b"/>
                </a:solidFill>
                <a:latin typeface="Arial"/>
              </a:rPr>
              <a:t>SOF</a:t>
            </a:r>
            <a:endParaRPr b="0" lang="en-IN" sz="950" spc="-1" strike="noStrike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300"/>
              </a:spcBef>
              <a:buNone/>
            </a:pPr>
            <a:r>
              <a:rPr b="0" lang="en-US" sz="850" spc="-1" strike="noStrike">
                <a:solidFill>
                  <a:srgbClr val="006b83"/>
                </a:solidFill>
                <a:latin typeface="Consolas"/>
              </a:rPr>
              <a:t>2 B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356" name="Rectangle 7"/>
          <p:cNvSpPr/>
          <p:nvPr/>
        </p:nvSpPr>
        <p:spPr>
          <a:xfrm>
            <a:off x="1188720" y="1499760"/>
            <a:ext cx="1234080" cy="731160"/>
          </a:xfrm>
          <a:prstGeom prst="rect">
            <a:avLst/>
          </a:prstGeom>
          <a:solidFill>
            <a:srgbClr val="e4f4f8"/>
          </a:solidFill>
          <a:ln w="13970">
            <a:solidFill>
              <a:srgbClr val="009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57" name="TextBox 8"/>
          <p:cNvSpPr/>
          <p:nvPr/>
        </p:nvSpPr>
        <p:spPr>
          <a:xfrm>
            <a:off x="1234440" y="1722240"/>
            <a:ext cx="114264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90000"/>
              </a:lnSpc>
              <a:buNone/>
            </a:pPr>
            <a:r>
              <a:rPr b="1" lang="en-US" sz="950" spc="-1" strike="noStrike">
                <a:solidFill>
                  <a:srgbClr val="15242b"/>
                </a:solidFill>
                <a:latin typeface="Arial"/>
              </a:rPr>
              <a:t>TF header</a:t>
            </a:r>
            <a:endParaRPr b="0" lang="en-IN" sz="950" spc="-1" strike="noStrike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300"/>
              </a:spcBef>
              <a:buNone/>
            </a:pPr>
            <a:r>
              <a:rPr b="0" lang="en-US" sz="850" spc="-1" strike="noStrike">
                <a:solidFill>
                  <a:srgbClr val="006b83"/>
                </a:solidFill>
                <a:latin typeface="Consolas"/>
              </a:rPr>
              <a:t>5 B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358" name="Rectangle 9"/>
          <p:cNvSpPr/>
          <p:nvPr/>
        </p:nvSpPr>
        <p:spPr>
          <a:xfrm>
            <a:off x="2423160" y="1499760"/>
            <a:ext cx="1325520" cy="731160"/>
          </a:xfrm>
          <a:prstGeom prst="rect">
            <a:avLst/>
          </a:prstGeom>
          <a:solidFill>
            <a:srgbClr val="e4f4f8"/>
          </a:solidFill>
          <a:ln w="13970">
            <a:solidFill>
              <a:srgbClr val="009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59" name="TextBox 10"/>
          <p:cNvSpPr/>
          <p:nvPr/>
        </p:nvSpPr>
        <p:spPr>
          <a:xfrm>
            <a:off x="2468880" y="1722240"/>
            <a:ext cx="123408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90000"/>
              </a:lnSpc>
              <a:buNone/>
            </a:pPr>
            <a:r>
              <a:rPr b="1" lang="en-US" sz="950" spc="-1" strike="noStrike">
                <a:solidFill>
                  <a:srgbClr val="15242b"/>
                </a:solidFill>
                <a:latin typeface="Arial"/>
              </a:rPr>
              <a:t>Packet header</a:t>
            </a:r>
            <a:endParaRPr b="0" lang="en-IN" sz="950" spc="-1" strike="noStrike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300"/>
              </a:spcBef>
              <a:buNone/>
            </a:pPr>
            <a:r>
              <a:rPr b="0" lang="en-US" sz="850" spc="-1" strike="noStrike">
                <a:solidFill>
                  <a:srgbClr val="006b83"/>
                </a:solidFill>
                <a:latin typeface="Consolas"/>
              </a:rPr>
              <a:t>6 B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360" name="Rectangle 11"/>
          <p:cNvSpPr/>
          <p:nvPr/>
        </p:nvSpPr>
        <p:spPr>
          <a:xfrm>
            <a:off x="3749040" y="1499760"/>
            <a:ext cx="776880" cy="731160"/>
          </a:xfrm>
          <a:prstGeom prst="rect">
            <a:avLst/>
          </a:prstGeom>
          <a:solidFill>
            <a:srgbClr val="e4f4f8"/>
          </a:solidFill>
          <a:ln w="13970">
            <a:solidFill>
              <a:srgbClr val="009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61" name="TextBox 12"/>
          <p:cNvSpPr/>
          <p:nvPr/>
        </p:nvSpPr>
        <p:spPr>
          <a:xfrm>
            <a:off x="3794760" y="1722240"/>
            <a:ext cx="68544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90000"/>
              </a:lnSpc>
              <a:buNone/>
            </a:pPr>
            <a:r>
              <a:rPr b="1" lang="en-US" sz="950" spc="-1" strike="noStrike">
                <a:solidFill>
                  <a:srgbClr val="15242b"/>
                </a:solidFill>
                <a:latin typeface="Arial"/>
              </a:rPr>
              <a:t>GS-ID</a:t>
            </a:r>
            <a:endParaRPr b="0" lang="en-IN" sz="950" spc="-1" strike="noStrike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300"/>
              </a:spcBef>
              <a:buNone/>
            </a:pPr>
            <a:r>
              <a:rPr b="0" lang="en-US" sz="850" spc="-1" strike="noStrike">
                <a:solidFill>
                  <a:srgbClr val="006b83"/>
                </a:solidFill>
                <a:latin typeface="Consolas"/>
              </a:rPr>
              <a:t>1 B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362" name="Rectangle 13"/>
          <p:cNvSpPr/>
          <p:nvPr/>
        </p:nvSpPr>
        <p:spPr>
          <a:xfrm>
            <a:off x="4526280" y="1499760"/>
            <a:ext cx="1416960" cy="731160"/>
          </a:xfrm>
          <a:prstGeom prst="rect">
            <a:avLst/>
          </a:prstGeom>
          <a:solidFill>
            <a:srgbClr val="e4f4f8"/>
          </a:solidFill>
          <a:ln w="13970">
            <a:solidFill>
              <a:srgbClr val="009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63" name="TextBox 14"/>
          <p:cNvSpPr/>
          <p:nvPr/>
        </p:nvSpPr>
        <p:spPr>
          <a:xfrm>
            <a:off x="4572000" y="1722240"/>
            <a:ext cx="132552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90000"/>
              </a:lnSpc>
              <a:buNone/>
            </a:pPr>
            <a:r>
              <a:rPr b="1" lang="en-US" sz="950" spc="-1" strike="noStrike">
                <a:solidFill>
                  <a:srgbClr val="15242b"/>
                </a:solidFill>
                <a:latin typeface="Arial"/>
              </a:rPr>
              <a:t>Time code</a:t>
            </a:r>
            <a:endParaRPr b="0" lang="en-IN" sz="950" spc="-1" strike="noStrike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300"/>
              </a:spcBef>
              <a:buNone/>
            </a:pPr>
            <a:r>
              <a:rPr b="0" lang="en-US" sz="850" spc="-1" strike="noStrike">
                <a:solidFill>
                  <a:srgbClr val="006b83"/>
                </a:solidFill>
                <a:latin typeface="Consolas"/>
              </a:rPr>
              <a:t>8 B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364" name="Rectangle 15"/>
          <p:cNvSpPr/>
          <p:nvPr/>
        </p:nvSpPr>
        <p:spPr>
          <a:xfrm>
            <a:off x="5943600" y="1499760"/>
            <a:ext cx="914040" cy="731160"/>
          </a:xfrm>
          <a:prstGeom prst="rect">
            <a:avLst/>
          </a:prstGeom>
          <a:solidFill>
            <a:srgbClr val="e4f4f8"/>
          </a:solidFill>
          <a:ln w="13970">
            <a:solidFill>
              <a:srgbClr val="009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65" name="TextBox 16"/>
          <p:cNvSpPr/>
          <p:nvPr/>
        </p:nvSpPr>
        <p:spPr>
          <a:xfrm>
            <a:off x="5989320" y="1722240"/>
            <a:ext cx="82260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90000"/>
              </a:lnSpc>
              <a:buNone/>
            </a:pPr>
            <a:r>
              <a:rPr b="1" lang="en-US" sz="950" spc="-1" strike="noStrike">
                <a:solidFill>
                  <a:srgbClr val="15242b"/>
                </a:solidFill>
                <a:latin typeface="Arial"/>
              </a:rPr>
              <a:t>Anc. len</a:t>
            </a:r>
            <a:endParaRPr b="0" lang="en-IN" sz="950" spc="-1" strike="noStrike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300"/>
              </a:spcBef>
              <a:buNone/>
            </a:pPr>
            <a:r>
              <a:rPr b="0" lang="en-US" sz="850" spc="-1" strike="noStrike">
                <a:solidFill>
                  <a:srgbClr val="006b83"/>
                </a:solidFill>
                <a:latin typeface="Consolas"/>
              </a:rPr>
              <a:t>2 B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366" name="Rectangle 17"/>
          <p:cNvSpPr/>
          <p:nvPr/>
        </p:nvSpPr>
        <p:spPr>
          <a:xfrm>
            <a:off x="6858000" y="1499760"/>
            <a:ext cx="914040" cy="731160"/>
          </a:xfrm>
          <a:prstGeom prst="rect">
            <a:avLst/>
          </a:prstGeom>
          <a:solidFill>
            <a:srgbClr val="e4f4f8"/>
          </a:solidFill>
          <a:ln w="13970">
            <a:solidFill>
              <a:srgbClr val="009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67" name="TextBox 18"/>
          <p:cNvSpPr/>
          <p:nvPr/>
        </p:nvSpPr>
        <p:spPr>
          <a:xfrm>
            <a:off x="6903720" y="1722240"/>
            <a:ext cx="82260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90000"/>
              </a:lnSpc>
              <a:buNone/>
            </a:pPr>
            <a:r>
              <a:rPr b="1" lang="en-US" sz="950" spc="-1" strike="noStrike">
                <a:solidFill>
                  <a:srgbClr val="15242b"/>
                </a:solidFill>
                <a:latin typeface="Arial"/>
              </a:rPr>
              <a:t>TC-ID</a:t>
            </a:r>
            <a:endParaRPr b="0" lang="en-IN" sz="950" spc="-1" strike="noStrike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300"/>
              </a:spcBef>
              <a:buNone/>
            </a:pPr>
            <a:r>
              <a:rPr b="0" lang="en-US" sz="850" spc="-1" strike="noStrike">
                <a:solidFill>
                  <a:srgbClr val="006b83"/>
                </a:solidFill>
                <a:latin typeface="Consolas"/>
              </a:rPr>
              <a:t>2 B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368" name="Rectangle 19"/>
          <p:cNvSpPr/>
          <p:nvPr/>
        </p:nvSpPr>
        <p:spPr>
          <a:xfrm>
            <a:off x="7772400" y="1499760"/>
            <a:ext cx="914040" cy="731160"/>
          </a:xfrm>
          <a:prstGeom prst="rect">
            <a:avLst/>
          </a:prstGeom>
          <a:solidFill>
            <a:srgbClr val="e4f4f8"/>
          </a:solidFill>
          <a:ln w="13970">
            <a:solidFill>
              <a:srgbClr val="009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69" name="TextBox 20"/>
          <p:cNvSpPr/>
          <p:nvPr/>
        </p:nvSpPr>
        <p:spPr>
          <a:xfrm>
            <a:off x="7818120" y="1722240"/>
            <a:ext cx="82260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90000"/>
              </a:lnSpc>
              <a:buNone/>
            </a:pPr>
            <a:r>
              <a:rPr b="1" lang="en-US" sz="950" spc="-1" strike="noStrike">
                <a:solidFill>
                  <a:srgbClr val="15242b"/>
                </a:solidFill>
                <a:latin typeface="Arial"/>
              </a:rPr>
              <a:t>TC-Len</a:t>
            </a:r>
            <a:endParaRPr b="0" lang="en-IN" sz="950" spc="-1" strike="noStrike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300"/>
              </a:spcBef>
              <a:buNone/>
            </a:pPr>
            <a:r>
              <a:rPr b="0" lang="en-US" sz="850" spc="-1" strike="noStrike">
                <a:solidFill>
                  <a:srgbClr val="006b83"/>
                </a:solidFill>
                <a:latin typeface="Consolas"/>
              </a:rPr>
              <a:t>2 B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370" name="Rectangle 21"/>
          <p:cNvSpPr/>
          <p:nvPr/>
        </p:nvSpPr>
        <p:spPr>
          <a:xfrm>
            <a:off x="8686800" y="1499760"/>
            <a:ext cx="2313000" cy="731160"/>
          </a:xfrm>
          <a:prstGeom prst="rect">
            <a:avLst/>
          </a:prstGeom>
          <a:solidFill>
            <a:srgbClr val="c9e9f1"/>
          </a:solidFill>
          <a:ln w="13970">
            <a:solidFill>
              <a:srgbClr val="009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71" name="TextBox 22"/>
          <p:cNvSpPr/>
          <p:nvPr/>
        </p:nvSpPr>
        <p:spPr>
          <a:xfrm>
            <a:off x="8732520" y="1722240"/>
            <a:ext cx="222156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90000"/>
              </a:lnSpc>
              <a:buNone/>
            </a:pPr>
            <a:r>
              <a:rPr b="1" lang="en-US" sz="950" spc="-1" strike="noStrike">
                <a:solidFill>
                  <a:srgbClr val="15242b"/>
                </a:solidFill>
                <a:latin typeface="Arial"/>
              </a:rPr>
              <a:t>TC-Data</a:t>
            </a:r>
            <a:endParaRPr b="0" lang="en-IN" sz="950" spc="-1" strike="noStrike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300"/>
              </a:spcBef>
              <a:buNone/>
            </a:pPr>
            <a:r>
              <a:rPr b="0" lang="en-US" sz="850" spc="-1" strike="noStrike">
                <a:solidFill>
                  <a:srgbClr val="006b83"/>
                </a:solidFill>
                <a:latin typeface="Consolas"/>
              </a:rPr>
              <a:t>N B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372" name="Rectangle 23"/>
          <p:cNvSpPr/>
          <p:nvPr/>
        </p:nvSpPr>
        <p:spPr>
          <a:xfrm>
            <a:off x="11000160" y="1499760"/>
            <a:ext cx="914040" cy="731160"/>
          </a:xfrm>
          <a:prstGeom prst="rect">
            <a:avLst/>
          </a:prstGeom>
          <a:solidFill>
            <a:srgbClr val="e4f4f8"/>
          </a:solidFill>
          <a:ln w="13970">
            <a:solidFill>
              <a:srgbClr val="009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73" name="TextBox 24"/>
          <p:cNvSpPr/>
          <p:nvPr/>
        </p:nvSpPr>
        <p:spPr>
          <a:xfrm>
            <a:off x="11045880" y="1722240"/>
            <a:ext cx="82260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90000"/>
              </a:lnSpc>
              <a:buNone/>
            </a:pPr>
            <a:r>
              <a:rPr b="1" lang="en-US" sz="950" spc="-1" strike="noStrike">
                <a:solidFill>
                  <a:srgbClr val="15242b"/>
                </a:solidFill>
                <a:latin typeface="Arial"/>
              </a:rPr>
              <a:t>CRC-16</a:t>
            </a:r>
            <a:endParaRPr b="0" lang="en-IN" sz="950" spc="-1" strike="noStrike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300"/>
              </a:spcBef>
              <a:buNone/>
            </a:pPr>
            <a:r>
              <a:rPr b="0" lang="en-US" sz="850" spc="-1" strike="noStrike">
                <a:solidFill>
                  <a:srgbClr val="006b83"/>
                </a:solidFill>
                <a:latin typeface="Consolas"/>
              </a:rPr>
              <a:t>2 B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374" name="Connector 25"/>
          <p:cNvSpPr/>
          <p:nvPr/>
        </p:nvSpPr>
        <p:spPr>
          <a:xfrm flipV="1">
            <a:off x="1188720" y="2340720"/>
            <a:ext cx="360" cy="146160"/>
          </a:xfrm>
          <a:prstGeom prst="line">
            <a:avLst/>
          </a:prstGeom>
          <a:ln w="15875">
            <a:solidFill>
              <a:srgbClr val="e092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375" name="Connector 26"/>
          <p:cNvSpPr/>
          <p:nvPr/>
        </p:nvSpPr>
        <p:spPr>
          <a:xfrm flipV="1">
            <a:off x="11000160" y="2340720"/>
            <a:ext cx="360" cy="146160"/>
          </a:xfrm>
          <a:prstGeom prst="line">
            <a:avLst/>
          </a:prstGeom>
          <a:ln w="15875">
            <a:solidFill>
              <a:srgbClr val="e092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376" name="Connector 27"/>
          <p:cNvSpPr/>
          <p:nvPr/>
        </p:nvSpPr>
        <p:spPr>
          <a:xfrm>
            <a:off x="1188720" y="2340720"/>
            <a:ext cx="9811440" cy="360"/>
          </a:xfrm>
          <a:prstGeom prst="line">
            <a:avLst/>
          </a:prstGeom>
          <a:ln w="15875">
            <a:solidFill>
              <a:srgbClr val="e092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377" name="TextBox 28"/>
          <p:cNvSpPr/>
          <p:nvPr/>
        </p:nvSpPr>
        <p:spPr>
          <a:xfrm>
            <a:off x="1188720" y="2359080"/>
            <a:ext cx="9811080" cy="12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850" spc="-1" strike="noStrike">
                <a:solidFill>
                  <a:srgbClr val="e0921c"/>
                </a:solidFill>
                <a:latin typeface="Arial"/>
              </a:rPr>
              <a:t>CRC-16-CCITT coverage:  transfer-frame header  →  end of TC-Data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378" name="TextBox 29"/>
          <p:cNvSpPr/>
          <p:nvPr/>
        </p:nvSpPr>
        <p:spPr>
          <a:xfrm>
            <a:off x="274320" y="2688480"/>
            <a:ext cx="1163988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73880" indent="-173880">
              <a:lnSpc>
                <a:spcPct val="100000"/>
              </a:lnSpc>
              <a:spcBef>
                <a:spcPts val="499"/>
              </a:spcBef>
              <a:buClr>
                <a:srgbClr val="009ebe"/>
              </a:buClr>
              <a:buFont typeface="Arial"/>
              <a:buChar char="●"/>
            </a:pPr>
            <a:r>
              <a:rPr b="0" lang="en-US" sz="1050" spc="-1" strike="noStrike">
                <a:solidFill>
                  <a:srgbClr val="15242b"/>
                </a:solidFill>
                <a:latin typeface="Arial"/>
              </a:rPr>
              <a:t>Version, bypass and control-command flags, spacecraft ID 625 (0x271) and virtual-channel ID live in the transfer-frame header; the inner space-packet header carries the subsystem APID.</a:t>
            </a:r>
            <a:endParaRPr b="0" lang="en-IN" sz="1050" spc="-1" strike="noStrike">
              <a:latin typeface="Arial"/>
            </a:endParaRPr>
          </a:p>
          <a:p>
            <a:pPr marL="173880" indent="-173880">
              <a:lnSpc>
                <a:spcPct val="100000"/>
              </a:lnSpc>
              <a:spcBef>
                <a:spcPts val="499"/>
              </a:spcBef>
              <a:buClr>
                <a:srgbClr val="009ebe"/>
              </a:buClr>
              <a:buFont typeface="Arial"/>
              <a:buChar char="●"/>
            </a:pPr>
            <a:r>
              <a:rPr b="0" lang="en-US" sz="1050" spc="-1" strike="noStrike">
                <a:solidFill>
                  <a:srgbClr val="15242b"/>
                </a:solidFill>
                <a:latin typeface="Arial"/>
              </a:rPr>
              <a:t>Time code on the uplink is the 8-bit-centisecond CCS variant; TC-ID mirrors the subsystem command ID so a reply can be matched to its command without state.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79" name="TextBox 30"/>
          <p:cNvSpPr/>
          <p:nvPr/>
        </p:nvSpPr>
        <p:spPr>
          <a:xfrm>
            <a:off x="274320" y="3621960"/>
            <a:ext cx="11612520" cy="14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90000"/>
              </a:lnSpc>
              <a:buNone/>
            </a:pPr>
            <a:r>
              <a:rPr b="1" lang="en-US" sz="1050" spc="-1" strike="noStrike">
                <a:solidFill>
                  <a:srgbClr val="3f8f62"/>
                </a:solidFill>
                <a:latin typeface="Arial"/>
              </a:rPr>
              <a:t>TELEMETRY FRAME  ·  downlink  ·  fixed 1432 B  ·  SOF 0xFCA1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80" name="Rectangle 31"/>
          <p:cNvSpPr/>
          <p:nvPr/>
        </p:nvSpPr>
        <p:spPr>
          <a:xfrm>
            <a:off x="274320" y="3877200"/>
            <a:ext cx="868320" cy="731160"/>
          </a:xfrm>
          <a:prstGeom prst="rect">
            <a:avLst/>
          </a:prstGeom>
          <a:solidFill>
            <a:srgbClr val="e9f4ee"/>
          </a:solidFill>
          <a:ln w="13970">
            <a:solidFill>
              <a:srgbClr val="3f8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81" name="TextBox 32"/>
          <p:cNvSpPr/>
          <p:nvPr/>
        </p:nvSpPr>
        <p:spPr>
          <a:xfrm>
            <a:off x="320040" y="4099680"/>
            <a:ext cx="77688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90000"/>
              </a:lnSpc>
              <a:buNone/>
            </a:pPr>
            <a:r>
              <a:rPr b="1" lang="en-US" sz="950" spc="-1" strike="noStrike">
                <a:solidFill>
                  <a:srgbClr val="15242b"/>
                </a:solidFill>
                <a:latin typeface="Arial"/>
              </a:rPr>
              <a:t>SOF</a:t>
            </a:r>
            <a:endParaRPr b="0" lang="en-IN" sz="950" spc="-1" strike="noStrike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300"/>
              </a:spcBef>
              <a:buNone/>
            </a:pPr>
            <a:r>
              <a:rPr b="0" lang="en-US" sz="850" spc="-1" strike="noStrike">
                <a:solidFill>
                  <a:srgbClr val="006b83"/>
                </a:solidFill>
                <a:latin typeface="Consolas"/>
              </a:rPr>
              <a:t>2 B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382" name="Rectangle 33"/>
          <p:cNvSpPr/>
          <p:nvPr/>
        </p:nvSpPr>
        <p:spPr>
          <a:xfrm>
            <a:off x="1143000" y="3877200"/>
            <a:ext cx="1462680" cy="731160"/>
          </a:xfrm>
          <a:prstGeom prst="rect">
            <a:avLst/>
          </a:prstGeom>
          <a:solidFill>
            <a:srgbClr val="e9f4ee"/>
          </a:solidFill>
          <a:ln w="13970">
            <a:solidFill>
              <a:srgbClr val="3f8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83" name="TextBox 34"/>
          <p:cNvSpPr/>
          <p:nvPr/>
        </p:nvSpPr>
        <p:spPr>
          <a:xfrm>
            <a:off x="1188720" y="4099680"/>
            <a:ext cx="137124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90000"/>
              </a:lnSpc>
              <a:buNone/>
            </a:pPr>
            <a:r>
              <a:rPr b="1" lang="en-US" sz="950" spc="-1" strike="noStrike">
                <a:solidFill>
                  <a:srgbClr val="15242b"/>
                </a:solidFill>
                <a:latin typeface="Arial"/>
              </a:rPr>
              <a:t>TM primary hdr</a:t>
            </a:r>
            <a:endParaRPr b="0" lang="en-IN" sz="950" spc="-1" strike="noStrike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300"/>
              </a:spcBef>
              <a:buNone/>
            </a:pPr>
            <a:r>
              <a:rPr b="0" lang="en-US" sz="850" spc="-1" strike="noStrike">
                <a:solidFill>
                  <a:srgbClr val="006b83"/>
                </a:solidFill>
                <a:latin typeface="Consolas"/>
              </a:rPr>
              <a:t>6 B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384" name="Rectangle 35"/>
          <p:cNvSpPr/>
          <p:nvPr/>
        </p:nvSpPr>
        <p:spPr>
          <a:xfrm>
            <a:off x="2606040" y="3877200"/>
            <a:ext cx="1234080" cy="731160"/>
          </a:xfrm>
          <a:prstGeom prst="rect">
            <a:avLst/>
          </a:prstGeom>
          <a:solidFill>
            <a:srgbClr val="e9f4ee"/>
          </a:solidFill>
          <a:ln w="13970">
            <a:solidFill>
              <a:srgbClr val="3f8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85" name="TextBox 36"/>
          <p:cNvSpPr/>
          <p:nvPr/>
        </p:nvSpPr>
        <p:spPr>
          <a:xfrm>
            <a:off x="2651760" y="4099680"/>
            <a:ext cx="114264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90000"/>
              </a:lnSpc>
              <a:buNone/>
            </a:pPr>
            <a:r>
              <a:rPr b="1" lang="en-US" sz="950" spc="-1" strike="noStrike">
                <a:solidFill>
                  <a:srgbClr val="15242b"/>
                </a:solidFill>
                <a:latin typeface="Arial"/>
              </a:rPr>
              <a:t>Data field status</a:t>
            </a:r>
            <a:endParaRPr b="0" lang="en-IN" sz="950" spc="-1" strike="noStrike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300"/>
              </a:spcBef>
              <a:buNone/>
            </a:pPr>
            <a:r>
              <a:rPr b="0" lang="en-US" sz="850" spc="-1" strike="noStrike">
                <a:solidFill>
                  <a:srgbClr val="006b83"/>
                </a:solidFill>
                <a:latin typeface="Consolas"/>
              </a:rPr>
              <a:t>2 B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386" name="Rectangle 37"/>
          <p:cNvSpPr/>
          <p:nvPr/>
        </p:nvSpPr>
        <p:spPr>
          <a:xfrm>
            <a:off x="3840480" y="3877200"/>
            <a:ext cx="1325520" cy="731160"/>
          </a:xfrm>
          <a:prstGeom prst="rect">
            <a:avLst/>
          </a:prstGeom>
          <a:solidFill>
            <a:srgbClr val="e9f4ee"/>
          </a:solidFill>
          <a:ln w="13970">
            <a:solidFill>
              <a:srgbClr val="3f8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87" name="TextBox 38"/>
          <p:cNvSpPr/>
          <p:nvPr/>
        </p:nvSpPr>
        <p:spPr>
          <a:xfrm>
            <a:off x="3886200" y="4099680"/>
            <a:ext cx="123408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90000"/>
              </a:lnSpc>
              <a:buNone/>
            </a:pPr>
            <a:r>
              <a:rPr b="1" lang="en-US" sz="950" spc="-1" strike="noStrike">
                <a:solidFill>
                  <a:srgbClr val="15242b"/>
                </a:solidFill>
                <a:latin typeface="Arial"/>
              </a:rPr>
              <a:t>SPP primary</a:t>
            </a:r>
            <a:endParaRPr b="0" lang="en-IN" sz="950" spc="-1" strike="noStrike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300"/>
              </a:spcBef>
              <a:buNone/>
            </a:pPr>
            <a:r>
              <a:rPr b="0" lang="en-US" sz="850" spc="-1" strike="noStrike">
                <a:solidFill>
                  <a:srgbClr val="006b83"/>
                </a:solidFill>
                <a:latin typeface="Consolas"/>
              </a:rPr>
              <a:t>6 B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388" name="Rectangle 39"/>
          <p:cNvSpPr/>
          <p:nvPr/>
        </p:nvSpPr>
        <p:spPr>
          <a:xfrm>
            <a:off x="5166360" y="3877200"/>
            <a:ext cx="1416960" cy="731160"/>
          </a:xfrm>
          <a:prstGeom prst="rect">
            <a:avLst/>
          </a:prstGeom>
          <a:solidFill>
            <a:srgbClr val="e9f4ee"/>
          </a:solidFill>
          <a:ln w="13970">
            <a:solidFill>
              <a:srgbClr val="3f8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89" name="TextBox 40"/>
          <p:cNvSpPr/>
          <p:nvPr/>
        </p:nvSpPr>
        <p:spPr>
          <a:xfrm>
            <a:off x="5212080" y="4099680"/>
            <a:ext cx="132552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90000"/>
              </a:lnSpc>
              <a:buNone/>
            </a:pPr>
            <a:r>
              <a:rPr b="1" lang="en-US" sz="950" spc="-1" strike="noStrike">
                <a:solidFill>
                  <a:srgbClr val="15242b"/>
                </a:solidFill>
                <a:latin typeface="Arial"/>
              </a:rPr>
              <a:t>SPP secondary</a:t>
            </a:r>
            <a:endParaRPr b="0" lang="en-IN" sz="950" spc="-1" strike="noStrike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300"/>
              </a:spcBef>
              <a:buNone/>
            </a:pPr>
            <a:r>
              <a:rPr b="0" lang="en-US" sz="850" spc="-1" strike="noStrike">
                <a:solidFill>
                  <a:srgbClr val="006b83"/>
                </a:solidFill>
                <a:latin typeface="Consolas"/>
              </a:rPr>
              <a:t>11 B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390" name="Rectangle 41"/>
          <p:cNvSpPr/>
          <p:nvPr/>
        </p:nvSpPr>
        <p:spPr>
          <a:xfrm>
            <a:off x="6583680" y="3877200"/>
            <a:ext cx="3245760" cy="731160"/>
          </a:xfrm>
          <a:prstGeom prst="rect">
            <a:avLst/>
          </a:prstGeom>
          <a:solidFill>
            <a:srgbClr val="d3ecdd"/>
          </a:solidFill>
          <a:ln w="13970">
            <a:solidFill>
              <a:srgbClr val="3f8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91" name="TextBox 42"/>
          <p:cNvSpPr/>
          <p:nvPr/>
        </p:nvSpPr>
        <p:spPr>
          <a:xfrm>
            <a:off x="6629400" y="4099680"/>
            <a:ext cx="315432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90000"/>
              </a:lnSpc>
              <a:buNone/>
            </a:pPr>
            <a:r>
              <a:rPr b="1" lang="en-US" sz="950" spc="-1" strike="noStrike">
                <a:solidFill>
                  <a:srgbClr val="15242b"/>
                </a:solidFill>
                <a:latin typeface="Arial"/>
              </a:rPr>
              <a:t>TM DATA</a:t>
            </a:r>
            <a:endParaRPr b="0" lang="en-IN" sz="950" spc="-1" strike="noStrike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300"/>
              </a:spcBef>
              <a:buNone/>
            </a:pPr>
            <a:r>
              <a:rPr b="0" lang="en-US" sz="850" spc="-1" strike="noStrike">
                <a:solidFill>
                  <a:srgbClr val="006b83"/>
                </a:solidFill>
                <a:latin typeface="Consolas"/>
              </a:rPr>
              <a:t>1280 B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392" name="Rectangle 43"/>
          <p:cNvSpPr/>
          <p:nvPr/>
        </p:nvSpPr>
        <p:spPr>
          <a:xfrm>
            <a:off x="9829800" y="3877200"/>
            <a:ext cx="1234080" cy="731160"/>
          </a:xfrm>
          <a:prstGeom prst="rect">
            <a:avLst/>
          </a:prstGeom>
          <a:solidFill>
            <a:srgbClr val="e9f4ee"/>
          </a:solidFill>
          <a:ln w="13970">
            <a:solidFill>
              <a:srgbClr val="3f8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93" name="TextBox 44"/>
          <p:cNvSpPr/>
          <p:nvPr/>
        </p:nvSpPr>
        <p:spPr>
          <a:xfrm>
            <a:off x="9875520" y="4099680"/>
            <a:ext cx="114264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90000"/>
              </a:lnSpc>
              <a:buNone/>
            </a:pPr>
            <a:r>
              <a:rPr b="1" lang="en-US" sz="950" spc="-1" strike="noStrike">
                <a:solidFill>
                  <a:srgbClr val="15242b"/>
                </a:solidFill>
                <a:latin typeface="Arial"/>
              </a:rPr>
              <a:t>GS TC cmd echo</a:t>
            </a:r>
            <a:endParaRPr b="0" lang="en-IN" sz="950" spc="-1" strike="noStrike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300"/>
              </a:spcBef>
              <a:buNone/>
            </a:pPr>
            <a:r>
              <a:rPr b="0" lang="en-US" sz="850" spc="-1" strike="noStrike">
                <a:solidFill>
                  <a:srgbClr val="006b83"/>
                </a:solidFill>
                <a:latin typeface="Consolas"/>
              </a:rPr>
              <a:t>123 B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394" name="Rectangle 45"/>
          <p:cNvSpPr/>
          <p:nvPr/>
        </p:nvSpPr>
        <p:spPr>
          <a:xfrm>
            <a:off x="11064240" y="3877200"/>
            <a:ext cx="849960" cy="731160"/>
          </a:xfrm>
          <a:prstGeom prst="rect">
            <a:avLst/>
          </a:prstGeom>
          <a:solidFill>
            <a:srgbClr val="e9f4ee"/>
          </a:solidFill>
          <a:ln w="13970">
            <a:solidFill>
              <a:srgbClr val="3f8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95" name="TextBox 46"/>
          <p:cNvSpPr/>
          <p:nvPr/>
        </p:nvSpPr>
        <p:spPr>
          <a:xfrm>
            <a:off x="11109960" y="4099680"/>
            <a:ext cx="75852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90000"/>
              </a:lnSpc>
              <a:buNone/>
            </a:pPr>
            <a:r>
              <a:rPr b="1" lang="en-US" sz="950" spc="-1" strike="noStrike">
                <a:solidFill>
                  <a:srgbClr val="15242b"/>
                </a:solidFill>
                <a:latin typeface="Arial"/>
              </a:rPr>
              <a:t>FECF</a:t>
            </a:r>
            <a:endParaRPr b="0" lang="en-IN" sz="950" spc="-1" strike="noStrike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300"/>
              </a:spcBef>
              <a:buNone/>
            </a:pPr>
            <a:r>
              <a:rPr b="0" lang="en-US" sz="850" spc="-1" strike="noStrike">
                <a:solidFill>
                  <a:srgbClr val="006b83"/>
                </a:solidFill>
                <a:latin typeface="Consolas"/>
              </a:rPr>
              <a:t>2 B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396" name="Connector 47"/>
          <p:cNvSpPr/>
          <p:nvPr/>
        </p:nvSpPr>
        <p:spPr>
          <a:xfrm flipV="1">
            <a:off x="1143000" y="4718160"/>
            <a:ext cx="360" cy="146160"/>
          </a:xfrm>
          <a:prstGeom prst="line">
            <a:avLst/>
          </a:prstGeom>
          <a:ln w="15875">
            <a:solidFill>
              <a:srgbClr val="3f8f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397" name="Connector 48"/>
          <p:cNvSpPr/>
          <p:nvPr/>
        </p:nvSpPr>
        <p:spPr>
          <a:xfrm flipV="1">
            <a:off x="11064240" y="4718160"/>
            <a:ext cx="360" cy="146160"/>
          </a:xfrm>
          <a:prstGeom prst="line">
            <a:avLst/>
          </a:prstGeom>
          <a:ln w="15875">
            <a:solidFill>
              <a:srgbClr val="3f8f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398" name="Connector 49"/>
          <p:cNvSpPr/>
          <p:nvPr/>
        </p:nvSpPr>
        <p:spPr>
          <a:xfrm>
            <a:off x="1143000" y="4718160"/>
            <a:ext cx="9921240" cy="360"/>
          </a:xfrm>
          <a:prstGeom prst="line">
            <a:avLst/>
          </a:prstGeom>
          <a:ln w="15875">
            <a:solidFill>
              <a:srgbClr val="3f8f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399" name="TextBox 50"/>
          <p:cNvSpPr/>
          <p:nvPr/>
        </p:nvSpPr>
        <p:spPr>
          <a:xfrm>
            <a:off x="1143000" y="4736520"/>
            <a:ext cx="9920880" cy="12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850" spc="-1" strike="noStrike">
                <a:solidFill>
                  <a:srgbClr val="3f8f62"/>
                </a:solidFill>
                <a:latin typeface="Arial"/>
              </a:rPr>
              <a:t>CRC-16-CCITT coverage:  TM primary header  →  end of GS TC cmd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400" name="TextBox 51"/>
          <p:cNvSpPr/>
          <p:nvPr/>
        </p:nvSpPr>
        <p:spPr>
          <a:xfrm>
            <a:off x="274320" y="5065920"/>
            <a:ext cx="11639880" cy="54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73880" indent="-173880">
              <a:lnSpc>
                <a:spcPct val="100000"/>
              </a:lnSpc>
              <a:spcBef>
                <a:spcPts val="499"/>
              </a:spcBef>
              <a:buClr>
                <a:srgbClr val="3f8f62"/>
              </a:buClr>
              <a:buFont typeface="Arial"/>
              <a:buChar char="●"/>
            </a:pPr>
            <a:r>
              <a:rPr b="0" lang="en-US" sz="1050" spc="-1" strike="noStrike">
                <a:solidFill>
                  <a:srgbClr val="15242b"/>
                </a:solidFill>
                <a:latin typeface="Arial"/>
              </a:rPr>
              <a:t>TM DATA is exactly one 1280-byte rate-group subframe. The master-frame and sub-frame counters in the primary header give the ground its slot: SFC mod 16 is the subframe index, SFC div 16 the master-frame id.</a:t>
            </a:r>
            <a:endParaRPr b="0" lang="en-IN" sz="1050" spc="-1" strike="noStrike">
              <a:latin typeface="Arial"/>
            </a:endParaRPr>
          </a:p>
          <a:p>
            <a:pPr marL="173880" indent="-173880">
              <a:lnSpc>
                <a:spcPct val="100000"/>
              </a:lnSpc>
              <a:spcBef>
                <a:spcPts val="499"/>
              </a:spcBef>
              <a:buClr>
                <a:srgbClr val="3f8f62"/>
              </a:buClr>
              <a:buFont typeface="Arial"/>
              <a:buChar char="●"/>
            </a:pPr>
            <a:r>
              <a:rPr b="0" lang="en-US" sz="1050" spc="-1" strike="noStrike">
                <a:solidFill>
                  <a:srgbClr val="15242b"/>
                </a:solidFill>
                <a:latin typeface="Arial"/>
              </a:rPr>
              <a:t>Time code on the downlink is the 16-bit-millisecond variant — the one deliberate difference between the two secondary headers; identity and APID map are read from the same profile as the uplink.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401" name="TextBox 52"/>
          <p:cNvSpPr/>
          <p:nvPr/>
        </p:nvSpPr>
        <p:spPr>
          <a:xfrm>
            <a:off x="225720" y="6053400"/>
            <a:ext cx="11521080" cy="12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i="1" lang="en-US" sz="850" spc="-1" strike="noStrike">
                <a:solidFill>
                  <a:srgbClr val="8d9ba1"/>
                </a:solidFill>
                <a:latin typeface="Arial"/>
              </a:rPr>
              <a:t>Layouts read from mib/ccsds_tc.json and mib/ccsds_tm.json; the TM profile references the TC profile so the two can never disagree on identity.</a:t>
            </a:r>
            <a:endParaRPr b="0" lang="en-IN" sz="8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PlaceHolder 1"/>
          <p:cNvSpPr>
            <a:spLocks noGrp="1"/>
          </p:cNvSpPr>
          <p:nvPr>
            <p:ph type="title"/>
          </p:nvPr>
        </p:nvSpPr>
        <p:spPr>
          <a:xfrm>
            <a:off x="225720" y="176760"/>
            <a:ext cx="11740320" cy="7318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500" spc="-1" strike="noStrike">
                <a:solidFill>
                  <a:srgbClr val="15242b"/>
                </a:solidFill>
                <a:latin typeface="Arial"/>
              </a:rPr>
              <a:t>Bin</a:t>
            </a:r>
            <a:r>
              <a:rPr b="1" lang="en-US" sz="2500" spc="-1" strike="noStrike">
                <a:solidFill>
                  <a:srgbClr val="15242b"/>
                </a:solidFill>
                <a:latin typeface="Arial"/>
              </a:rPr>
              <a:t>ary </a:t>
            </a:r>
            <a:r>
              <a:rPr b="1" lang="en-US" sz="2500" spc="-1" strike="noStrike">
                <a:solidFill>
                  <a:srgbClr val="15242b"/>
                </a:solidFill>
                <a:latin typeface="Arial"/>
              </a:rPr>
              <a:t>rate</a:t>
            </a:r>
            <a:r>
              <a:rPr b="1" lang="en-US" sz="2500" spc="-1" strike="noStrike">
                <a:solidFill>
                  <a:srgbClr val="15242b"/>
                </a:solidFill>
                <a:latin typeface="Arial"/>
              </a:rPr>
              <a:t>-</a:t>
            </a:r>
            <a:r>
              <a:rPr b="1" lang="en-US" sz="2500" spc="-1" strike="noStrike">
                <a:solidFill>
                  <a:srgbClr val="15242b"/>
                </a:solidFill>
                <a:latin typeface="Arial"/>
              </a:rPr>
              <a:t>gro</a:t>
            </a:r>
            <a:r>
              <a:rPr b="1" lang="en-US" sz="2500" spc="-1" strike="noStrike">
                <a:solidFill>
                  <a:srgbClr val="15242b"/>
                </a:solidFill>
                <a:latin typeface="Arial"/>
              </a:rPr>
              <a:t>up </a:t>
            </a:r>
            <a:r>
              <a:rPr b="1" lang="en-US" sz="2500" spc="-1" strike="noStrike">
                <a:solidFill>
                  <a:srgbClr val="15242b"/>
                </a:solidFill>
                <a:latin typeface="Arial"/>
              </a:rPr>
              <a:t>LUT </a:t>
            </a:r>
            <a:r>
              <a:rPr b="1" lang="en-US" sz="2500" spc="-1" strike="noStrike">
                <a:solidFill>
                  <a:srgbClr val="15242b"/>
                </a:solidFill>
                <a:latin typeface="Arial"/>
              </a:rPr>
              <a:t>— </a:t>
            </a:r>
            <a:r>
              <a:rPr b="1" lang="en-US" sz="2500" spc="-1" strike="noStrike">
                <a:solidFill>
                  <a:srgbClr val="15242b"/>
                </a:solidFill>
                <a:latin typeface="Arial"/>
              </a:rPr>
              <a:t>why </a:t>
            </a:r>
            <a:r>
              <a:rPr b="1" lang="en-US" sz="2500" spc="-1" strike="noStrike">
                <a:solidFill>
                  <a:srgbClr val="15242b"/>
                </a:solidFill>
                <a:latin typeface="Arial"/>
              </a:rPr>
              <a:t>it </a:t>
            </a:r>
            <a:r>
              <a:rPr b="1" lang="en-US" sz="2500" spc="-1" strike="noStrike">
                <a:solidFill>
                  <a:srgbClr val="15242b"/>
                </a:solidFill>
                <a:latin typeface="Arial"/>
              </a:rPr>
              <a:t>exis</a:t>
            </a:r>
            <a:r>
              <a:rPr b="1" lang="en-US" sz="2500" spc="-1" strike="noStrike">
                <a:solidFill>
                  <a:srgbClr val="15242b"/>
                </a:solidFill>
                <a:latin typeface="Arial"/>
              </a:rPr>
              <a:t>ts</a:t>
            </a:r>
            <a:endParaRPr b="0" lang="en-US" sz="25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3" name="TextBox 3"/>
          <p:cNvSpPr/>
          <p:nvPr/>
        </p:nvSpPr>
        <p:spPr>
          <a:xfrm>
            <a:off x="225720" y="873360"/>
            <a:ext cx="1174068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50" spc="-1" strike="noStrike">
                <a:solidFill>
                  <a:srgbClr val="006b83"/>
                </a:solidFill>
                <a:latin typeface="Arial"/>
              </a:rPr>
              <a:t>The OBC has no subsystem database; it replays opaque command bytes and copies byte ranges, and that is the whole design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404" name="Rounded Rectangle 4"/>
          <p:cNvSpPr/>
          <p:nvPr/>
        </p:nvSpPr>
        <p:spPr>
          <a:xfrm>
            <a:off x="274320" y="1298520"/>
            <a:ext cx="5668920" cy="2194200"/>
          </a:xfrm>
          <a:prstGeom prst="roundRect">
            <a:avLst>
              <a:gd name="adj" fmla="val 4500"/>
            </a:avLst>
          </a:prstGeom>
          <a:solidFill>
            <a:srgbClr val="fcf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05" name="Rectangle 5"/>
          <p:cNvSpPr/>
          <p:nvPr/>
        </p:nvSpPr>
        <p:spPr>
          <a:xfrm>
            <a:off x="274320" y="1298520"/>
            <a:ext cx="54360" cy="2194200"/>
          </a:xfrm>
          <a:prstGeom prst="rect">
            <a:avLst/>
          </a:prstGeom>
          <a:solidFill>
            <a:srgbClr val="c05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06" name="TextBox 6"/>
          <p:cNvSpPr/>
          <p:nvPr/>
        </p:nvSpPr>
        <p:spPr>
          <a:xfrm>
            <a:off x="548640" y="1463040"/>
            <a:ext cx="521172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c05045"/>
                </a:solidFill>
                <a:latin typeface="Arial"/>
              </a:rPr>
              <a:t>THE PROBLEM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407" name="TextBox 7"/>
          <p:cNvSpPr/>
          <p:nvPr/>
        </p:nvSpPr>
        <p:spPr>
          <a:xfrm>
            <a:off x="548640" y="1792080"/>
            <a:ext cx="5230080" cy="13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73880" indent="-173880">
              <a:lnSpc>
                <a:spcPct val="100000"/>
              </a:lnSpc>
              <a:spcBef>
                <a:spcPts val="601"/>
              </a:spcBef>
              <a:buClr>
                <a:srgbClr val="c05045"/>
              </a:buClr>
              <a:buFont typeface="Arial"/>
              <a:buChar char="●"/>
            </a:pPr>
            <a:r>
              <a:rPr b="0" lang="en-US" sz="1100" spc="-1" strike="noStrike">
                <a:solidFill>
                  <a:srgbClr val="15242b"/>
                </a:solidFill>
                <a:latin typeface="Arial"/>
              </a:rPr>
              <a:t>Housekeeping telemetry must be polled continuously and downlinked on a fixed cadence, but the flight computer cannot carry a parser for six subsystem protocols.</a:t>
            </a:r>
            <a:endParaRPr b="0" lang="en-IN" sz="1100" spc="-1" strike="noStrike">
              <a:latin typeface="Arial"/>
            </a:endParaRPr>
          </a:p>
          <a:p>
            <a:pPr marL="173880" indent="-173880">
              <a:lnSpc>
                <a:spcPct val="100000"/>
              </a:lnSpc>
              <a:spcBef>
                <a:spcPts val="601"/>
              </a:spcBef>
              <a:buClr>
                <a:srgbClr val="c05045"/>
              </a:buClr>
              <a:buFont typeface="Arial"/>
              <a:buChar char="●"/>
            </a:pPr>
            <a:r>
              <a:rPr b="0" lang="en-US" sz="1100" spc="-1" strike="noStrike">
                <a:solidFill>
                  <a:srgbClr val="15242b"/>
                </a:solidFill>
                <a:latin typeface="Arial"/>
              </a:rPr>
              <a:t>Putting names, IDs and field maps on board would mean re-flashing the OBC every time a subsystem database is revised.</a:t>
            </a:r>
            <a:endParaRPr b="0" lang="en-IN" sz="1100" spc="-1" strike="noStrike">
              <a:latin typeface="Arial"/>
            </a:endParaRPr>
          </a:p>
          <a:p>
            <a:pPr marL="173880" indent="-173880">
              <a:lnSpc>
                <a:spcPct val="100000"/>
              </a:lnSpc>
              <a:spcBef>
                <a:spcPts val="601"/>
              </a:spcBef>
              <a:buClr>
                <a:srgbClr val="c05045"/>
              </a:buClr>
              <a:buFont typeface="Arial"/>
              <a:buChar char="●"/>
            </a:pPr>
            <a:r>
              <a:rPr b="0" lang="en-US" sz="1100" spc="-1" strike="noStrike">
                <a:solidFill>
                  <a:srgbClr val="15242b"/>
                </a:solidFill>
                <a:latin typeface="Arial"/>
              </a:rPr>
              <a:t>The downlink budget is fixed and small — 1280 bytes per second — so what is sent has to be selected byte by byte, on the ground.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408" name="Rounded Rectangle 8"/>
          <p:cNvSpPr/>
          <p:nvPr/>
        </p:nvSpPr>
        <p:spPr>
          <a:xfrm>
            <a:off x="6245280" y="1298520"/>
            <a:ext cx="5668920" cy="2194200"/>
          </a:xfrm>
          <a:prstGeom prst="roundRect">
            <a:avLst>
              <a:gd name="adj" fmla="val 4500"/>
            </a:avLst>
          </a:prstGeom>
          <a:solidFill>
            <a:srgbClr val="e9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09" name="Rectangle 9"/>
          <p:cNvSpPr/>
          <p:nvPr/>
        </p:nvSpPr>
        <p:spPr>
          <a:xfrm>
            <a:off x="6245280" y="1298520"/>
            <a:ext cx="54360" cy="2194200"/>
          </a:xfrm>
          <a:prstGeom prst="rect">
            <a:avLst/>
          </a:prstGeom>
          <a:solidFill>
            <a:srgbClr val="3f8f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10" name="TextBox 10"/>
          <p:cNvSpPr/>
          <p:nvPr/>
        </p:nvSpPr>
        <p:spPr>
          <a:xfrm>
            <a:off x="6519600" y="1463040"/>
            <a:ext cx="521172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3f8f62"/>
                </a:solidFill>
                <a:latin typeface="Arial"/>
              </a:rPr>
              <a:t>THE DESIGN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411" name="TextBox 11"/>
          <p:cNvSpPr/>
          <p:nvPr/>
        </p:nvSpPr>
        <p:spPr>
          <a:xfrm>
            <a:off x="6519600" y="1792080"/>
            <a:ext cx="5230080" cy="11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73880" indent="-173880">
              <a:lnSpc>
                <a:spcPct val="100000"/>
              </a:lnSpc>
              <a:spcBef>
                <a:spcPts val="601"/>
              </a:spcBef>
              <a:buClr>
                <a:srgbClr val="3f8f62"/>
              </a:buClr>
              <a:buFont typeface="Arial"/>
              <a:buChar char="●"/>
            </a:pPr>
            <a:r>
              <a:rPr b="0" lang="en-US" sz="1100" spc="-1" strike="noStrike">
                <a:solidFill>
                  <a:srgbClr val="15242b"/>
                </a:solidFill>
                <a:latin typeface="Arial"/>
              </a:rPr>
              <a:t>One binary file tells the OBC three things: which telecommands to replay, which bytes of each response to keep, and where those bytes go in the downlink block.</a:t>
            </a:r>
            <a:endParaRPr b="0" lang="en-IN" sz="1100" spc="-1" strike="noStrike">
              <a:latin typeface="Arial"/>
            </a:endParaRPr>
          </a:p>
          <a:p>
            <a:pPr marL="173880" indent="-173880">
              <a:lnSpc>
                <a:spcPct val="100000"/>
              </a:lnSpc>
              <a:spcBef>
                <a:spcPts val="601"/>
              </a:spcBef>
              <a:buClr>
                <a:srgbClr val="3f8f62"/>
              </a:buClr>
              <a:buFont typeface="Arial"/>
              <a:buChar char="●"/>
            </a:pPr>
            <a:r>
              <a:rPr b="0" lang="en-US" sz="1100" spc="-1" strike="noStrike">
                <a:solidFill>
                  <a:srgbClr val="15242b"/>
                </a:solidFill>
                <a:latin typeface="Arial"/>
              </a:rPr>
              <a:t>Its runtime job per selection is a single memcpy — no interpretation, no field names, no IDs anywhere in the file.</a:t>
            </a:r>
            <a:endParaRPr b="0" lang="en-IN" sz="1100" spc="-1" strike="noStrike">
              <a:latin typeface="Arial"/>
            </a:endParaRPr>
          </a:p>
          <a:p>
            <a:pPr marL="173880" indent="-173880">
              <a:lnSpc>
                <a:spcPct val="100000"/>
              </a:lnSpc>
              <a:spcBef>
                <a:spcPts val="601"/>
              </a:spcBef>
              <a:buClr>
                <a:srgbClr val="3f8f62"/>
              </a:buClr>
              <a:buFont typeface="Arial"/>
              <a:buChar char="●"/>
            </a:pPr>
            <a:r>
              <a:rPr b="0" lang="en-US" sz="1100" spc="-1" strike="noStrike">
                <a:solidFill>
                  <a:srgbClr val="15242b"/>
                </a:solidFill>
                <a:latin typeface="Arial"/>
              </a:rPr>
              <a:t>All meaning stays on the ground, in the database and in a JSON twin that is never transmitted. Position in the file is the only link between the two sides.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412" name="Rounded Rectangle 12"/>
          <p:cNvSpPr/>
          <p:nvPr/>
        </p:nvSpPr>
        <p:spPr>
          <a:xfrm>
            <a:off x="274320" y="3785760"/>
            <a:ext cx="2751840" cy="1846800"/>
          </a:xfrm>
          <a:prstGeom prst="roundRect">
            <a:avLst>
              <a:gd name="adj" fmla="val 6000"/>
            </a:avLst>
          </a:prstGeom>
          <a:solidFill>
            <a:srgbClr val="e4f4f8"/>
          </a:solidFill>
          <a:ln w="13970">
            <a:solidFill>
              <a:srgbClr val="009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13" name="TextBox 13"/>
          <p:cNvSpPr/>
          <p:nvPr/>
        </p:nvSpPr>
        <p:spPr>
          <a:xfrm>
            <a:off x="438840" y="3950280"/>
            <a:ext cx="2422800" cy="17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92000"/>
              </a:lnSpc>
              <a:buNone/>
            </a:pPr>
            <a:r>
              <a:rPr b="1" lang="en-US" sz="1250" spc="-1" strike="noStrike">
                <a:solidFill>
                  <a:srgbClr val="15242b"/>
                </a:solidFill>
                <a:latin typeface="Arial"/>
              </a:rPr>
              <a:t>No on-board database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414" name="TextBox 14"/>
          <p:cNvSpPr/>
          <p:nvPr/>
        </p:nvSpPr>
        <p:spPr>
          <a:xfrm>
            <a:off x="438840" y="4407480"/>
            <a:ext cx="2422800" cy="49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8000"/>
              </a:lnSpc>
              <a:buNone/>
            </a:pPr>
            <a:r>
              <a:rPr b="0" lang="en-US" sz="1000" spc="-1" strike="noStrike">
                <a:solidFill>
                  <a:srgbClr val="5a6b73"/>
                </a:solidFill>
                <a:latin typeface="Arial"/>
              </a:rPr>
              <a:t>The OBC boots with no table and transmits nothing until a LUT is uplinked or a stored one passes CRC.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15" name="Rounded Rectangle 15"/>
          <p:cNvSpPr/>
          <p:nvPr/>
        </p:nvSpPr>
        <p:spPr>
          <a:xfrm>
            <a:off x="3209400" y="3785760"/>
            <a:ext cx="2751840" cy="1846800"/>
          </a:xfrm>
          <a:prstGeom prst="roundRect">
            <a:avLst>
              <a:gd name="adj" fmla="val 6000"/>
            </a:avLst>
          </a:prstGeom>
          <a:solidFill>
            <a:srgbClr val="fdf3e0"/>
          </a:solidFill>
          <a:ln w="13970">
            <a:solidFill>
              <a:srgbClr val="e092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16" name="TextBox 16"/>
          <p:cNvSpPr/>
          <p:nvPr/>
        </p:nvSpPr>
        <p:spPr>
          <a:xfrm>
            <a:off x="3374280" y="3950280"/>
            <a:ext cx="2422800" cy="17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92000"/>
              </a:lnSpc>
              <a:buNone/>
            </a:pPr>
            <a:r>
              <a:rPr b="1" lang="en-US" sz="1250" spc="-1" strike="noStrike">
                <a:solidFill>
                  <a:srgbClr val="15242b"/>
                </a:solidFill>
                <a:latin typeface="Arial"/>
              </a:rPr>
              <a:t>Change without re-flashing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417" name="TextBox 17"/>
          <p:cNvSpPr/>
          <p:nvPr/>
        </p:nvSpPr>
        <p:spPr>
          <a:xfrm>
            <a:off x="3374280" y="4407480"/>
            <a:ext cx="2422800" cy="49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8000"/>
              </a:lnSpc>
              <a:buNone/>
            </a:pPr>
            <a:r>
              <a:rPr b="0" lang="en-US" sz="1000" spc="-1" strike="noStrike">
                <a:solidFill>
                  <a:srgbClr val="5a6b73"/>
                </a:solidFill>
                <a:latin typeface="Arial"/>
              </a:rPr>
              <a:t>Edit the CSV, rebuild, uplink. The engine hot-swaps the running table and keeps its slot phase.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18" name="Rounded Rectangle 18"/>
          <p:cNvSpPr/>
          <p:nvPr/>
        </p:nvSpPr>
        <p:spPr>
          <a:xfrm>
            <a:off x="6144840" y="3785760"/>
            <a:ext cx="2751840" cy="1846800"/>
          </a:xfrm>
          <a:prstGeom prst="roundRect">
            <a:avLst>
              <a:gd name="adj" fmla="val 6000"/>
            </a:avLst>
          </a:prstGeom>
          <a:solidFill>
            <a:srgbClr val="e9f4ee"/>
          </a:solidFill>
          <a:ln w="13970">
            <a:solidFill>
              <a:srgbClr val="3f8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19" name="TextBox 19"/>
          <p:cNvSpPr/>
          <p:nvPr/>
        </p:nvSpPr>
        <p:spPr>
          <a:xfrm>
            <a:off x="6309360" y="3950280"/>
            <a:ext cx="2422800" cy="17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92000"/>
              </a:lnSpc>
              <a:buNone/>
            </a:pPr>
            <a:r>
              <a:rPr b="1" lang="en-US" sz="1250" spc="-1" strike="noStrike">
                <a:solidFill>
                  <a:srgbClr val="15242b"/>
                </a:solidFill>
                <a:latin typeface="Arial"/>
              </a:rPr>
              <a:t>Deterministic and quotable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420" name="TextBox 20"/>
          <p:cNvSpPr/>
          <p:nvPr/>
        </p:nvSpPr>
        <p:spPr>
          <a:xfrm>
            <a:off x="6309360" y="4407480"/>
            <a:ext cx="2422800" cy="49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8000"/>
              </a:lnSpc>
              <a:buNone/>
            </a:pPr>
            <a:r>
              <a:rPr b="0" lang="en-US" sz="1000" spc="-1" strike="noStrike">
                <a:solidFill>
                  <a:srgbClr val="5a6b73"/>
                </a:solidFill>
                <a:latin typeface="Arial"/>
              </a:rPr>
              <a:t>The same table always produces a byte-identical file, so its CRC-16 signature can be cited in a review.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21" name="Rounded Rectangle 21"/>
          <p:cNvSpPr/>
          <p:nvPr/>
        </p:nvSpPr>
        <p:spPr>
          <a:xfrm>
            <a:off x="9079920" y="3785760"/>
            <a:ext cx="2751840" cy="1846800"/>
          </a:xfrm>
          <a:prstGeom prst="roundRect">
            <a:avLst>
              <a:gd name="adj" fmla="val 6000"/>
            </a:avLst>
          </a:prstGeom>
          <a:solidFill>
            <a:srgbClr val="efecf7"/>
          </a:solidFill>
          <a:ln w="13970">
            <a:solidFill>
              <a:srgbClr val="6a5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22" name="TextBox 22"/>
          <p:cNvSpPr/>
          <p:nvPr/>
        </p:nvSpPr>
        <p:spPr>
          <a:xfrm>
            <a:off x="9244440" y="3950280"/>
            <a:ext cx="2422800" cy="17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92000"/>
              </a:lnSpc>
              <a:buNone/>
            </a:pPr>
            <a:r>
              <a:rPr b="1" lang="en-US" sz="1250" spc="-1" strike="noStrike">
                <a:solidFill>
                  <a:srgbClr val="15242b"/>
                </a:solidFill>
                <a:latin typeface="Arial"/>
              </a:rPr>
              <a:t>Fails on the ground, loudly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423" name="TextBox 23"/>
          <p:cNvSpPr/>
          <p:nvPr/>
        </p:nvSpPr>
        <p:spPr>
          <a:xfrm>
            <a:off x="9244440" y="4407480"/>
            <a:ext cx="2422800" cy="49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8000"/>
              </a:lnSpc>
              <a:buNone/>
            </a:pPr>
            <a:r>
              <a:rPr b="0" lang="en-US" sz="1000" spc="-1" strike="noStrike">
                <a:solidFill>
                  <a:srgbClr val="5a6b73"/>
                </a:solidFill>
                <a:latin typeface="Arial"/>
              </a:rPr>
              <a:t>Unknown names, out-of-range picks and over-budget tiers are rejected at build time, never at runtime.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24" name="TextBox 24"/>
          <p:cNvSpPr/>
          <p:nvPr/>
        </p:nvSpPr>
        <p:spPr>
          <a:xfrm>
            <a:off x="225720" y="5870520"/>
            <a:ext cx="11521080" cy="12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i="1" lang="en-US" sz="850" spc="-1" strike="noStrike">
                <a:solidFill>
                  <a:srgbClr val="8d9ba1"/>
                </a:solidFill>
                <a:latin typeface="Arial"/>
              </a:rPr>
              <a:t>Consequence of the design: the OBC transmits nothing at all until the ground has told it what to poll — a deliberate fail-silent default.</a:t>
            </a:r>
            <a:endParaRPr b="0" lang="en-IN" sz="8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PlaceHolder 1"/>
          <p:cNvSpPr>
            <a:spLocks noGrp="1"/>
          </p:cNvSpPr>
          <p:nvPr>
            <p:ph type="title"/>
          </p:nvPr>
        </p:nvSpPr>
        <p:spPr>
          <a:xfrm>
            <a:off x="225720" y="176760"/>
            <a:ext cx="11740320" cy="7318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500" spc="-1" strike="noStrike">
                <a:solidFill>
                  <a:srgbClr val="15242b"/>
                </a:solidFill>
                <a:latin typeface="Arial"/>
              </a:rPr>
              <a:t>Binary </a:t>
            </a:r>
            <a:r>
              <a:rPr b="1" lang="en-US" sz="2500" spc="-1" strike="noStrike">
                <a:solidFill>
                  <a:srgbClr val="15242b"/>
                </a:solidFill>
                <a:latin typeface="Arial"/>
              </a:rPr>
              <a:t>rate-</a:t>
            </a:r>
            <a:r>
              <a:rPr b="1" lang="en-US" sz="2500" spc="-1" strike="noStrike">
                <a:solidFill>
                  <a:srgbClr val="15242b"/>
                </a:solidFill>
                <a:latin typeface="Arial"/>
              </a:rPr>
              <a:t>group </a:t>
            </a:r>
            <a:r>
              <a:rPr b="1" lang="en-US" sz="2500" spc="-1" strike="noStrike">
                <a:solidFill>
                  <a:srgbClr val="15242b"/>
                </a:solidFill>
                <a:latin typeface="Arial"/>
              </a:rPr>
              <a:t>LUT — </a:t>
            </a:r>
            <a:r>
              <a:rPr b="1" lang="en-US" sz="2500" spc="-1" strike="noStrike">
                <a:solidFill>
                  <a:srgbClr val="15242b"/>
                </a:solidFill>
                <a:latin typeface="Arial"/>
              </a:rPr>
              <a:t>data </a:t>
            </a:r>
            <a:r>
              <a:rPr b="1" lang="en-US" sz="2500" spc="-1" strike="noStrike">
                <a:solidFill>
                  <a:srgbClr val="15242b"/>
                </a:solidFill>
                <a:latin typeface="Arial"/>
              </a:rPr>
              <a:t>flow</a:t>
            </a:r>
            <a:endParaRPr b="0" lang="en-US" sz="25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6" name="TextBox 3"/>
          <p:cNvSpPr/>
          <p:nvPr/>
        </p:nvSpPr>
        <p:spPr>
          <a:xfrm>
            <a:off x="225720" y="873360"/>
            <a:ext cx="1174068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50" spc="-1" strike="noStrike">
                <a:solidFill>
                  <a:srgbClr val="006b83"/>
                </a:solidFill>
                <a:latin typeface="Arial"/>
              </a:rPr>
              <a:t>From one CSV master list on the ground to a decoded master frame on the operator’s screen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427" name="TextBox 4"/>
          <p:cNvSpPr/>
          <p:nvPr/>
        </p:nvSpPr>
        <p:spPr>
          <a:xfrm>
            <a:off x="274320" y="1101240"/>
            <a:ext cx="822924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90000"/>
              </a:lnSpc>
              <a:buNone/>
            </a:pPr>
            <a:r>
              <a:rPr b="1" lang="en-US" sz="1000" spc="-1" strike="noStrike">
                <a:solidFill>
                  <a:srgbClr val="e0921c"/>
                </a:solidFill>
                <a:latin typeface="Arial"/>
              </a:rPr>
              <a:t>GROUND  ·  authoring and build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28" name="Rounded Rectangle 5"/>
          <p:cNvSpPr/>
          <p:nvPr/>
        </p:nvSpPr>
        <p:spPr>
          <a:xfrm>
            <a:off x="274320" y="1298520"/>
            <a:ext cx="3520080" cy="1042200"/>
          </a:xfrm>
          <a:prstGeom prst="roundRect">
            <a:avLst>
              <a:gd name="adj" fmla="val 7000"/>
            </a:avLst>
          </a:prstGeom>
          <a:solidFill>
            <a:srgbClr val="fdf3e0"/>
          </a:solidFill>
          <a:ln w="15875">
            <a:solidFill>
              <a:srgbClr val="e092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29" name="Rectangle 6"/>
          <p:cNvSpPr/>
          <p:nvPr/>
        </p:nvSpPr>
        <p:spPr>
          <a:xfrm>
            <a:off x="274320" y="1298520"/>
            <a:ext cx="50040" cy="1042200"/>
          </a:xfrm>
          <a:prstGeom prst="rect">
            <a:avLst/>
          </a:prstGeom>
          <a:solidFill>
            <a:srgbClr val="e09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30" name="TextBox 7"/>
          <p:cNvSpPr/>
          <p:nvPr/>
        </p:nvSpPr>
        <p:spPr>
          <a:xfrm>
            <a:off x="457200" y="1398960"/>
            <a:ext cx="3191040" cy="16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90000"/>
              </a:lnSpc>
              <a:buNone/>
            </a:pPr>
            <a:r>
              <a:rPr b="1" lang="en-US" sz="1200" spc="-1" strike="noStrike">
                <a:solidFill>
                  <a:srgbClr val="15242b"/>
                </a:solidFill>
                <a:latin typeface="Arial"/>
              </a:rPr>
              <a:t>Master command list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431" name="TextBox 8"/>
          <p:cNvSpPr/>
          <p:nvPr/>
        </p:nvSpPr>
        <p:spPr>
          <a:xfrm>
            <a:off x="457200" y="1728360"/>
            <a:ext cx="3191040" cy="4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2000"/>
              </a:lnSpc>
              <a:buNone/>
            </a:pPr>
            <a:r>
              <a:rPr b="0" lang="en-US" sz="860" spc="-1" strike="noStrike">
                <a:solidFill>
                  <a:srgbClr val="5a6b73"/>
                </a:solidFill>
                <a:latin typeface="Consolas"/>
              </a:rPr>
              <a:t>config/rate_group_commands.csv</a:t>
            </a:r>
            <a:endParaRPr b="0" lang="en-IN" sz="860" spc="-1" strike="noStrike">
              <a:latin typeface="Arial"/>
            </a:endParaRPr>
          </a:p>
          <a:p>
            <a:pPr>
              <a:lnSpc>
                <a:spcPct val="102000"/>
              </a:lnSpc>
              <a:spcBef>
                <a:spcPts val="201"/>
              </a:spcBef>
              <a:buNone/>
            </a:pPr>
            <a:r>
              <a:rPr b="0" lang="en-US" sz="860" spc="-1" strike="noStrike">
                <a:solidFill>
                  <a:srgbClr val="5a6b73"/>
                </a:solidFill>
                <a:latin typeface="Arial"/>
              </a:rPr>
              <a:t>tier · tc_id · subsystem · tc_name · picks — row order inside a tier is the entry order</a:t>
            </a:r>
            <a:endParaRPr b="0" lang="en-IN" sz="860" spc="-1" strike="noStrike">
              <a:latin typeface="Arial"/>
            </a:endParaRPr>
          </a:p>
        </p:txBody>
      </p:sp>
      <p:sp>
        <p:nvSpPr>
          <p:cNvPr id="432" name="Right Arrow 9"/>
          <p:cNvSpPr/>
          <p:nvPr/>
        </p:nvSpPr>
        <p:spPr>
          <a:xfrm>
            <a:off x="3922920" y="1728360"/>
            <a:ext cx="282960" cy="1825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09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33" name="Rounded Rectangle 10"/>
          <p:cNvSpPr/>
          <p:nvPr/>
        </p:nvSpPr>
        <p:spPr>
          <a:xfrm>
            <a:off x="4334400" y="1298520"/>
            <a:ext cx="3520080" cy="1042200"/>
          </a:xfrm>
          <a:prstGeom prst="roundRect">
            <a:avLst>
              <a:gd name="adj" fmla="val 7000"/>
            </a:avLst>
          </a:prstGeom>
          <a:solidFill>
            <a:srgbClr val="fdf3e0"/>
          </a:solidFill>
          <a:ln w="15875">
            <a:solidFill>
              <a:srgbClr val="e092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34" name="Rectangle 11"/>
          <p:cNvSpPr/>
          <p:nvPr/>
        </p:nvSpPr>
        <p:spPr>
          <a:xfrm>
            <a:off x="4334400" y="1298520"/>
            <a:ext cx="50040" cy="1042200"/>
          </a:xfrm>
          <a:prstGeom prst="rect">
            <a:avLst/>
          </a:prstGeom>
          <a:solidFill>
            <a:srgbClr val="e09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35" name="TextBox 12"/>
          <p:cNvSpPr/>
          <p:nvPr/>
        </p:nvSpPr>
        <p:spPr>
          <a:xfrm>
            <a:off x="4517280" y="1398960"/>
            <a:ext cx="3191040" cy="16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90000"/>
              </a:lnSpc>
              <a:buNone/>
            </a:pPr>
            <a:r>
              <a:rPr b="1" lang="en-US" sz="1200" spc="-1" strike="noStrike">
                <a:solidFill>
                  <a:srgbClr val="15242b"/>
                </a:solidFill>
                <a:latin typeface="Arial"/>
              </a:rPr>
              <a:t>Build and validate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436" name="TextBox 13"/>
          <p:cNvSpPr/>
          <p:nvPr/>
        </p:nvSpPr>
        <p:spPr>
          <a:xfrm>
            <a:off x="4517280" y="1728360"/>
            <a:ext cx="3191040" cy="4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2000"/>
              </a:lnSpc>
              <a:buNone/>
            </a:pPr>
            <a:r>
              <a:rPr b="0" lang="en-US" sz="860" spc="-1" strike="noStrike">
                <a:solidFill>
                  <a:srgbClr val="5a6b73"/>
                </a:solidFill>
                <a:latin typeface="Consolas"/>
              </a:rPr>
              <a:t>xdos_lut_csv   ·   xdos_gs  [g] composer</a:t>
            </a:r>
            <a:endParaRPr b="0" lang="en-IN" sz="860" spc="-1" strike="noStrike">
              <a:latin typeface="Arial"/>
            </a:endParaRPr>
          </a:p>
          <a:p>
            <a:pPr>
              <a:lnSpc>
                <a:spcPct val="102000"/>
              </a:lnSpc>
              <a:spcBef>
                <a:spcPts val="201"/>
              </a:spcBef>
              <a:buNone/>
            </a:pPr>
            <a:r>
              <a:rPr b="0" lang="en-US" sz="860" spc="-1" strike="noStrike">
                <a:solidFill>
                  <a:srgbClr val="5a6b73"/>
                </a:solidFill>
                <a:latin typeface="Arial"/>
              </a:rPr>
              <a:t>resolves names against the MIB, merges adjacent picks, checks every tier against its budget</a:t>
            </a:r>
            <a:endParaRPr b="0" lang="en-IN" sz="860" spc="-1" strike="noStrike">
              <a:latin typeface="Arial"/>
            </a:endParaRPr>
          </a:p>
        </p:txBody>
      </p:sp>
      <p:sp>
        <p:nvSpPr>
          <p:cNvPr id="437" name="Right Arrow 14"/>
          <p:cNvSpPr/>
          <p:nvPr/>
        </p:nvSpPr>
        <p:spPr>
          <a:xfrm>
            <a:off x="7982640" y="1728360"/>
            <a:ext cx="282960" cy="1825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09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38" name="Rounded Rectangle 15"/>
          <p:cNvSpPr/>
          <p:nvPr/>
        </p:nvSpPr>
        <p:spPr>
          <a:xfrm>
            <a:off x="8394120" y="1298520"/>
            <a:ext cx="3520080" cy="1042200"/>
          </a:xfrm>
          <a:prstGeom prst="roundRect">
            <a:avLst>
              <a:gd name="adj" fmla="val 7000"/>
            </a:avLst>
          </a:prstGeom>
          <a:solidFill>
            <a:srgbClr val="fdf3e0"/>
          </a:solidFill>
          <a:ln w="15875">
            <a:solidFill>
              <a:srgbClr val="e092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39" name="Rectangle 16"/>
          <p:cNvSpPr/>
          <p:nvPr/>
        </p:nvSpPr>
        <p:spPr>
          <a:xfrm>
            <a:off x="8394120" y="1298520"/>
            <a:ext cx="50040" cy="1042200"/>
          </a:xfrm>
          <a:prstGeom prst="rect">
            <a:avLst/>
          </a:prstGeom>
          <a:solidFill>
            <a:srgbClr val="e09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40" name="TextBox 17"/>
          <p:cNvSpPr/>
          <p:nvPr/>
        </p:nvSpPr>
        <p:spPr>
          <a:xfrm>
            <a:off x="8577000" y="1398960"/>
            <a:ext cx="3191040" cy="16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90000"/>
              </a:lnSpc>
              <a:buNone/>
            </a:pPr>
            <a:r>
              <a:rPr b="1" lang="en-US" sz="1200" spc="-1" strike="noStrike">
                <a:solidFill>
                  <a:srgbClr val="15242b"/>
                </a:solidFill>
                <a:latin typeface="Arial"/>
              </a:rPr>
              <a:t>Two artefacts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441" name="TextBox 18"/>
          <p:cNvSpPr/>
          <p:nvPr/>
        </p:nvSpPr>
        <p:spPr>
          <a:xfrm>
            <a:off x="8577000" y="1728360"/>
            <a:ext cx="3191040" cy="55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2000"/>
              </a:lnSpc>
              <a:buNone/>
            </a:pPr>
            <a:r>
              <a:rPr b="0" lang="en-US" sz="860" spc="-1" strike="noStrike">
                <a:solidFill>
                  <a:srgbClr val="5a6b73"/>
                </a:solidFill>
                <a:latin typeface="Consolas"/>
              </a:rPr>
              <a:t>rate_group_lut.bin   +   rate_group_lut_bin_gs.json</a:t>
            </a:r>
            <a:endParaRPr b="0" lang="en-IN" sz="860" spc="-1" strike="noStrike">
              <a:latin typeface="Arial"/>
            </a:endParaRPr>
          </a:p>
          <a:p>
            <a:pPr>
              <a:lnSpc>
                <a:spcPct val="102000"/>
              </a:lnSpc>
              <a:spcBef>
                <a:spcPts val="201"/>
              </a:spcBef>
              <a:buNone/>
            </a:pPr>
            <a:r>
              <a:rPr b="0" lang="en-US" sz="860" spc="-1" strike="noStrike">
                <a:solidFill>
                  <a:srgbClr val="5a6b73"/>
                </a:solidFill>
                <a:latin typeface="Arial"/>
              </a:rPr>
              <a:t>only the .bin is ever transmitted; the JSON twin keeps names, IDs and the resume state on the ground</a:t>
            </a:r>
            <a:endParaRPr b="0" lang="en-IN" sz="860" spc="-1" strike="noStrike">
              <a:latin typeface="Arial"/>
            </a:endParaRPr>
          </a:p>
        </p:txBody>
      </p:sp>
      <p:sp>
        <p:nvSpPr>
          <p:cNvPr id="442" name="Rounded Rectangle 19"/>
          <p:cNvSpPr/>
          <p:nvPr/>
        </p:nvSpPr>
        <p:spPr>
          <a:xfrm>
            <a:off x="274320" y="2432160"/>
            <a:ext cx="11639880" cy="255600"/>
          </a:xfrm>
          <a:prstGeom prst="roundRect">
            <a:avLst>
              <a:gd name="adj" fmla="val 42000"/>
            </a:avLst>
          </a:prstGeom>
          <a:solidFill>
            <a:srgbClr val="fdf3e0"/>
          </a:solidFill>
          <a:ln w="12700">
            <a:solidFill>
              <a:srgbClr val="e092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43" name="Down Arrow 20"/>
          <p:cNvSpPr/>
          <p:nvPr/>
        </p:nvSpPr>
        <p:spPr>
          <a:xfrm>
            <a:off x="511920" y="2482560"/>
            <a:ext cx="182520" cy="15516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e09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44" name="Down Arrow 21"/>
          <p:cNvSpPr/>
          <p:nvPr/>
        </p:nvSpPr>
        <p:spPr>
          <a:xfrm>
            <a:off x="11494080" y="2482560"/>
            <a:ext cx="182520" cy="15516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e09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45" name="TextBox 22"/>
          <p:cNvSpPr/>
          <p:nvPr/>
        </p:nvSpPr>
        <p:spPr>
          <a:xfrm>
            <a:off x="914400" y="2490840"/>
            <a:ext cx="1035972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e0921c"/>
                </a:solidFill>
                <a:latin typeface="Arial"/>
              </a:rPr>
              <a:t>UPLINK   ·   TCP  P+3   ·   “XLUT”  +  u32 big-endian length  +  file bytes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446" name="TextBox 23"/>
          <p:cNvSpPr/>
          <p:nvPr/>
        </p:nvSpPr>
        <p:spPr>
          <a:xfrm>
            <a:off x="274320" y="2802240"/>
            <a:ext cx="822924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90000"/>
              </a:lnSpc>
              <a:buNone/>
            </a:pPr>
            <a:r>
              <a:rPr b="1" lang="en-US" sz="1000" spc="-1" strike="noStrike">
                <a:solidFill>
                  <a:srgbClr val="006b83"/>
                </a:solidFill>
                <a:latin typeface="Arial"/>
              </a:rPr>
              <a:t>ON-BOARD  ·  accept and execute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47" name="Rounded Rectangle 24"/>
          <p:cNvSpPr/>
          <p:nvPr/>
        </p:nvSpPr>
        <p:spPr>
          <a:xfrm>
            <a:off x="274320" y="2999160"/>
            <a:ext cx="3520080" cy="1042200"/>
          </a:xfrm>
          <a:prstGeom prst="roundRect">
            <a:avLst>
              <a:gd name="adj" fmla="val 7000"/>
            </a:avLst>
          </a:prstGeom>
          <a:solidFill>
            <a:srgbClr val="e4f4f8"/>
          </a:solidFill>
          <a:ln w="15875">
            <a:solidFill>
              <a:srgbClr val="009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48" name="Rectangle 25"/>
          <p:cNvSpPr/>
          <p:nvPr/>
        </p:nvSpPr>
        <p:spPr>
          <a:xfrm>
            <a:off x="274320" y="2999160"/>
            <a:ext cx="50040" cy="1042200"/>
          </a:xfrm>
          <a:prstGeom prst="rect">
            <a:avLst/>
          </a:prstGeom>
          <a:solidFill>
            <a:srgbClr val="009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49" name="TextBox 26"/>
          <p:cNvSpPr/>
          <p:nvPr/>
        </p:nvSpPr>
        <p:spPr>
          <a:xfrm>
            <a:off x="457200" y="3099960"/>
            <a:ext cx="3191040" cy="16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90000"/>
              </a:lnSpc>
              <a:buNone/>
            </a:pPr>
            <a:r>
              <a:rPr b="1" lang="en-US" sz="1200" spc="-1" strike="noStrike">
                <a:solidFill>
                  <a:srgbClr val="15242b"/>
                </a:solidFill>
                <a:latin typeface="Arial"/>
              </a:rPr>
              <a:t>Verify independently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450" name="TextBox 27"/>
          <p:cNvSpPr/>
          <p:nvPr/>
        </p:nvSpPr>
        <p:spPr>
          <a:xfrm>
            <a:off x="457200" y="3429000"/>
            <a:ext cx="3191040" cy="4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2000"/>
              </a:lnSpc>
              <a:buNone/>
            </a:pPr>
            <a:r>
              <a:rPr b="0" lang="en-US" sz="860" spc="-1" strike="noStrike">
                <a:solidFill>
                  <a:srgbClr val="5a6b73"/>
                </a:solidFill>
                <a:latin typeface="Arial"/>
              </a:rPr>
              <a:t>magic · length field · CRC-16 · every entry’s structure</a:t>
            </a:r>
            <a:endParaRPr b="0" lang="en-IN" sz="860" spc="-1" strike="noStrike">
              <a:latin typeface="Arial"/>
            </a:endParaRPr>
          </a:p>
          <a:p>
            <a:pPr>
              <a:lnSpc>
                <a:spcPct val="102000"/>
              </a:lnSpc>
              <a:spcBef>
                <a:spcPts val="201"/>
              </a:spcBef>
              <a:buNone/>
            </a:pPr>
            <a:r>
              <a:rPr b="0" lang="en-US" sz="860" spc="-1" strike="noStrike">
                <a:solidFill>
                  <a:srgbClr val="5a6b73"/>
                </a:solidFill>
                <a:latin typeface="Arial"/>
              </a:rPr>
              <a:t>a malformed file is rejected with ERR and the running table is untouched</a:t>
            </a:r>
            <a:endParaRPr b="0" lang="en-IN" sz="860" spc="-1" strike="noStrike">
              <a:latin typeface="Arial"/>
            </a:endParaRPr>
          </a:p>
        </p:txBody>
      </p:sp>
      <p:sp>
        <p:nvSpPr>
          <p:cNvPr id="451" name="Right Arrow 28"/>
          <p:cNvSpPr/>
          <p:nvPr/>
        </p:nvSpPr>
        <p:spPr>
          <a:xfrm>
            <a:off x="3922920" y="3429000"/>
            <a:ext cx="282960" cy="1825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9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52" name="Rounded Rectangle 29"/>
          <p:cNvSpPr/>
          <p:nvPr/>
        </p:nvSpPr>
        <p:spPr>
          <a:xfrm>
            <a:off x="4334400" y="2999160"/>
            <a:ext cx="3520080" cy="1042200"/>
          </a:xfrm>
          <a:prstGeom prst="roundRect">
            <a:avLst>
              <a:gd name="adj" fmla="val 7000"/>
            </a:avLst>
          </a:prstGeom>
          <a:solidFill>
            <a:srgbClr val="e4f4f8"/>
          </a:solidFill>
          <a:ln w="15875">
            <a:solidFill>
              <a:srgbClr val="009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53" name="Rectangle 30"/>
          <p:cNvSpPr/>
          <p:nvPr/>
        </p:nvSpPr>
        <p:spPr>
          <a:xfrm>
            <a:off x="4334400" y="2999160"/>
            <a:ext cx="50040" cy="1042200"/>
          </a:xfrm>
          <a:prstGeom prst="rect">
            <a:avLst/>
          </a:prstGeom>
          <a:solidFill>
            <a:srgbClr val="009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54" name="TextBox 31"/>
          <p:cNvSpPr/>
          <p:nvPr/>
        </p:nvSpPr>
        <p:spPr>
          <a:xfrm>
            <a:off x="4517280" y="3099960"/>
            <a:ext cx="3191040" cy="16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90000"/>
              </a:lnSpc>
              <a:buNone/>
            </a:pPr>
            <a:r>
              <a:rPr b="1" lang="en-US" sz="1200" spc="-1" strike="noStrike">
                <a:solidFill>
                  <a:srgbClr val="15242b"/>
                </a:solidFill>
                <a:latin typeface="Arial"/>
              </a:rPr>
              <a:t>Hot-swap and persist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455" name="TextBox 32"/>
          <p:cNvSpPr/>
          <p:nvPr/>
        </p:nvSpPr>
        <p:spPr>
          <a:xfrm>
            <a:off x="4517280" y="3429000"/>
            <a:ext cx="3191040" cy="4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2000"/>
              </a:lnSpc>
              <a:buNone/>
            </a:pPr>
            <a:r>
              <a:rPr b="0" lang="en-US" sz="860" spc="-1" strike="noStrike">
                <a:solidFill>
                  <a:srgbClr val="5a6b73"/>
                </a:solidFill>
                <a:latin typeface="Consolas"/>
              </a:rPr>
              <a:t>obc_lut_store.bin</a:t>
            </a:r>
            <a:endParaRPr b="0" lang="en-IN" sz="860" spc="-1" strike="noStrike">
              <a:latin typeface="Arial"/>
            </a:endParaRPr>
          </a:p>
          <a:p>
            <a:pPr>
              <a:lnSpc>
                <a:spcPct val="102000"/>
              </a:lnSpc>
              <a:spcBef>
                <a:spcPts val="201"/>
              </a:spcBef>
              <a:buNone/>
            </a:pPr>
            <a:r>
              <a:rPr b="0" lang="en-US" sz="860" spc="-1" strike="noStrike">
                <a:solidFill>
                  <a:srgbClr val="5a6b73"/>
                </a:solidFill>
                <a:latin typeface="Arial"/>
              </a:rPr>
              <a:t>the engine swaps table mid-flight and re-derives its 16-slot schedule; the sub-frame counter keeps running</a:t>
            </a:r>
            <a:endParaRPr b="0" lang="en-IN" sz="860" spc="-1" strike="noStrike">
              <a:latin typeface="Arial"/>
            </a:endParaRPr>
          </a:p>
        </p:txBody>
      </p:sp>
      <p:sp>
        <p:nvSpPr>
          <p:cNvPr id="456" name="Right Arrow 33"/>
          <p:cNvSpPr/>
          <p:nvPr/>
        </p:nvSpPr>
        <p:spPr>
          <a:xfrm>
            <a:off x="7982640" y="3429000"/>
            <a:ext cx="282960" cy="1825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9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57" name="Rounded Rectangle 34"/>
          <p:cNvSpPr/>
          <p:nvPr/>
        </p:nvSpPr>
        <p:spPr>
          <a:xfrm>
            <a:off x="8394120" y="2999160"/>
            <a:ext cx="3520080" cy="1042200"/>
          </a:xfrm>
          <a:prstGeom prst="roundRect">
            <a:avLst>
              <a:gd name="adj" fmla="val 7000"/>
            </a:avLst>
          </a:prstGeom>
          <a:solidFill>
            <a:srgbClr val="e4f4f8"/>
          </a:solidFill>
          <a:ln w="15875">
            <a:solidFill>
              <a:srgbClr val="009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58" name="Rectangle 35"/>
          <p:cNvSpPr/>
          <p:nvPr/>
        </p:nvSpPr>
        <p:spPr>
          <a:xfrm>
            <a:off x="8394120" y="2999160"/>
            <a:ext cx="50040" cy="1042200"/>
          </a:xfrm>
          <a:prstGeom prst="rect">
            <a:avLst/>
          </a:prstGeom>
          <a:solidFill>
            <a:srgbClr val="009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59" name="TextBox 36"/>
          <p:cNvSpPr/>
          <p:nvPr/>
        </p:nvSpPr>
        <p:spPr>
          <a:xfrm>
            <a:off x="8577000" y="3099960"/>
            <a:ext cx="3191040" cy="16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90000"/>
              </a:lnSpc>
              <a:buNone/>
            </a:pPr>
            <a:r>
              <a:rPr b="1" lang="en-US" sz="1200" spc="-1" strike="noStrike">
                <a:solidFill>
                  <a:srgbClr val="15242b"/>
                </a:solidFill>
                <a:latin typeface="Arial"/>
              </a:rPr>
              <a:t>Poll and pick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460" name="TextBox 37"/>
          <p:cNvSpPr/>
          <p:nvPr/>
        </p:nvSpPr>
        <p:spPr>
          <a:xfrm>
            <a:off x="8577000" y="3429000"/>
            <a:ext cx="3191040" cy="4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2000"/>
              </a:lnSpc>
              <a:buNone/>
            </a:pPr>
            <a:r>
              <a:rPr b="0" lang="en-US" sz="860" spc="-1" strike="noStrike">
                <a:solidFill>
                  <a:srgbClr val="5a6b73"/>
                </a:solidFill>
                <a:latin typeface="Arial"/>
              </a:rPr>
              <a:t>VH every subframe · H per 2 · M per 4 · L per 8</a:t>
            </a:r>
            <a:endParaRPr b="0" lang="en-IN" sz="860" spc="-1" strike="noStrike">
              <a:latin typeface="Arial"/>
            </a:endParaRPr>
          </a:p>
          <a:p>
            <a:pPr>
              <a:lnSpc>
                <a:spcPct val="102000"/>
              </a:lnSpc>
              <a:spcBef>
                <a:spcPts val="201"/>
              </a:spcBef>
              <a:buNone/>
            </a:pPr>
            <a:r>
              <a:rPr b="0" lang="en-US" sz="860" spc="-1" strike="noStrike">
                <a:solidFill>
                  <a:srgbClr val="5a6b73"/>
                </a:solidFill>
                <a:latin typeface="Arial"/>
              </a:rPr>
              <a:t>each pick is one memcpy into the tier’s block buffer; a failed poll writes 0xFF over that entry’s ranges</a:t>
            </a:r>
            <a:endParaRPr b="0" lang="en-IN" sz="860" spc="-1" strike="noStrike">
              <a:latin typeface="Arial"/>
            </a:endParaRPr>
          </a:p>
        </p:txBody>
      </p:sp>
      <p:sp>
        <p:nvSpPr>
          <p:cNvPr id="461" name="Rounded Rectangle 38"/>
          <p:cNvSpPr/>
          <p:nvPr/>
        </p:nvSpPr>
        <p:spPr>
          <a:xfrm>
            <a:off x="274320" y="4133160"/>
            <a:ext cx="11639880" cy="255600"/>
          </a:xfrm>
          <a:prstGeom prst="roundRect">
            <a:avLst>
              <a:gd name="adj" fmla="val 42000"/>
            </a:avLst>
          </a:prstGeom>
          <a:solidFill>
            <a:srgbClr val="e4f4f8"/>
          </a:solidFill>
          <a:ln w="12700">
            <a:solidFill>
              <a:srgbClr val="009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62" name="Down Arrow 39"/>
          <p:cNvSpPr/>
          <p:nvPr/>
        </p:nvSpPr>
        <p:spPr>
          <a:xfrm>
            <a:off x="511920" y="4183200"/>
            <a:ext cx="182520" cy="15516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9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63" name="Down Arrow 40"/>
          <p:cNvSpPr/>
          <p:nvPr/>
        </p:nvSpPr>
        <p:spPr>
          <a:xfrm>
            <a:off x="11494080" y="4183200"/>
            <a:ext cx="182520" cy="15516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9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64" name="TextBox 41"/>
          <p:cNvSpPr/>
          <p:nvPr/>
        </p:nvSpPr>
        <p:spPr>
          <a:xfrm>
            <a:off x="914400" y="4191840"/>
            <a:ext cx="1035972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009ebe"/>
                </a:solidFill>
                <a:latin typeface="Arial"/>
              </a:rPr>
              <a:t>ASSEMBLE   ·   one 1280-byte subframe per second, wrapped in the 1432-byte TM frame (APID 600)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465" name="TextBox 42"/>
          <p:cNvSpPr/>
          <p:nvPr/>
        </p:nvSpPr>
        <p:spPr>
          <a:xfrm>
            <a:off x="274320" y="4502880"/>
            <a:ext cx="822924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90000"/>
              </a:lnSpc>
              <a:buNone/>
            </a:pPr>
            <a:r>
              <a:rPr b="1" lang="en-US" sz="1000" spc="-1" strike="noStrike">
                <a:solidFill>
                  <a:srgbClr val="3f8f62"/>
                </a:solidFill>
                <a:latin typeface="Arial"/>
              </a:rPr>
              <a:t>DOWNLINK  ·  decode on the ground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66" name="Rounded Rectangle 43"/>
          <p:cNvSpPr/>
          <p:nvPr/>
        </p:nvSpPr>
        <p:spPr>
          <a:xfrm>
            <a:off x="274320" y="4700160"/>
            <a:ext cx="3520080" cy="1042200"/>
          </a:xfrm>
          <a:prstGeom prst="roundRect">
            <a:avLst>
              <a:gd name="adj" fmla="val 7000"/>
            </a:avLst>
          </a:prstGeom>
          <a:solidFill>
            <a:srgbClr val="e9f4ee"/>
          </a:solidFill>
          <a:ln w="15875">
            <a:solidFill>
              <a:srgbClr val="3f8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67" name="Rectangle 44"/>
          <p:cNvSpPr/>
          <p:nvPr/>
        </p:nvSpPr>
        <p:spPr>
          <a:xfrm>
            <a:off x="274320" y="4700160"/>
            <a:ext cx="50040" cy="1042200"/>
          </a:xfrm>
          <a:prstGeom prst="rect">
            <a:avLst/>
          </a:prstGeom>
          <a:solidFill>
            <a:srgbClr val="3f8f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68" name="TextBox 45"/>
          <p:cNvSpPr/>
          <p:nvPr/>
        </p:nvSpPr>
        <p:spPr>
          <a:xfrm>
            <a:off x="457200" y="4800600"/>
            <a:ext cx="3191040" cy="16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90000"/>
              </a:lnSpc>
              <a:buNone/>
            </a:pPr>
            <a:r>
              <a:rPr b="1" lang="en-US" sz="1200" spc="-1" strike="noStrike">
                <a:solidFill>
                  <a:srgbClr val="15242b"/>
                </a:solidFill>
                <a:latin typeface="Arial"/>
              </a:rPr>
              <a:t>Push to the ground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469" name="TextBox 46"/>
          <p:cNvSpPr/>
          <p:nvPr/>
        </p:nvSpPr>
        <p:spPr>
          <a:xfrm>
            <a:off x="457200" y="5129640"/>
            <a:ext cx="3191040" cy="4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2000"/>
              </a:lnSpc>
              <a:buNone/>
            </a:pPr>
            <a:r>
              <a:rPr b="0" lang="en-US" sz="860" spc="-1" strike="noStrike">
                <a:solidFill>
                  <a:srgbClr val="5a6b73"/>
                </a:solidFill>
                <a:latin typeface="Arial"/>
              </a:rPr>
              <a:t>TCP  P+2  ·  1 Hz  ·  master frame = 16 subframes = 16 s</a:t>
            </a:r>
            <a:endParaRPr b="0" lang="en-IN" sz="860" spc="-1" strike="noStrike">
              <a:latin typeface="Arial"/>
            </a:endParaRPr>
          </a:p>
          <a:p>
            <a:pPr>
              <a:lnSpc>
                <a:spcPct val="102000"/>
              </a:lnSpc>
              <a:spcBef>
                <a:spcPts val="201"/>
              </a:spcBef>
              <a:buNone/>
            </a:pPr>
            <a:r>
              <a:rPr b="0" lang="en-US" sz="860" spc="-1" strike="noStrike">
                <a:solidFill>
                  <a:srgbClr val="5a6b73"/>
                </a:solidFill>
                <a:latin typeface="Arial"/>
              </a:rPr>
              <a:t>SFC mod 16 positions the subframe, so a lost frame leaves a gap instead of shifting everything</a:t>
            </a:r>
            <a:endParaRPr b="0" lang="en-IN" sz="860" spc="-1" strike="noStrike">
              <a:latin typeface="Arial"/>
            </a:endParaRPr>
          </a:p>
        </p:txBody>
      </p:sp>
      <p:sp>
        <p:nvSpPr>
          <p:cNvPr id="470" name="Right Arrow 47"/>
          <p:cNvSpPr/>
          <p:nvPr/>
        </p:nvSpPr>
        <p:spPr>
          <a:xfrm>
            <a:off x="3922920" y="5129640"/>
            <a:ext cx="282960" cy="1825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3f8f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71" name="Rounded Rectangle 48"/>
          <p:cNvSpPr/>
          <p:nvPr/>
        </p:nvSpPr>
        <p:spPr>
          <a:xfrm>
            <a:off x="4334400" y="4700160"/>
            <a:ext cx="3520080" cy="1042200"/>
          </a:xfrm>
          <a:prstGeom prst="roundRect">
            <a:avLst>
              <a:gd name="adj" fmla="val 7000"/>
            </a:avLst>
          </a:prstGeom>
          <a:solidFill>
            <a:srgbClr val="e9f4ee"/>
          </a:solidFill>
          <a:ln w="15875">
            <a:solidFill>
              <a:srgbClr val="3f8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72" name="Rectangle 49"/>
          <p:cNvSpPr/>
          <p:nvPr/>
        </p:nvSpPr>
        <p:spPr>
          <a:xfrm>
            <a:off x="4334400" y="4700160"/>
            <a:ext cx="50040" cy="1042200"/>
          </a:xfrm>
          <a:prstGeom prst="rect">
            <a:avLst/>
          </a:prstGeom>
          <a:solidFill>
            <a:srgbClr val="3f8f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73" name="TextBox 50"/>
          <p:cNvSpPr/>
          <p:nvPr/>
        </p:nvSpPr>
        <p:spPr>
          <a:xfrm>
            <a:off x="4517280" y="4800600"/>
            <a:ext cx="3191040" cy="16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90000"/>
              </a:lnSpc>
              <a:buNone/>
            </a:pPr>
            <a:r>
              <a:rPr b="1" lang="en-US" sz="1200" spc="-1" strike="noStrike">
                <a:solidFill>
                  <a:srgbClr val="15242b"/>
                </a:solidFill>
                <a:latin typeface="Arial"/>
              </a:rPr>
              <a:t>Rebuild the blocks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474" name="TextBox 51"/>
          <p:cNvSpPr/>
          <p:nvPr/>
        </p:nvSpPr>
        <p:spPr>
          <a:xfrm>
            <a:off x="4517280" y="5129640"/>
            <a:ext cx="3191040" cy="4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2000"/>
              </a:lnSpc>
              <a:buNone/>
            </a:pPr>
            <a:r>
              <a:rPr b="0" lang="en-US" sz="860" spc="-1" strike="noStrike">
                <a:solidFill>
                  <a:srgbClr val="5a6b73"/>
                </a:solidFill>
                <a:latin typeface="Consolas"/>
              </a:rPr>
              <a:t>xdos_tm_view</a:t>
            </a:r>
            <a:endParaRPr b="0" lang="en-IN" sz="860" spc="-1" strike="noStrike">
              <a:latin typeface="Arial"/>
            </a:endParaRPr>
          </a:p>
          <a:p>
            <a:pPr>
              <a:lnSpc>
                <a:spcPct val="102000"/>
              </a:lnSpc>
              <a:spcBef>
                <a:spcPts val="201"/>
              </a:spcBef>
              <a:buNone/>
            </a:pPr>
            <a:r>
              <a:rPr b="0" lang="en-US" sz="860" spc="-1" strike="noStrike">
                <a:solidFill>
                  <a:srgbClr val="5a6b73"/>
                </a:solidFill>
                <a:latin typeface="Arial"/>
              </a:rPr>
              <a:t>slices VH / H / M / L out of each subframe and reassembles each tier’s block across its span</a:t>
            </a:r>
            <a:endParaRPr b="0" lang="en-IN" sz="860" spc="-1" strike="noStrike">
              <a:latin typeface="Arial"/>
            </a:endParaRPr>
          </a:p>
        </p:txBody>
      </p:sp>
      <p:sp>
        <p:nvSpPr>
          <p:cNvPr id="475" name="Right Arrow 52"/>
          <p:cNvSpPr/>
          <p:nvPr/>
        </p:nvSpPr>
        <p:spPr>
          <a:xfrm>
            <a:off x="7982640" y="5129640"/>
            <a:ext cx="282960" cy="1825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3f8f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76" name="Rounded Rectangle 53"/>
          <p:cNvSpPr/>
          <p:nvPr/>
        </p:nvSpPr>
        <p:spPr>
          <a:xfrm>
            <a:off x="8394120" y="4700160"/>
            <a:ext cx="3520080" cy="1042200"/>
          </a:xfrm>
          <a:prstGeom prst="roundRect">
            <a:avLst>
              <a:gd name="adj" fmla="val 7000"/>
            </a:avLst>
          </a:prstGeom>
          <a:solidFill>
            <a:srgbClr val="e9f4ee"/>
          </a:solidFill>
          <a:ln w="15875">
            <a:solidFill>
              <a:srgbClr val="3f8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77" name="Rectangle 54"/>
          <p:cNvSpPr/>
          <p:nvPr/>
        </p:nvSpPr>
        <p:spPr>
          <a:xfrm>
            <a:off x="8394120" y="4700160"/>
            <a:ext cx="50040" cy="1042200"/>
          </a:xfrm>
          <a:prstGeom prst="rect">
            <a:avLst/>
          </a:prstGeom>
          <a:solidFill>
            <a:srgbClr val="3f8f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78" name="TextBox 55"/>
          <p:cNvSpPr/>
          <p:nvPr/>
        </p:nvSpPr>
        <p:spPr>
          <a:xfrm>
            <a:off x="8577000" y="4800600"/>
            <a:ext cx="3191040" cy="16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90000"/>
              </a:lnSpc>
              <a:buNone/>
            </a:pPr>
            <a:r>
              <a:rPr b="1" lang="en-US" sz="1200" spc="-1" strike="noStrike">
                <a:solidFill>
                  <a:srgbClr val="15242b"/>
                </a:solidFill>
                <a:latin typeface="Arial"/>
              </a:rPr>
              <a:t>Name the bytes again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479" name="TextBox 56"/>
          <p:cNvSpPr/>
          <p:nvPr/>
        </p:nvSpPr>
        <p:spPr>
          <a:xfrm>
            <a:off x="8577000" y="5129640"/>
            <a:ext cx="3191040" cy="4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2000"/>
              </a:lnSpc>
              <a:buNone/>
            </a:pPr>
            <a:r>
              <a:rPr b="0" lang="en-US" sz="860" spc="-1" strike="noStrike">
                <a:solidFill>
                  <a:srgbClr val="5a6b73"/>
                </a:solidFill>
                <a:latin typeface="Arial"/>
              </a:rPr>
              <a:t>the JSON twin maps block offsets back to commands, parameters and units</a:t>
            </a:r>
            <a:endParaRPr b="0" lang="en-IN" sz="860" spc="-1" strike="noStrike">
              <a:latin typeface="Arial"/>
            </a:endParaRPr>
          </a:p>
          <a:p>
            <a:pPr>
              <a:lnSpc>
                <a:spcPct val="102000"/>
              </a:lnSpc>
              <a:spcBef>
                <a:spcPts val="201"/>
              </a:spcBef>
              <a:buNone/>
            </a:pPr>
            <a:r>
              <a:rPr b="0" lang="en-US" sz="860" spc="-1" strike="noStrike">
                <a:solidFill>
                  <a:srgbClr val="5a6b73"/>
                </a:solidFill>
                <a:latin typeface="Arial"/>
              </a:rPr>
              <a:t>the CRC-16 signature proves both sides hold the identical table</a:t>
            </a:r>
            <a:endParaRPr b="0" lang="en-IN" sz="860" spc="-1" strike="noStrike">
              <a:latin typeface="Arial"/>
            </a:endParaRPr>
          </a:p>
        </p:txBody>
      </p:sp>
      <p:sp>
        <p:nvSpPr>
          <p:cNvPr id="480" name="TextBox 57"/>
          <p:cNvSpPr/>
          <p:nvPr/>
        </p:nvSpPr>
        <p:spPr>
          <a:xfrm>
            <a:off x="225720" y="5906880"/>
            <a:ext cx="11521080" cy="12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i="1" lang="en-US" sz="850" spc="-1" strike="noStrike">
                <a:solidFill>
                  <a:srgbClr val="8d9ba1"/>
                </a:solidFill>
                <a:latin typeface="Arial"/>
              </a:rPr>
              <a:t>The two sides never exchange names or IDs. Position within a segment is the only correspondence, and the shared CRC-16 is what guarantees it.</a:t>
            </a:r>
            <a:endParaRPr b="0" lang="en-IN" sz="8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PlaceHolder 1"/>
          <p:cNvSpPr>
            <a:spLocks noGrp="1"/>
          </p:cNvSpPr>
          <p:nvPr>
            <p:ph type="title"/>
          </p:nvPr>
        </p:nvSpPr>
        <p:spPr>
          <a:xfrm>
            <a:off x="225720" y="176760"/>
            <a:ext cx="11740320" cy="7318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500" spc="-1" strike="noStrike">
                <a:solidFill>
                  <a:srgbClr val="15242b"/>
                </a:solidFill>
                <a:latin typeface="Arial"/>
              </a:rPr>
              <a:t>Binary </a:t>
            </a:r>
            <a:r>
              <a:rPr b="1" lang="en-US" sz="2500" spc="-1" strike="noStrike">
                <a:solidFill>
                  <a:srgbClr val="15242b"/>
                </a:solidFill>
                <a:latin typeface="Arial"/>
              </a:rPr>
              <a:t>LUT — </a:t>
            </a:r>
            <a:r>
              <a:rPr b="1" lang="en-US" sz="2500" spc="-1" strike="noStrike">
                <a:solidFill>
                  <a:srgbClr val="15242b"/>
                </a:solidFill>
                <a:latin typeface="Arial"/>
              </a:rPr>
              <a:t>file </a:t>
            </a:r>
            <a:r>
              <a:rPr b="1" lang="en-US" sz="2500" spc="-1" strike="noStrike">
                <a:solidFill>
                  <a:srgbClr val="15242b"/>
                </a:solidFill>
                <a:latin typeface="Arial"/>
              </a:rPr>
              <a:t>format, </a:t>
            </a:r>
            <a:r>
              <a:rPr b="1" lang="en-US" sz="2500" spc="-1" strike="noStrike">
                <a:solidFill>
                  <a:srgbClr val="15242b"/>
                </a:solidFill>
                <a:latin typeface="Arial"/>
              </a:rPr>
              <a:t>field by </a:t>
            </a:r>
            <a:r>
              <a:rPr b="1" lang="en-US" sz="2500" spc="-1" strike="noStrike">
                <a:solidFill>
                  <a:srgbClr val="15242b"/>
                </a:solidFill>
                <a:latin typeface="Arial"/>
              </a:rPr>
              <a:t>field</a:t>
            </a:r>
            <a:endParaRPr b="0" lang="en-US" sz="25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2" name="TextBox 3"/>
          <p:cNvSpPr/>
          <p:nvPr/>
        </p:nvSpPr>
        <p:spPr>
          <a:xfrm>
            <a:off x="225720" y="873360"/>
            <a:ext cx="1174068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50" spc="-1" strike="noStrike">
                <a:solidFill>
                  <a:srgbClr val="006b83"/>
                </a:solidFill>
                <a:latin typeface="Arial"/>
              </a:rPr>
              <a:t>One 50-byte header, then four segments (VH, H, M, L) of variable-length entries packed back to back; all values little-endian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483" name="TextBox 4"/>
          <p:cNvSpPr/>
          <p:nvPr/>
        </p:nvSpPr>
        <p:spPr>
          <a:xfrm>
            <a:off x="274320" y="1244520"/>
            <a:ext cx="5668920" cy="14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90000"/>
              </a:lnSpc>
              <a:buNone/>
            </a:pPr>
            <a:r>
              <a:rPr b="1" lang="en-US" sz="1050" spc="-1" strike="noStrike">
                <a:solidFill>
                  <a:srgbClr val="006b83"/>
                </a:solidFill>
                <a:latin typeface="Arial"/>
              </a:rPr>
              <a:t>HEADER  ·  50 bytes  ·  offset 0</a:t>
            </a:r>
            <a:endParaRPr b="0" lang="en-IN" sz="1050" spc="-1" strike="noStrike">
              <a:latin typeface="Arial"/>
            </a:endParaRPr>
          </a:p>
        </p:txBody>
      </p:sp>
      <p:graphicFrame>
        <p:nvGraphicFramePr>
          <p:cNvPr id="484" name="Table 5"/>
          <p:cNvGraphicFramePr/>
          <p:nvPr/>
        </p:nvGraphicFramePr>
        <p:xfrm>
          <a:off x="274320" y="1481400"/>
          <a:ext cx="5705640" cy="3616200"/>
        </p:xfrm>
        <a:graphic>
          <a:graphicData uri="http://schemas.openxmlformats.org/drawingml/2006/table">
            <a:tbl>
              <a:tblPr/>
              <a:tblGrid>
                <a:gridCol w="502920"/>
                <a:gridCol w="502920"/>
                <a:gridCol w="1481040"/>
                <a:gridCol w="3218760"/>
              </a:tblGrid>
              <a:tr h="255960"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9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Off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6b83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9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Size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6b83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9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Field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6b83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9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Value / meaning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6b83"/>
                    </a:solidFill>
                  </a:tcPr>
                </a:tc>
              </a:tr>
              <a:tr h="223920"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0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4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magic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“</a:t>
                      </a:r>
                      <a:r>
                        <a:rPr b="0" lang="en-US" sz="90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XLUT” — file identifier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23920"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4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1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version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1 — format revision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5f6"/>
                    </a:solidFill>
                  </a:tcPr>
                </a:tc>
              </a:tr>
              <a:tr h="223920"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5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1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flags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0 — reserved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23920"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6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2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subframe_size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1280 — fixed; the 1362 B variant is ruled out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5f6"/>
                    </a:solidFill>
                  </a:tcPr>
                </a:tc>
              </a:tr>
              <a:tr h="223920"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8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2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seg VH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400 B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23920"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10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2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seg H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400 B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5f6"/>
                    </a:solidFill>
                  </a:tcPr>
                </a:tc>
              </a:tr>
              <a:tr h="223920"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12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2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seg M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300 B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23920"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14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2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seg L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175 B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5f6"/>
                    </a:solidFill>
                  </a:tcPr>
                </a:tc>
              </a:tr>
              <a:tr h="223920"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16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1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reserved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5 — bytes 1275–1279, transmitted as zero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23920"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17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1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pad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0 — alignment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5f6"/>
                    </a:solidFill>
                  </a:tcPr>
                </a:tc>
              </a:tr>
              <a:tr h="223920"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18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2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T_sf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1000 ms — subframe period (legacy 0 reads as 1000)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23920"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20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8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entry counts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u16 × 4 — entries in VH, H, M, L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5f6"/>
                    </a:solidFill>
                  </a:tcPr>
                </a:tc>
              </a:tr>
              <a:tr h="223920"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28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16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segment offsets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u32 × 4 — absolute file offsets, direct seek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23920"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44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4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file length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total bytes — integrity check with the CRC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5f6"/>
                    </a:solidFill>
                  </a:tcPr>
                </a:tc>
              </a:tr>
              <a:tr h="225360"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48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2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CRC-16-CCITT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poly 0x1021, init 0xFFFF, whole file with this field zeroed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85" name="TextBox 6"/>
          <p:cNvSpPr/>
          <p:nvPr/>
        </p:nvSpPr>
        <p:spPr>
          <a:xfrm>
            <a:off x="6208920" y="1244520"/>
            <a:ext cx="5668920" cy="14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90000"/>
              </a:lnSpc>
              <a:buNone/>
            </a:pPr>
            <a:r>
              <a:rPr b="1" lang="en-US" sz="1050" spc="-1" strike="noStrike">
                <a:solidFill>
                  <a:srgbClr val="006b83"/>
                </a:solidFill>
                <a:latin typeface="Arial"/>
              </a:rPr>
              <a:t>ENTRY  ·  variable length  ·  repeated per segment</a:t>
            </a:r>
            <a:endParaRPr b="0" lang="en-IN" sz="1050" spc="-1" strike="noStrike">
              <a:latin typeface="Arial"/>
            </a:endParaRPr>
          </a:p>
        </p:txBody>
      </p:sp>
      <p:graphicFrame>
        <p:nvGraphicFramePr>
          <p:cNvPr id="486" name="Table 7"/>
          <p:cNvGraphicFramePr/>
          <p:nvPr/>
        </p:nvGraphicFramePr>
        <p:xfrm>
          <a:off x="6208920" y="1481400"/>
          <a:ext cx="5705640" cy="2048040"/>
        </p:xfrm>
        <a:graphic>
          <a:graphicData uri="http://schemas.openxmlformats.org/drawingml/2006/table">
            <a:tbl>
              <a:tblPr/>
              <a:tblGrid>
                <a:gridCol w="1206720"/>
                <a:gridCol w="640080"/>
                <a:gridCol w="3858840"/>
              </a:tblGrid>
              <a:tr h="255960"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9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Field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6b83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9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Size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6b83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9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Meaning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6b83"/>
                    </a:solidFill>
                  </a:tcPr>
                </a:tc>
              </a:tr>
              <a:tr h="223920"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sync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2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0xA55A — entry boundary marker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23920"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apid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1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hardware APID — ADCS 1 · EPS 3 · GPS 4 · Payload 5 · XLINK-S 6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5f6"/>
                    </a:solidFill>
                  </a:tcPr>
                </a:tc>
              </a:tr>
              <a:tr h="223920"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flags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1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reserved = 0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23920"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tc_len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2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length of the TC bytes that follow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5f6"/>
                    </a:solidFill>
                  </a:tcPr>
                </a:tc>
              </a:tr>
              <a:tr h="223920"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tc bytes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var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the complete native frame, replayed verbatim on the bus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23920"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tm_raw_len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2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raw response payload length, per the database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5f6"/>
                    </a:solidFill>
                  </a:tcPr>
                </a:tc>
              </a:tr>
              <a:tr h="223920"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pick_count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1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number of pick triplets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24640"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picks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6×n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0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the triplets below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5f6"/>
                    </a:solidFill>
                  </a:tcPr>
                </a:tc>
              </a:tr>
            </a:tbl>
          </a:graphicData>
        </a:graphic>
      </p:graphicFrame>
      <p:sp>
        <p:nvSpPr>
          <p:cNvPr id="487" name="TextBox 8"/>
          <p:cNvSpPr/>
          <p:nvPr/>
        </p:nvSpPr>
        <p:spPr>
          <a:xfrm>
            <a:off x="6208920" y="3621960"/>
            <a:ext cx="5668920" cy="14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90000"/>
              </a:lnSpc>
              <a:buNone/>
            </a:pPr>
            <a:r>
              <a:rPr b="1" lang="en-US" sz="1050" spc="-1" strike="noStrike">
                <a:solidFill>
                  <a:srgbClr val="006b83"/>
                </a:solidFill>
                <a:latin typeface="Arial"/>
              </a:rPr>
              <a:t>PICK TRIPLET  ·  6 bytes each</a:t>
            </a:r>
            <a:endParaRPr b="0" lang="en-IN" sz="1050" spc="-1" strike="noStrike">
              <a:latin typeface="Arial"/>
            </a:endParaRPr>
          </a:p>
        </p:txBody>
      </p:sp>
      <p:graphicFrame>
        <p:nvGraphicFramePr>
          <p:cNvPr id="488" name="Table 9"/>
          <p:cNvGraphicFramePr/>
          <p:nvPr/>
        </p:nvGraphicFramePr>
        <p:xfrm>
          <a:off x="6208920" y="3858840"/>
          <a:ext cx="5705640" cy="968760"/>
        </p:xfrm>
        <a:graphic>
          <a:graphicData uri="http://schemas.openxmlformats.org/drawingml/2006/table">
            <a:tbl>
              <a:tblPr/>
              <a:tblGrid>
                <a:gridCol w="1206720"/>
                <a:gridCol w="640080"/>
                <a:gridCol w="3858840"/>
              </a:tblGrid>
              <a:tr h="255960"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9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Field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6b83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9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Size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6b83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9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Meaning</a:t>
                      </a:r>
                      <a:endParaRPr b="0" lang="en-IN" sz="90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6b83"/>
                    </a:solidFill>
                  </a:tcPr>
                </a:tc>
              </a:tr>
              <a:tr h="237600"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src</a:t>
                      </a:r>
                      <a:endParaRPr b="0" lang="en-IN" sz="9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2</a:t>
                      </a:r>
                      <a:endParaRPr b="0" lang="en-IN" sz="9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byte offset in the raw response payload</a:t>
                      </a:r>
                      <a:endParaRPr b="0" lang="en-IN" sz="9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37600"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size</a:t>
                      </a:r>
                      <a:endParaRPr b="0" lang="en-IN" sz="9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2</a:t>
                      </a:r>
                      <a:endParaRPr b="0" lang="en-IN" sz="9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number of bytes to copy</a:t>
                      </a:r>
                      <a:endParaRPr b="0" lang="en-IN" sz="9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5f6"/>
                    </a:solidFill>
                  </a:tcPr>
                </a:tc>
              </a:tr>
              <a:tr h="237600"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block</a:t>
                      </a:r>
                      <a:endParaRPr b="0" lang="en-IN" sz="9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2</a:t>
                      </a:r>
                      <a:endParaRPr b="0" lang="en-IN" sz="9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destination offset inside the tier’s block (generator-assigned)</a:t>
                      </a:r>
                      <a:endParaRPr b="0" lang="en-IN" sz="9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89" name="Rounded Rectangle 10"/>
          <p:cNvSpPr/>
          <p:nvPr/>
        </p:nvSpPr>
        <p:spPr>
          <a:xfrm>
            <a:off x="6208920" y="4901040"/>
            <a:ext cx="5705640" cy="968760"/>
          </a:xfrm>
          <a:prstGeom prst="roundRect">
            <a:avLst>
              <a:gd name="adj" fmla="val 6000"/>
            </a:avLst>
          </a:prstGeom>
          <a:solidFill>
            <a:srgbClr val="e4f4f8"/>
          </a:solidFill>
          <a:ln w="12700">
            <a:solidFill>
              <a:srgbClr val="009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90" name="TextBox 11"/>
          <p:cNvSpPr/>
          <p:nvPr/>
        </p:nvSpPr>
        <p:spPr>
          <a:xfrm>
            <a:off x="6391800" y="5010840"/>
            <a:ext cx="5339880" cy="69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5000"/>
              </a:lnSpc>
              <a:buNone/>
            </a:pPr>
            <a:r>
              <a:rPr b="0" lang="en-US" sz="1050" spc="-1" strike="noStrike">
                <a:solidFill>
                  <a:srgbClr val="15242b"/>
                </a:solidFill>
                <a:latin typeface="Arial"/>
              </a:rPr>
              <a:t>The OBC’s entire runtime job per pick is  </a:t>
            </a:r>
            <a:r>
              <a:rPr b="1" lang="en-US" sz="1000" spc="-1" strike="noStrike">
                <a:solidFill>
                  <a:srgbClr val="006b83"/>
                </a:solidFill>
                <a:latin typeface="Consolas"/>
              </a:rPr>
              <a:t>memcpy(block + block_off, payload + src, size)</a:t>
            </a:r>
            <a:r>
              <a:rPr b="0" lang="en-US" sz="1050" spc="-1" strike="noStrike">
                <a:solidFill>
                  <a:srgbClr val="15242b"/>
                </a:solidFill>
                <a:latin typeface="Arial"/>
              </a:rPr>
              <a:t>  — zero interpretation.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5000"/>
              </a:lnSpc>
              <a:spcBef>
                <a:spcPts val="400"/>
              </a:spcBef>
              <a:buNone/>
            </a:pPr>
            <a:r>
              <a:rPr b="0" lang="en-US" sz="950" spc="-1" strike="noStrike">
                <a:solidFill>
                  <a:srgbClr val="5a6b73"/>
                </a:solidFill>
                <a:latin typeface="Arial"/>
              </a:rPr>
              <a:t>Adjacent or overlapping selections merge automatically, so eight flags packed in one byte cost exactly one byte.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491" name="TextBox 12"/>
          <p:cNvSpPr/>
          <p:nvPr/>
        </p:nvSpPr>
        <p:spPr>
          <a:xfrm>
            <a:off x="225720" y="6035040"/>
            <a:ext cx="11521080" cy="12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i="1" lang="en-US" sz="850" spc="-1" strike="noStrike">
                <a:solidFill>
                  <a:srgbClr val="8d9ba1"/>
                </a:solidFill>
                <a:latin typeface="Arial"/>
              </a:rPr>
              <a:t>Picks are stored by name in the ground-only JSON twin, so a database revision recomputes offsets instead of silently shifting bytes.</a:t>
            </a:r>
            <a:endParaRPr b="0" lang="en-IN" sz="8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PlaceHolder 1"/>
          <p:cNvSpPr>
            <a:spLocks noGrp="1"/>
          </p:cNvSpPr>
          <p:nvPr>
            <p:ph type="title"/>
          </p:nvPr>
        </p:nvSpPr>
        <p:spPr>
          <a:xfrm>
            <a:off x="225720" y="176760"/>
            <a:ext cx="11740320" cy="7318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500" spc="-1" strike="noStrike">
                <a:solidFill>
                  <a:srgbClr val="15242b"/>
                </a:solidFill>
                <a:latin typeface="Arial"/>
              </a:rPr>
              <a:t>Sub</a:t>
            </a:r>
            <a:r>
              <a:rPr b="1" lang="en-US" sz="2500" spc="-1" strike="noStrike">
                <a:solidFill>
                  <a:srgbClr val="15242b"/>
                </a:solidFill>
                <a:latin typeface="Arial"/>
              </a:rPr>
              <a:t>fra</a:t>
            </a:r>
            <a:r>
              <a:rPr b="1" lang="en-US" sz="2500" spc="-1" strike="noStrike">
                <a:solidFill>
                  <a:srgbClr val="15242b"/>
                </a:solidFill>
                <a:latin typeface="Arial"/>
              </a:rPr>
              <a:t>me </a:t>
            </a:r>
            <a:r>
              <a:rPr b="1" lang="en-US" sz="2500" spc="-1" strike="noStrike">
                <a:solidFill>
                  <a:srgbClr val="15242b"/>
                </a:solidFill>
                <a:latin typeface="Arial"/>
              </a:rPr>
              <a:t>and </a:t>
            </a:r>
            <a:r>
              <a:rPr b="1" lang="en-US" sz="2500" spc="-1" strike="noStrike">
                <a:solidFill>
                  <a:srgbClr val="15242b"/>
                </a:solidFill>
                <a:latin typeface="Arial"/>
              </a:rPr>
              <a:t>mas</a:t>
            </a:r>
            <a:r>
              <a:rPr b="1" lang="en-US" sz="2500" spc="-1" strike="noStrike">
                <a:solidFill>
                  <a:srgbClr val="15242b"/>
                </a:solidFill>
                <a:latin typeface="Arial"/>
              </a:rPr>
              <a:t>ter-</a:t>
            </a:r>
            <a:r>
              <a:rPr b="1" lang="en-US" sz="2500" spc="-1" strike="noStrike">
                <a:solidFill>
                  <a:srgbClr val="15242b"/>
                </a:solidFill>
                <a:latin typeface="Arial"/>
              </a:rPr>
              <a:t>fra</a:t>
            </a:r>
            <a:r>
              <a:rPr b="1" lang="en-US" sz="2500" spc="-1" strike="noStrike">
                <a:solidFill>
                  <a:srgbClr val="15242b"/>
                </a:solidFill>
                <a:latin typeface="Arial"/>
              </a:rPr>
              <a:t>me </a:t>
            </a:r>
            <a:r>
              <a:rPr b="1" lang="en-US" sz="2500" spc="-1" strike="noStrike">
                <a:solidFill>
                  <a:srgbClr val="15242b"/>
                </a:solidFill>
                <a:latin typeface="Arial"/>
              </a:rPr>
              <a:t>layo</a:t>
            </a:r>
            <a:r>
              <a:rPr b="1" lang="en-US" sz="2500" spc="-1" strike="noStrike">
                <a:solidFill>
                  <a:srgbClr val="15242b"/>
                </a:solidFill>
                <a:latin typeface="Arial"/>
              </a:rPr>
              <a:t>ut</a:t>
            </a:r>
            <a:endParaRPr b="0" lang="en-US" sz="25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3" name="TextBox 3"/>
          <p:cNvSpPr/>
          <p:nvPr/>
        </p:nvSpPr>
        <p:spPr>
          <a:xfrm>
            <a:off x="225720" y="873360"/>
            <a:ext cx="1174068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50" spc="-1" strike="noStrike">
                <a:solidFill>
                  <a:srgbClr val="006b83"/>
                </a:solidFill>
                <a:latin typeface="Arial"/>
              </a:rPr>
              <a:t>Every subframe carries all four tiers at fixed offsets; the tiers differ only in how many subframes a block spans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494" name="TextBox 4"/>
          <p:cNvSpPr/>
          <p:nvPr/>
        </p:nvSpPr>
        <p:spPr>
          <a:xfrm>
            <a:off x="274320" y="1207800"/>
            <a:ext cx="7314840" cy="14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90000"/>
              </a:lnSpc>
              <a:buNone/>
            </a:pPr>
            <a:r>
              <a:rPr b="1" lang="en-US" sz="1050" spc="-1" strike="noStrike">
                <a:solidFill>
                  <a:srgbClr val="006b83"/>
                </a:solidFill>
                <a:latin typeface="Arial"/>
              </a:rPr>
              <a:t>ONE SUBFRAME  ·  1280 bytes  ·  transmitted once per second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495" name="Rectangle 5"/>
          <p:cNvSpPr/>
          <p:nvPr/>
        </p:nvSpPr>
        <p:spPr>
          <a:xfrm>
            <a:off x="274320" y="1444680"/>
            <a:ext cx="3588840" cy="731160"/>
          </a:xfrm>
          <a:prstGeom prst="rect">
            <a:avLst/>
          </a:prstGeom>
          <a:solidFill>
            <a:srgbClr val="c7e7ef"/>
          </a:solidFill>
          <a:ln w="13970">
            <a:solidFill>
              <a:srgbClr val="006b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96" name="TextBox 6"/>
          <p:cNvSpPr/>
          <p:nvPr/>
        </p:nvSpPr>
        <p:spPr>
          <a:xfrm>
            <a:off x="311040" y="1592640"/>
            <a:ext cx="3515400" cy="43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90000"/>
              </a:lnSpc>
              <a:buNone/>
            </a:pPr>
            <a:r>
              <a:rPr b="1" lang="en-US" sz="1050" spc="-1" strike="noStrike">
                <a:solidFill>
                  <a:srgbClr val="15242b"/>
                </a:solidFill>
                <a:latin typeface="Arial"/>
              </a:rPr>
              <a:t>VERY HIGH</a:t>
            </a:r>
            <a:endParaRPr b="0" lang="en-IN" sz="1050" spc="-1" strike="noStrike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201"/>
              </a:spcBef>
              <a:buNone/>
            </a:pPr>
            <a:r>
              <a:rPr b="0" lang="en-US" sz="850" spc="-1" strike="noStrike">
                <a:solidFill>
                  <a:srgbClr val="5a6b73"/>
                </a:solidFill>
                <a:latin typeface="Consolas"/>
              </a:rPr>
              <a:t>bytes 0 – 399</a:t>
            </a:r>
            <a:endParaRPr b="0" lang="en-IN" sz="850" spc="-1" strike="noStrike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201"/>
              </a:spcBef>
              <a:buNone/>
            </a:pPr>
            <a:r>
              <a:rPr b="1" lang="en-US" sz="900" spc="-1" strike="noStrike">
                <a:solidFill>
                  <a:srgbClr val="006b83"/>
                </a:solidFill>
                <a:latin typeface="Arial"/>
              </a:rPr>
              <a:t>400 B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497" name="Rectangle 7"/>
          <p:cNvSpPr/>
          <p:nvPr/>
        </p:nvSpPr>
        <p:spPr>
          <a:xfrm>
            <a:off x="3863160" y="1444680"/>
            <a:ext cx="3588840" cy="731160"/>
          </a:xfrm>
          <a:prstGeom prst="rect">
            <a:avLst/>
          </a:prstGeom>
          <a:solidFill>
            <a:srgbClr val="d7eef4"/>
          </a:solidFill>
          <a:ln w="13970">
            <a:solidFill>
              <a:srgbClr val="009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98" name="TextBox 8"/>
          <p:cNvSpPr/>
          <p:nvPr/>
        </p:nvSpPr>
        <p:spPr>
          <a:xfrm>
            <a:off x="3899880" y="1592640"/>
            <a:ext cx="3515400" cy="43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90000"/>
              </a:lnSpc>
              <a:buNone/>
            </a:pPr>
            <a:r>
              <a:rPr b="1" lang="en-US" sz="1050" spc="-1" strike="noStrike">
                <a:solidFill>
                  <a:srgbClr val="15242b"/>
                </a:solidFill>
                <a:latin typeface="Arial"/>
              </a:rPr>
              <a:t>HIGH</a:t>
            </a:r>
            <a:endParaRPr b="0" lang="en-IN" sz="1050" spc="-1" strike="noStrike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201"/>
              </a:spcBef>
              <a:buNone/>
            </a:pPr>
            <a:r>
              <a:rPr b="0" lang="en-US" sz="850" spc="-1" strike="noStrike">
                <a:solidFill>
                  <a:srgbClr val="5a6b73"/>
                </a:solidFill>
                <a:latin typeface="Consolas"/>
              </a:rPr>
              <a:t>bytes 400 – 799</a:t>
            </a:r>
            <a:endParaRPr b="0" lang="en-IN" sz="850" spc="-1" strike="noStrike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201"/>
              </a:spcBef>
              <a:buNone/>
            </a:pPr>
            <a:r>
              <a:rPr b="1" lang="en-US" sz="900" spc="-1" strike="noStrike">
                <a:solidFill>
                  <a:srgbClr val="006b83"/>
                </a:solidFill>
                <a:latin typeface="Arial"/>
              </a:rPr>
              <a:t>400 B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499" name="Rectangle 9"/>
          <p:cNvSpPr/>
          <p:nvPr/>
        </p:nvSpPr>
        <p:spPr>
          <a:xfrm>
            <a:off x="7452360" y="1444680"/>
            <a:ext cx="2690640" cy="731160"/>
          </a:xfrm>
          <a:prstGeom prst="rect">
            <a:avLst/>
          </a:prstGeom>
          <a:solidFill>
            <a:srgbClr val="e5f4f8"/>
          </a:solidFill>
          <a:ln w="13970">
            <a:solidFill>
              <a:srgbClr val="009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00" name="TextBox 10"/>
          <p:cNvSpPr/>
          <p:nvPr/>
        </p:nvSpPr>
        <p:spPr>
          <a:xfrm>
            <a:off x="7489080" y="1592640"/>
            <a:ext cx="2617560" cy="43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90000"/>
              </a:lnSpc>
              <a:buNone/>
            </a:pPr>
            <a:r>
              <a:rPr b="1" lang="en-US" sz="1050" spc="-1" strike="noStrike">
                <a:solidFill>
                  <a:srgbClr val="15242b"/>
                </a:solidFill>
                <a:latin typeface="Arial"/>
              </a:rPr>
              <a:t>MEDIUM</a:t>
            </a:r>
            <a:endParaRPr b="0" lang="en-IN" sz="1050" spc="-1" strike="noStrike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201"/>
              </a:spcBef>
              <a:buNone/>
            </a:pPr>
            <a:r>
              <a:rPr b="0" lang="en-US" sz="850" spc="-1" strike="noStrike">
                <a:solidFill>
                  <a:srgbClr val="5a6b73"/>
                </a:solidFill>
                <a:latin typeface="Consolas"/>
              </a:rPr>
              <a:t>bytes 800 – 1099</a:t>
            </a:r>
            <a:endParaRPr b="0" lang="en-IN" sz="850" spc="-1" strike="noStrike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201"/>
              </a:spcBef>
              <a:buNone/>
            </a:pPr>
            <a:r>
              <a:rPr b="1" lang="en-US" sz="900" spc="-1" strike="noStrike">
                <a:solidFill>
                  <a:srgbClr val="006b83"/>
                </a:solidFill>
                <a:latin typeface="Arial"/>
              </a:rPr>
              <a:t>300 B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501" name="Rectangle 11"/>
          <p:cNvSpPr/>
          <p:nvPr/>
        </p:nvSpPr>
        <p:spPr>
          <a:xfrm>
            <a:off x="10143360" y="1444680"/>
            <a:ext cx="1569600" cy="731160"/>
          </a:xfrm>
          <a:prstGeom prst="rect">
            <a:avLst/>
          </a:prstGeom>
          <a:solidFill>
            <a:srgbClr val="f0f9fb"/>
          </a:solidFill>
          <a:ln w="13970">
            <a:solidFill>
              <a:srgbClr val="8d9b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02" name="TextBox 12"/>
          <p:cNvSpPr/>
          <p:nvPr/>
        </p:nvSpPr>
        <p:spPr>
          <a:xfrm>
            <a:off x="10180080" y="1592640"/>
            <a:ext cx="1496520" cy="43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90000"/>
              </a:lnSpc>
              <a:buNone/>
            </a:pPr>
            <a:r>
              <a:rPr b="1" lang="en-US" sz="1050" spc="-1" strike="noStrike">
                <a:solidFill>
                  <a:srgbClr val="15242b"/>
                </a:solidFill>
                <a:latin typeface="Arial"/>
              </a:rPr>
              <a:t>LOW</a:t>
            </a:r>
            <a:endParaRPr b="0" lang="en-IN" sz="1050" spc="-1" strike="noStrike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201"/>
              </a:spcBef>
              <a:buNone/>
            </a:pPr>
            <a:r>
              <a:rPr b="0" lang="en-US" sz="850" spc="-1" strike="noStrike">
                <a:solidFill>
                  <a:srgbClr val="5a6b73"/>
                </a:solidFill>
                <a:latin typeface="Consolas"/>
              </a:rPr>
              <a:t>bytes 1100 – 1274</a:t>
            </a:r>
            <a:endParaRPr b="0" lang="en-IN" sz="850" spc="-1" strike="noStrike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201"/>
              </a:spcBef>
              <a:buNone/>
            </a:pPr>
            <a:r>
              <a:rPr b="1" lang="en-US" sz="900" spc="-1" strike="noStrike">
                <a:solidFill>
                  <a:srgbClr val="006b83"/>
                </a:solidFill>
                <a:latin typeface="Arial"/>
              </a:rPr>
              <a:t>175 B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503" name="Rectangle 13"/>
          <p:cNvSpPr/>
          <p:nvPr/>
        </p:nvSpPr>
        <p:spPr>
          <a:xfrm>
            <a:off x="11713320" y="1444680"/>
            <a:ext cx="200880" cy="731160"/>
          </a:xfrm>
          <a:prstGeom prst="rect">
            <a:avLst/>
          </a:prstGeom>
          <a:solidFill>
            <a:srgbClr val="e8e8e8"/>
          </a:solidFill>
          <a:ln w="13970">
            <a:solidFill>
              <a:srgbClr val="8d9b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04" name="TextBox 14"/>
          <p:cNvSpPr/>
          <p:nvPr/>
        </p:nvSpPr>
        <p:spPr>
          <a:xfrm>
            <a:off x="11750040" y="1645920"/>
            <a:ext cx="127800" cy="32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90000"/>
              </a:lnSpc>
              <a:buNone/>
            </a:pPr>
            <a:r>
              <a:rPr b="1" lang="en-US" sz="800" spc="-1" strike="noStrike">
                <a:solidFill>
                  <a:srgbClr val="15242b"/>
                </a:solidFill>
                <a:latin typeface="Arial"/>
              </a:rPr>
              <a:t>RSV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505" name="TextBox 15"/>
          <p:cNvSpPr/>
          <p:nvPr/>
        </p:nvSpPr>
        <p:spPr>
          <a:xfrm>
            <a:off x="274320" y="2341800"/>
            <a:ext cx="8777880" cy="14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90000"/>
              </a:lnSpc>
              <a:buNone/>
            </a:pPr>
            <a:r>
              <a:rPr b="1" lang="en-US" sz="1050" spc="-1" strike="noStrike">
                <a:solidFill>
                  <a:srgbClr val="006b83"/>
                </a:solidFill>
                <a:latin typeface="Arial"/>
              </a:rPr>
              <a:t>ONE MASTER FRAME  ·  16 subframes  ·  16 seconds  ·  block boundaries are subframe-aligned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506" name="TextBox 16"/>
          <p:cNvSpPr/>
          <p:nvPr/>
        </p:nvSpPr>
        <p:spPr>
          <a:xfrm>
            <a:off x="1572840" y="2608560"/>
            <a:ext cx="645840" cy="12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800" spc="-1" strike="noStrike">
                <a:solidFill>
                  <a:srgbClr val="8d9ba1"/>
                </a:solidFill>
                <a:latin typeface="Arial"/>
              </a:rPr>
              <a:t>0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507" name="TextBox 17"/>
          <p:cNvSpPr/>
          <p:nvPr/>
        </p:nvSpPr>
        <p:spPr>
          <a:xfrm>
            <a:off x="2219040" y="2608560"/>
            <a:ext cx="645840" cy="12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800" spc="-1" strike="noStrike">
                <a:solidFill>
                  <a:srgbClr val="8d9ba1"/>
                </a:solidFill>
                <a:latin typeface="Arial"/>
              </a:rPr>
              <a:t>1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508" name="TextBox 18"/>
          <p:cNvSpPr/>
          <p:nvPr/>
        </p:nvSpPr>
        <p:spPr>
          <a:xfrm>
            <a:off x="2865600" y="2608560"/>
            <a:ext cx="645840" cy="12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800" spc="-1" strike="noStrike">
                <a:solidFill>
                  <a:srgbClr val="8d9ba1"/>
                </a:solidFill>
                <a:latin typeface="Arial"/>
              </a:rPr>
              <a:t>2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509" name="TextBox 19"/>
          <p:cNvSpPr/>
          <p:nvPr/>
        </p:nvSpPr>
        <p:spPr>
          <a:xfrm>
            <a:off x="3511800" y="2608560"/>
            <a:ext cx="645840" cy="12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800" spc="-1" strike="noStrike">
                <a:solidFill>
                  <a:srgbClr val="8d9ba1"/>
                </a:solidFill>
                <a:latin typeface="Arial"/>
              </a:rPr>
              <a:t>3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510" name="TextBox 20"/>
          <p:cNvSpPr/>
          <p:nvPr/>
        </p:nvSpPr>
        <p:spPr>
          <a:xfrm>
            <a:off x="4158360" y="2608560"/>
            <a:ext cx="645840" cy="12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800" spc="-1" strike="noStrike">
                <a:solidFill>
                  <a:srgbClr val="8d9ba1"/>
                </a:solidFill>
                <a:latin typeface="Arial"/>
              </a:rPr>
              <a:t>4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511" name="TextBox 21"/>
          <p:cNvSpPr/>
          <p:nvPr/>
        </p:nvSpPr>
        <p:spPr>
          <a:xfrm>
            <a:off x="4804560" y="2608560"/>
            <a:ext cx="645840" cy="12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800" spc="-1" strike="noStrike">
                <a:solidFill>
                  <a:srgbClr val="8d9ba1"/>
                </a:solidFill>
                <a:latin typeface="Arial"/>
              </a:rPr>
              <a:t>5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512" name="TextBox 22"/>
          <p:cNvSpPr/>
          <p:nvPr/>
        </p:nvSpPr>
        <p:spPr>
          <a:xfrm>
            <a:off x="5451120" y="2608560"/>
            <a:ext cx="645840" cy="12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800" spc="-1" strike="noStrike">
                <a:solidFill>
                  <a:srgbClr val="8d9ba1"/>
                </a:solidFill>
                <a:latin typeface="Arial"/>
              </a:rPr>
              <a:t>6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513" name="TextBox 23"/>
          <p:cNvSpPr/>
          <p:nvPr/>
        </p:nvSpPr>
        <p:spPr>
          <a:xfrm>
            <a:off x="6097320" y="2608560"/>
            <a:ext cx="645840" cy="12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800" spc="-1" strike="noStrike">
                <a:solidFill>
                  <a:srgbClr val="8d9ba1"/>
                </a:solidFill>
                <a:latin typeface="Arial"/>
              </a:rPr>
              <a:t>7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514" name="TextBox 24"/>
          <p:cNvSpPr/>
          <p:nvPr/>
        </p:nvSpPr>
        <p:spPr>
          <a:xfrm>
            <a:off x="6743880" y="2608560"/>
            <a:ext cx="645840" cy="12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800" spc="-1" strike="noStrike">
                <a:solidFill>
                  <a:srgbClr val="8d9ba1"/>
                </a:solidFill>
                <a:latin typeface="Arial"/>
              </a:rPr>
              <a:t>8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515" name="TextBox 25"/>
          <p:cNvSpPr/>
          <p:nvPr/>
        </p:nvSpPr>
        <p:spPr>
          <a:xfrm>
            <a:off x="7390080" y="2608560"/>
            <a:ext cx="645840" cy="12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800" spc="-1" strike="noStrike">
                <a:solidFill>
                  <a:srgbClr val="8d9ba1"/>
                </a:solidFill>
                <a:latin typeface="Arial"/>
              </a:rPr>
              <a:t>9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516" name="TextBox 26"/>
          <p:cNvSpPr/>
          <p:nvPr/>
        </p:nvSpPr>
        <p:spPr>
          <a:xfrm>
            <a:off x="8036280" y="2608560"/>
            <a:ext cx="645840" cy="12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800" spc="-1" strike="noStrike">
                <a:solidFill>
                  <a:srgbClr val="8d9ba1"/>
                </a:solidFill>
                <a:latin typeface="Arial"/>
              </a:rPr>
              <a:t>10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517" name="TextBox 27"/>
          <p:cNvSpPr/>
          <p:nvPr/>
        </p:nvSpPr>
        <p:spPr>
          <a:xfrm>
            <a:off x="8682840" y="2608560"/>
            <a:ext cx="645840" cy="12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800" spc="-1" strike="noStrike">
                <a:solidFill>
                  <a:srgbClr val="8d9ba1"/>
                </a:solidFill>
                <a:latin typeface="Arial"/>
              </a:rPr>
              <a:t>11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518" name="TextBox 28"/>
          <p:cNvSpPr/>
          <p:nvPr/>
        </p:nvSpPr>
        <p:spPr>
          <a:xfrm>
            <a:off x="9329040" y="2608560"/>
            <a:ext cx="645840" cy="12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800" spc="-1" strike="noStrike">
                <a:solidFill>
                  <a:srgbClr val="8d9ba1"/>
                </a:solidFill>
                <a:latin typeface="Arial"/>
              </a:rPr>
              <a:t>12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519" name="TextBox 29"/>
          <p:cNvSpPr/>
          <p:nvPr/>
        </p:nvSpPr>
        <p:spPr>
          <a:xfrm>
            <a:off x="9975600" y="2608560"/>
            <a:ext cx="645840" cy="12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800" spc="-1" strike="noStrike">
                <a:solidFill>
                  <a:srgbClr val="8d9ba1"/>
                </a:solidFill>
                <a:latin typeface="Arial"/>
              </a:rPr>
              <a:t>13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520" name="TextBox 30"/>
          <p:cNvSpPr/>
          <p:nvPr/>
        </p:nvSpPr>
        <p:spPr>
          <a:xfrm>
            <a:off x="10621800" y="2608560"/>
            <a:ext cx="645840" cy="12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800" spc="-1" strike="noStrike">
                <a:solidFill>
                  <a:srgbClr val="8d9ba1"/>
                </a:solidFill>
                <a:latin typeface="Arial"/>
              </a:rPr>
              <a:t>14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521" name="TextBox 31"/>
          <p:cNvSpPr/>
          <p:nvPr/>
        </p:nvSpPr>
        <p:spPr>
          <a:xfrm>
            <a:off x="11268360" y="2608560"/>
            <a:ext cx="645840" cy="12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800" spc="-1" strike="noStrike">
                <a:solidFill>
                  <a:srgbClr val="8d9ba1"/>
                </a:solidFill>
                <a:latin typeface="Arial"/>
              </a:rPr>
              <a:t>15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522" name="Rounded Rectangle 32"/>
          <p:cNvSpPr/>
          <p:nvPr/>
        </p:nvSpPr>
        <p:spPr>
          <a:xfrm>
            <a:off x="274320" y="2779920"/>
            <a:ext cx="1188360" cy="328680"/>
          </a:xfrm>
          <a:prstGeom prst="roundRect">
            <a:avLst>
              <a:gd name="adj" fmla="val 16000"/>
            </a:avLst>
          </a:prstGeom>
          <a:solidFill>
            <a:srgbClr val="006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23" name="TextBox 33"/>
          <p:cNvSpPr/>
          <p:nvPr/>
        </p:nvSpPr>
        <p:spPr>
          <a:xfrm>
            <a:off x="274320" y="2860200"/>
            <a:ext cx="118836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</a:rPr>
              <a:t>VH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524" name="Rectangle 34"/>
          <p:cNvSpPr/>
          <p:nvPr/>
        </p:nvSpPr>
        <p:spPr>
          <a:xfrm>
            <a:off x="1586520" y="2779920"/>
            <a:ext cx="618480" cy="328680"/>
          </a:xfrm>
          <a:prstGeom prst="rect">
            <a:avLst/>
          </a:prstGeom>
          <a:solidFill>
            <a:srgbClr val="c7e7ef"/>
          </a:solidFill>
          <a:ln w="12700">
            <a:solidFill>
              <a:srgbClr val="006b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25" name="TextBox 35"/>
          <p:cNvSpPr/>
          <p:nvPr/>
        </p:nvSpPr>
        <p:spPr>
          <a:xfrm>
            <a:off x="1591200" y="2886480"/>
            <a:ext cx="609480" cy="11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750" spc="-1" strike="noStrike">
                <a:solidFill>
                  <a:srgbClr val="15242b"/>
                </a:solidFill>
                <a:latin typeface="Arial"/>
              </a:rPr>
              <a:t>1</a:t>
            </a:r>
            <a:endParaRPr b="0" lang="en-IN" sz="750" spc="-1" strike="noStrike">
              <a:latin typeface="Arial"/>
            </a:endParaRPr>
          </a:p>
        </p:txBody>
      </p:sp>
      <p:sp>
        <p:nvSpPr>
          <p:cNvPr id="526" name="Rectangle 36"/>
          <p:cNvSpPr/>
          <p:nvPr/>
        </p:nvSpPr>
        <p:spPr>
          <a:xfrm>
            <a:off x="2232720" y="2779920"/>
            <a:ext cx="618480" cy="328680"/>
          </a:xfrm>
          <a:prstGeom prst="rect">
            <a:avLst/>
          </a:prstGeom>
          <a:solidFill>
            <a:srgbClr val="c7e7ef"/>
          </a:solidFill>
          <a:ln w="12700">
            <a:solidFill>
              <a:srgbClr val="006b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27" name="TextBox 37"/>
          <p:cNvSpPr/>
          <p:nvPr/>
        </p:nvSpPr>
        <p:spPr>
          <a:xfrm>
            <a:off x="2237400" y="2886480"/>
            <a:ext cx="609480" cy="11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750" spc="-1" strike="noStrike">
                <a:solidFill>
                  <a:srgbClr val="15242b"/>
                </a:solidFill>
                <a:latin typeface="Arial"/>
              </a:rPr>
              <a:t>2</a:t>
            </a:r>
            <a:endParaRPr b="0" lang="en-IN" sz="750" spc="-1" strike="noStrike">
              <a:latin typeface="Arial"/>
            </a:endParaRPr>
          </a:p>
        </p:txBody>
      </p:sp>
      <p:sp>
        <p:nvSpPr>
          <p:cNvPr id="528" name="Rectangle 38"/>
          <p:cNvSpPr/>
          <p:nvPr/>
        </p:nvSpPr>
        <p:spPr>
          <a:xfrm>
            <a:off x="2879280" y="2779920"/>
            <a:ext cx="618480" cy="328680"/>
          </a:xfrm>
          <a:prstGeom prst="rect">
            <a:avLst/>
          </a:prstGeom>
          <a:solidFill>
            <a:srgbClr val="c7e7ef"/>
          </a:solidFill>
          <a:ln w="12700">
            <a:solidFill>
              <a:srgbClr val="006b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29" name="TextBox 39"/>
          <p:cNvSpPr/>
          <p:nvPr/>
        </p:nvSpPr>
        <p:spPr>
          <a:xfrm>
            <a:off x="2883960" y="2886480"/>
            <a:ext cx="609480" cy="11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750" spc="-1" strike="noStrike">
                <a:solidFill>
                  <a:srgbClr val="15242b"/>
                </a:solidFill>
                <a:latin typeface="Arial"/>
              </a:rPr>
              <a:t>3</a:t>
            </a:r>
            <a:endParaRPr b="0" lang="en-IN" sz="750" spc="-1" strike="noStrike">
              <a:latin typeface="Arial"/>
            </a:endParaRPr>
          </a:p>
        </p:txBody>
      </p:sp>
      <p:sp>
        <p:nvSpPr>
          <p:cNvPr id="530" name="Rectangle 40"/>
          <p:cNvSpPr/>
          <p:nvPr/>
        </p:nvSpPr>
        <p:spPr>
          <a:xfrm>
            <a:off x="3525480" y="2779920"/>
            <a:ext cx="618480" cy="328680"/>
          </a:xfrm>
          <a:prstGeom prst="rect">
            <a:avLst/>
          </a:prstGeom>
          <a:solidFill>
            <a:srgbClr val="c7e7ef"/>
          </a:solidFill>
          <a:ln w="12700">
            <a:solidFill>
              <a:srgbClr val="006b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31" name="TextBox 41"/>
          <p:cNvSpPr/>
          <p:nvPr/>
        </p:nvSpPr>
        <p:spPr>
          <a:xfrm>
            <a:off x="3530160" y="2886480"/>
            <a:ext cx="609480" cy="11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750" spc="-1" strike="noStrike">
                <a:solidFill>
                  <a:srgbClr val="15242b"/>
                </a:solidFill>
                <a:latin typeface="Arial"/>
              </a:rPr>
              <a:t>4</a:t>
            </a:r>
            <a:endParaRPr b="0" lang="en-IN" sz="750" spc="-1" strike="noStrike">
              <a:latin typeface="Arial"/>
            </a:endParaRPr>
          </a:p>
        </p:txBody>
      </p:sp>
      <p:sp>
        <p:nvSpPr>
          <p:cNvPr id="532" name="Rectangle 42"/>
          <p:cNvSpPr/>
          <p:nvPr/>
        </p:nvSpPr>
        <p:spPr>
          <a:xfrm>
            <a:off x="4172040" y="2779920"/>
            <a:ext cx="618480" cy="328680"/>
          </a:xfrm>
          <a:prstGeom prst="rect">
            <a:avLst/>
          </a:prstGeom>
          <a:solidFill>
            <a:srgbClr val="c7e7ef"/>
          </a:solidFill>
          <a:ln w="12700">
            <a:solidFill>
              <a:srgbClr val="006b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33" name="TextBox 43"/>
          <p:cNvSpPr/>
          <p:nvPr/>
        </p:nvSpPr>
        <p:spPr>
          <a:xfrm>
            <a:off x="4176360" y="2886480"/>
            <a:ext cx="609480" cy="11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750" spc="-1" strike="noStrike">
                <a:solidFill>
                  <a:srgbClr val="15242b"/>
                </a:solidFill>
                <a:latin typeface="Arial"/>
              </a:rPr>
              <a:t>5</a:t>
            </a:r>
            <a:endParaRPr b="0" lang="en-IN" sz="750" spc="-1" strike="noStrike">
              <a:latin typeface="Arial"/>
            </a:endParaRPr>
          </a:p>
        </p:txBody>
      </p:sp>
      <p:sp>
        <p:nvSpPr>
          <p:cNvPr id="534" name="Rectangle 44"/>
          <p:cNvSpPr/>
          <p:nvPr/>
        </p:nvSpPr>
        <p:spPr>
          <a:xfrm>
            <a:off x="4818240" y="2779920"/>
            <a:ext cx="618480" cy="328680"/>
          </a:xfrm>
          <a:prstGeom prst="rect">
            <a:avLst/>
          </a:prstGeom>
          <a:solidFill>
            <a:srgbClr val="c7e7ef"/>
          </a:solidFill>
          <a:ln w="12700">
            <a:solidFill>
              <a:srgbClr val="006b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35" name="TextBox 45"/>
          <p:cNvSpPr/>
          <p:nvPr/>
        </p:nvSpPr>
        <p:spPr>
          <a:xfrm>
            <a:off x="4822920" y="2886480"/>
            <a:ext cx="609480" cy="11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750" spc="-1" strike="noStrike">
                <a:solidFill>
                  <a:srgbClr val="15242b"/>
                </a:solidFill>
                <a:latin typeface="Arial"/>
              </a:rPr>
              <a:t>6</a:t>
            </a:r>
            <a:endParaRPr b="0" lang="en-IN" sz="750" spc="-1" strike="noStrike">
              <a:latin typeface="Arial"/>
            </a:endParaRPr>
          </a:p>
        </p:txBody>
      </p:sp>
      <p:sp>
        <p:nvSpPr>
          <p:cNvPr id="536" name="Rectangle 46"/>
          <p:cNvSpPr/>
          <p:nvPr/>
        </p:nvSpPr>
        <p:spPr>
          <a:xfrm>
            <a:off x="5464800" y="2779920"/>
            <a:ext cx="618480" cy="328680"/>
          </a:xfrm>
          <a:prstGeom prst="rect">
            <a:avLst/>
          </a:prstGeom>
          <a:solidFill>
            <a:srgbClr val="c7e7ef"/>
          </a:solidFill>
          <a:ln w="12700">
            <a:solidFill>
              <a:srgbClr val="006b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37" name="TextBox 47"/>
          <p:cNvSpPr/>
          <p:nvPr/>
        </p:nvSpPr>
        <p:spPr>
          <a:xfrm>
            <a:off x="5469120" y="2886480"/>
            <a:ext cx="609480" cy="11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750" spc="-1" strike="noStrike">
                <a:solidFill>
                  <a:srgbClr val="15242b"/>
                </a:solidFill>
                <a:latin typeface="Arial"/>
              </a:rPr>
              <a:t>7</a:t>
            </a:r>
            <a:endParaRPr b="0" lang="en-IN" sz="750" spc="-1" strike="noStrike">
              <a:latin typeface="Arial"/>
            </a:endParaRPr>
          </a:p>
        </p:txBody>
      </p:sp>
      <p:sp>
        <p:nvSpPr>
          <p:cNvPr id="538" name="Rectangle 48"/>
          <p:cNvSpPr/>
          <p:nvPr/>
        </p:nvSpPr>
        <p:spPr>
          <a:xfrm>
            <a:off x="6111000" y="2779920"/>
            <a:ext cx="618480" cy="328680"/>
          </a:xfrm>
          <a:prstGeom prst="rect">
            <a:avLst/>
          </a:prstGeom>
          <a:solidFill>
            <a:srgbClr val="c7e7ef"/>
          </a:solidFill>
          <a:ln w="12700">
            <a:solidFill>
              <a:srgbClr val="006b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39" name="TextBox 49"/>
          <p:cNvSpPr/>
          <p:nvPr/>
        </p:nvSpPr>
        <p:spPr>
          <a:xfrm>
            <a:off x="6115680" y="2886480"/>
            <a:ext cx="609480" cy="11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750" spc="-1" strike="noStrike">
                <a:solidFill>
                  <a:srgbClr val="15242b"/>
                </a:solidFill>
                <a:latin typeface="Arial"/>
              </a:rPr>
              <a:t>8</a:t>
            </a:r>
            <a:endParaRPr b="0" lang="en-IN" sz="750" spc="-1" strike="noStrike">
              <a:latin typeface="Arial"/>
            </a:endParaRPr>
          </a:p>
        </p:txBody>
      </p:sp>
      <p:sp>
        <p:nvSpPr>
          <p:cNvPr id="540" name="Rectangle 50"/>
          <p:cNvSpPr/>
          <p:nvPr/>
        </p:nvSpPr>
        <p:spPr>
          <a:xfrm>
            <a:off x="6757560" y="2779920"/>
            <a:ext cx="618480" cy="328680"/>
          </a:xfrm>
          <a:prstGeom prst="rect">
            <a:avLst/>
          </a:prstGeom>
          <a:solidFill>
            <a:srgbClr val="c7e7ef"/>
          </a:solidFill>
          <a:ln w="12700">
            <a:solidFill>
              <a:srgbClr val="006b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41" name="TextBox 51"/>
          <p:cNvSpPr/>
          <p:nvPr/>
        </p:nvSpPr>
        <p:spPr>
          <a:xfrm>
            <a:off x="6761880" y="2886480"/>
            <a:ext cx="609480" cy="11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750" spc="-1" strike="noStrike">
                <a:solidFill>
                  <a:srgbClr val="15242b"/>
                </a:solidFill>
                <a:latin typeface="Arial"/>
              </a:rPr>
              <a:t>9</a:t>
            </a:r>
            <a:endParaRPr b="0" lang="en-IN" sz="750" spc="-1" strike="noStrike">
              <a:latin typeface="Arial"/>
            </a:endParaRPr>
          </a:p>
        </p:txBody>
      </p:sp>
      <p:sp>
        <p:nvSpPr>
          <p:cNvPr id="542" name="Rectangle 52"/>
          <p:cNvSpPr/>
          <p:nvPr/>
        </p:nvSpPr>
        <p:spPr>
          <a:xfrm>
            <a:off x="7403760" y="2779920"/>
            <a:ext cx="618480" cy="328680"/>
          </a:xfrm>
          <a:prstGeom prst="rect">
            <a:avLst/>
          </a:prstGeom>
          <a:solidFill>
            <a:srgbClr val="c7e7ef"/>
          </a:solidFill>
          <a:ln w="12700">
            <a:solidFill>
              <a:srgbClr val="006b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43" name="TextBox 53"/>
          <p:cNvSpPr/>
          <p:nvPr/>
        </p:nvSpPr>
        <p:spPr>
          <a:xfrm>
            <a:off x="7408440" y="2886480"/>
            <a:ext cx="609480" cy="11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750" spc="-1" strike="noStrike">
                <a:solidFill>
                  <a:srgbClr val="15242b"/>
                </a:solidFill>
                <a:latin typeface="Arial"/>
              </a:rPr>
              <a:t>10</a:t>
            </a:r>
            <a:endParaRPr b="0" lang="en-IN" sz="750" spc="-1" strike="noStrike">
              <a:latin typeface="Arial"/>
            </a:endParaRPr>
          </a:p>
        </p:txBody>
      </p:sp>
      <p:sp>
        <p:nvSpPr>
          <p:cNvPr id="544" name="Rectangle 54"/>
          <p:cNvSpPr/>
          <p:nvPr/>
        </p:nvSpPr>
        <p:spPr>
          <a:xfrm>
            <a:off x="8050320" y="2779920"/>
            <a:ext cx="618480" cy="328680"/>
          </a:xfrm>
          <a:prstGeom prst="rect">
            <a:avLst/>
          </a:prstGeom>
          <a:solidFill>
            <a:srgbClr val="c7e7ef"/>
          </a:solidFill>
          <a:ln w="12700">
            <a:solidFill>
              <a:srgbClr val="006b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45" name="TextBox 55"/>
          <p:cNvSpPr/>
          <p:nvPr/>
        </p:nvSpPr>
        <p:spPr>
          <a:xfrm>
            <a:off x="8054640" y="2886480"/>
            <a:ext cx="609480" cy="11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750" spc="-1" strike="noStrike">
                <a:solidFill>
                  <a:srgbClr val="15242b"/>
                </a:solidFill>
                <a:latin typeface="Arial"/>
              </a:rPr>
              <a:t>11</a:t>
            </a:r>
            <a:endParaRPr b="0" lang="en-IN" sz="750" spc="-1" strike="noStrike">
              <a:latin typeface="Arial"/>
            </a:endParaRPr>
          </a:p>
        </p:txBody>
      </p:sp>
      <p:sp>
        <p:nvSpPr>
          <p:cNvPr id="546" name="Rectangle 56"/>
          <p:cNvSpPr/>
          <p:nvPr/>
        </p:nvSpPr>
        <p:spPr>
          <a:xfrm>
            <a:off x="8696520" y="2779920"/>
            <a:ext cx="618480" cy="328680"/>
          </a:xfrm>
          <a:prstGeom prst="rect">
            <a:avLst/>
          </a:prstGeom>
          <a:solidFill>
            <a:srgbClr val="c7e7ef"/>
          </a:solidFill>
          <a:ln w="12700">
            <a:solidFill>
              <a:srgbClr val="006b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47" name="TextBox 57"/>
          <p:cNvSpPr/>
          <p:nvPr/>
        </p:nvSpPr>
        <p:spPr>
          <a:xfrm>
            <a:off x="8701200" y="2886480"/>
            <a:ext cx="609480" cy="11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750" spc="-1" strike="noStrike">
                <a:solidFill>
                  <a:srgbClr val="15242b"/>
                </a:solidFill>
                <a:latin typeface="Arial"/>
              </a:rPr>
              <a:t>12</a:t>
            </a:r>
            <a:endParaRPr b="0" lang="en-IN" sz="750" spc="-1" strike="noStrike">
              <a:latin typeface="Arial"/>
            </a:endParaRPr>
          </a:p>
        </p:txBody>
      </p:sp>
      <p:sp>
        <p:nvSpPr>
          <p:cNvPr id="548" name="Rectangle 58"/>
          <p:cNvSpPr/>
          <p:nvPr/>
        </p:nvSpPr>
        <p:spPr>
          <a:xfrm>
            <a:off x="9342720" y="2779920"/>
            <a:ext cx="618480" cy="328680"/>
          </a:xfrm>
          <a:prstGeom prst="rect">
            <a:avLst/>
          </a:prstGeom>
          <a:solidFill>
            <a:srgbClr val="c7e7ef"/>
          </a:solidFill>
          <a:ln w="12700">
            <a:solidFill>
              <a:srgbClr val="006b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49" name="TextBox 59"/>
          <p:cNvSpPr/>
          <p:nvPr/>
        </p:nvSpPr>
        <p:spPr>
          <a:xfrm>
            <a:off x="9347400" y="2886480"/>
            <a:ext cx="609480" cy="11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750" spc="-1" strike="noStrike">
                <a:solidFill>
                  <a:srgbClr val="15242b"/>
                </a:solidFill>
                <a:latin typeface="Arial"/>
              </a:rPr>
              <a:t>13</a:t>
            </a:r>
            <a:endParaRPr b="0" lang="en-IN" sz="750" spc="-1" strike="noStrike">
              <a:latin typeface="Arial"/>
            </a:endParaRPr>
          </a:p>
        </p:txBody>
      </p:sp>
      <p:sp>
        <p:nvSpPr>
          <p:cNvPr id="550" name="Rectangle 60"/>
          <p:cNvSpPr/>
          <p:nvPr/>
        </p:nvSpPr>
        <p:spPr>
          <a:xfrm>
            <a:off x="9989280" y="2779920"/>
            <a:ext cx="618480" cy="328680"/>
          </a:xfrm>
          <a:prstGeom prst="rect">
            <a:avLst/>
          </a:prstGeom>
          <a:solidFill>
            <a:srgbClr val="c7e7ef"/>
          </a:solidFill>
          <a:ln w="12700">
            <a:solidFill>
              <a:srgbClr val="006b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51" name="TextBox 61"/>
          <p:cNvSpPr/>
          <p:nvPr/>
        </p:nvSpPr>
        <p:spPr>
          <a:xfrm>
            <a:off x="9993960" y="2886480"/>
            <a:ext cx="609480" cy="11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750" spc="-1" strike="noStrike">
                <a:solidFill>
                  <a:srgbClr val="15242b"/>
                </a:solidFill>
                <a:latin typeface="Arial"/>
              </a:rPr>
              <a:t>14</a:t>
            </a:r>
            <a:endParaRPr b="0" lang="en-IN" sz="750" spc="-1" strike="noStrike">
              <a:latin typeface="Arial"/>
            </a:endParaRPr>
          </a:p>
        </p:txBody>
      </p:sp>
      <p:sp>
        <p:nvSpPr>
          <p:cNvPr id="552" name="Rectangle 62"/>
          <p:cNvSpPr/>
          <p:nvPr/>
        </p:nvSpPr>
        <p:spPr>
          <a:xfrm>
            <a:off x="10635480" y="2779920"/>
            <a:ext cx="618480" cy="328680"/>
          </a:xfrm>
          <a:prstGeom prst="rect">
            <a:avLst/>
          </a:prstGeom>
          <a:solidFill>
            <a:srgbClr val="c7e7ef"/>
          </a:solidFill>
          <a:ln w="12700">
            <a:solidFill>
              <a:srgbClr val="006b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53" name="TextBox 63"/>
          <p:cNvSpPr/>
          <p:nvPr/>
        </p:nvSpPr>
        <p:spPr>
          <a:xfrm>
            <a:off x="10640160" y="2886480"/>
            <a:ext cx="609480" cy="11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750" spc="-1" strike="noStrike">
                <a:solidFill>
                  <a:srgbClr val="15242b"/>
                </a:solidFill>
                <a:latin typeface="Arial"/>
              </a:rPr>
              <a:t>15</a:t>
            </a:r>
            <a:endParaRPr b="0" lang="en-IN" sz="750" spc="-1" strike="noStrike">
              <a:latin typeface="Arial"/>
            </a:endParaRPr>
          </a:p>
        </p:txBody>
      </p:sp>
      <p:sp>
        <p:nvSpPr>
          <p:cNvPr id="554" name="Rectangle 64"/>
          <p:cNvSpPr/>
          <p:nvPr/>
        </p:nvSpPr>
        <p:spPr>
          <a:xfrm>
            <a:off x="11282040" y="2779920"/>
            <a:ext cx="618480" cy="328680"/>
          </a:xfrm>
          <a:prstGeom prst="rect">
            <a:avLst/>
          </a:prstGeom>
          <a:solidFill>
            <a:srgbClr val="c7e7ef"/>
          </a:solidFill>
          <a:ln w="12700">
            <a:solidFill>
              <a:srgbClr val="006b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55" name="TextBox 65"/>
          <p:cNvSpPr/>
          <p:nvPr/>
        </p:nvSpPr>
        <p:spPr>
          <a:xfrm>
            <a:off x="11286720" y="2886480"/>
            <a:ext cx="609480" cy="11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750" spc="-1" strike="noStrike">
                <a:solidFill>
                  <a:srgbClr val="15242b"/>
                </a:solidFill>
                <a:latin typeface="Arial"/>
              </a:rPr>
              <a:t>16</a:t>
            </a:r>
            <a:endParaRPr b="0" lang="en-IN" sz="750" spc="-1" strike="noStrike">
              <a:latin typeface="Arial"/>
            </a:endParaRPr>
          </a:p>
        </p:txBody>
      </p:sp>
      <p:sp>
        <p:nvSpPr>
          <p:cNvPr id="556" name="Rounded Rectangle 66"/>
          <p:cNvSpPr/>
          <p:nvPr/>
        </p:nvSpPr>
        <p:spPr>
          <a:xfrm>
            <a:off x="274320" y="3182040"/>
            <a:ext cx="1188360" cy="328680"/>
          </a:xfrm>
          <a:prstGeom prst="roundRect">
            <a:avLst>
              <a:gd name="adj" fmla="val 16000"/>
            </a:avLst>
          </a:prstGeom>
          <a:solidFill>
            <a:srgbClr val="009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57" name="TextBox 67"/>
          <p:cNvSpPr/>
          <p:nvPr/>
        </p:nvSpPr>
        <p:spPr>
          <a:xfrm>
            <a:off x="274320" y="3262320"/>
            <a:ext cx="118836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</a:rPr>
              <a:t>H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558" name="Rectangle 68"/>
          <p:cNvSpPr/>
          <p:nvPr/>
        </p:nvSpPr>
        <p:spPr>
          <a:xfrm>
            <a:off x="1586520" y="3182040"/>
            <a:ext cx="1265040" cy="328680"/>
          </a:xfrm>
          <a:prstGeom prst="rect">
            <a:avLst/>
          </a:prstGeom>
          <a:solidFill>
            <a:srgbClr val="d7eef4"/>
          </a:solidFill>
          <a:ln w="12700">
            <a:solidFill>
              <a:srgbClr val="009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59" name="TextBox 69"/>
          <p:cNvSpPr/>
          <p:nvPr/>
        </p:nvSpPr>
        <p:spPr>
          <a:xfrm>
            <a:off x="1591200" y="3281040"/>
            <a:ext cx="1255680" cy="13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850" spc="-1" strike="noStrike">
                <a:solidFill>
                  <a:srgbClr val="15242b"/>
                </a:solidFill>
                <a:latin typeface="Arial"/>
              </a:rPr>
              <a:t>block 1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560" name="Rectangle 70"/>
          <p:cNvSpPr/>
          <p:nvPr/>
        </p:nvSpPr>
        <p:spPr>
          <a:xfrm>
            <a:off x="2879280" y="3182040"/>
            <a:ext cx="1265040" cy="328680"/>
          </a:xfrm>
          <a:prstGeom prst="rect">
            <a:avLst/>
          </a:prstGeom>
          <a:solidFill>
            <a:srgbClr val="d7eef4"/>
          </a:solidFill>
          <a:ln w="12700">
            <a:solidFill>
              <a:srgbClr val="009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61" name="TextBox 71"/>
          <p:cNvSpPr/>
          <p:nvPr/>
        </p:nvSpPr>
        <p:spPr>
          <a:xfrm>
            <a:off x="2883960" y="3281040"/>
            <a:ext cx="1255680" cy="13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850" spc="-1" strike="noStrike">
                <a:solidFill>
                  <a:srgbClr val="15242b"/>
                </a:solidFill>
                <a:latin typeface="Arial"/>
              </a:rPr>
              <a:t>block 2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562" name="Rectangle 72"/>
          <p:cNvSpPr/>
          <p:nvPr/>
        </p:nvSpPr>
        <p:spPr>
          <a:xfrm>
            <a:off x="4172040" y="3182040"/>
            <a:ext cx="1265040" cy="328680"/>
          </a:xfrm>
          <a:prstGeom prst="rect">
            <a:avLst/>
          </a:prstGeom>
          <a:solidFill>
            <a:srgbClr val="d7eef4"/>
          </a:solidFill>
          <a:ln w="12700">
            <a:solidFill>
              <a:srgbClr val="009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63" name="TextBox 73"/>
          <p:cNvSpPr/>
          <p:nvPr/>
        </p:nvSpPr>
        <p:spPr>
          <a:xfrm>
            <a:off x="4176360" y="3281040"/>
            <a:ext cx="1255680" cy="13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850" spc="-1" strike="noStrike">
                <a:solidFill>
                  <a:srgbClr val="15242b"/>
                </a:solidFill>
                <a:latin typeface="Arial"/>
              </a:rPr>
              <a:t>block 3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564" name="Rectangle 74"/>
          <p:cNvSpPr/>
          <p:nvPr/>
        </p:nvSpPr>
        <p:spPr>
          <a:xfrm>
            <a:off x="5464800" y="3182040"/>
            <a:ext cx="1265040" cy="328680"/>
          </a:xfrm>
          <a:prstGeom prst="rect">
            <a:avLst/>
          </a:prstGeom>
          <a:solidFill>
            <a:srgbClr val="d7eef4"/>
          </a:solidFill>
          <a:ln w="12700">
            <a:solidFill>
              <a:srgbClr val="009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65" name="TextBox 75"/>
          <p:cNvSpPr/>
          <p:nvPr/>
        </p:nvSpPr>
        <p:spPr>
          <a:xfrm>
            <a:off x="5469120" y="3281040"/>
            <a:ext cx="1255680" cy="13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850" spc="-1" strike="noStrike">
                <a:solidFill>
                  <a:srgbClr val="15242b"/>
                </a:solidFill>
                <a:latin typeface="Arial"/>
              </a:rPr>
              <a:t>block 4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566" name="Rectangle 76"/>
          <p:cNvSpPr/>
          <p:nvPr/>
        </p:nvSpPr>
        <p:spPr>
          <a:xfrm>
            <a:off x="6757560" y="3182040"/>
            <a:ext cx="1265040" cy="328680"/>
          </a:xfrm>
          <a:prstGeom prst="rect">
            <a:avLst/>
          </a:prstGeom>
          <a:solidFill>
            <a:srgbClr val="d7eef4"/>
          </a:solidFill>
          <a:ln w="12700">
            <a:solidFill>
              <a:srgbClr val="009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67" name="TextBox 77"/>
          <p:cNvSpPr/>
          <p:nvPr/>
        </p:nvSpPr>
        <p:spPr>
          <a:xfrm>
            <a:off x="6761880" y="3281040"/>
            <a:ext cx="1255680" cy="13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850" spc="-1" strike="noStrike">
                <a:solidFill>
                  <a:srgbClr val="15242b"/>
                </a:solidFill>
                <a:latin typeface="Arial"/>
              </a:rPr>
              <a:t>block 5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568" name="Rectangle 78"/>
          <p:cNvSpPr/>
          <p:nvPr/>
        </p:nvSpPr>
        <p:spPr>
          <a:xfrm>
            <a:off x="8050320" y="3182040"/>
            <a:ext cx="1265040" cy="328680"/>
          </a:xfrm>
          <a:prstGeom prst="rect">
            <a:avLst/>
          </a:prstGeom>
          <a:solidFill>
            <a:srgbClr val="d7eef4"/>
          </a:solidFill>
          <a:ln w="12700">
            <a:solidFill>
              <a:srgbClr val="009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69" name="TextBox 79"/>
          <p:cNvSpPr/>
          <p:nvPr/>
        </p:nvSpPr>
        <p:spPr>
          <a:xfrm>
            <a:off x="8054640" y="3281040"/>
            <a:ext cx="1255680" cy="13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850" spc="-1" strike="noStrike">
                <a:solidFill>
                  <a:srgbClr val="15242b"/>
                </a:solidFill>
                <a:latin typeface="Arial"/>
              </a:rPr>
              <a:t>block 6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570" name="Rectangle 80"/>
          <p:cNvSpPr/>
          <p:nvPr/>
        </p:nvSpPr>
        <p:spPr>
          <a:xfrm>
            <a:off x="9342720" y="3182040"/>
            <a:ext cx="1265040" cy="328680"/>
          </a:xfrm>
          <a:prstGeom prst="rect">
            <a:avLst/>
          </a:prstGeom>
          <a:solidFill>
            <a:srgbClr val="d7eef4"/>
          </a:solidFill>
          <a:ln w="12700">
            <a:solidFill>
              <a:srgbClr val="009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71" name="TextBox 81"/>
          <p:cNvSpPr/>
          <p:nvPr/>
        </p:nvSpPr>
        <p:spPr>
          <a:xfrm>
            <a:off x="9347400" y="3281040"/>
            <a:ext cx="1255680" cy="13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850" spc="-1" strike="noStrike">
                <a:solidFill>
                  <a:srgbClr val="15242b"/>
                </a:solidFill>
                <a:latin typeface="Arial"/>
              </a:rPr>
              <a:t>block 7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572" name="Rectangle 82"/>
          <p:cNvSpPr/>
          <p:nvPr/>
        </p:nvSpPr>
        <p:spPr>
          <a:xfrm>
            <a:off x="10635480" y="3182040"/>
            <a:ext cx="1265040" cy="328680"/>
          </a:xfrm>
          <a:prstGeom prst="rect">
            <a:avLst/>
          </a:prstGeom>
          <a:solidFill>
            <a:srgbClr val="d7eef4"/>
          </a:solidFill>
          <a:ln w="12700">
            <a:solidFill>
              <a:srgbClr val="009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73" name="TextBox 83"/>
          <p:cNvSpPr/>
          <p:nvPr/>
        </p:nvSpPr>
        <p:spPr>
          <a:xfrm>
            <a:off x="10640160" y="3281040"/>
            <a:ext cx="1255680" cy="13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850" spc="-1" strike="noStrike">
                <a:solidFill>
                  <a:srgbClr val="15242b"/>
                </a:solidFill>
                <a:latin typeface="Arial"/>
              </a:rPr>
              <a:t>block 8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574" name="Rounded Rectangle 84"/>
          <p:cNvSpPr/>
          <p:nvPr/>
        </p:nvSpPr>
        <p:spPr>
          <a:xfrm>
            <a:off x="274320" y="3584520"/>
            <a:ext cx="1188360" cy="328680"/>
          </a:xfrm>
          <a:prstGeom prst="roundRect">
            <a:avLst>
              <a:gd name="adj" fmla="val 16000"/>
            </a:avLst>
          </a:prstGeom>
          <a:solidFill>
            <a:srgbClr val="009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75" name="TextBox 85"/>
          <p:cNvSpPr/>
          <p:nvPr/>
        </p:nvSpPr>
        <p:spPr>
          <a:xfrm>
            <a:off x="274320" y="3664800"/>
            <a:ext cx="118836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</a:rPr>
              <a:t>M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576" name="Rectangle 86"/>
          <p:cNvSpPr/>
          <p:nvPr/>
        </p:nvSpPr>
        <p:spPr>
          <a:xfrm>
            <a:off x="1586520" y="3584520"/>
            <a:ext cx="2557800" cy="328680"/>
          </a:xfrm>
          <a:prstGeom prst="rect">
            <a:avLst/>
          </a:prstGeom>
          <a:solidFill>
            <a:srgbClr val="e5f4f8"/>
          </a:solidFill>
          <a:ln w="12700">
            <a:solidFill>
              <a:srgbClr val="009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77" name="TextBox 87"/>
          <p:cNvSpPr/>
          <p:nvPr/>
        </p:nvSpPr>
        <p:spPr>
          <a:xfrm>
            <a:off x="1591200" y="3683520"/>
            <a:ext cx="2548440" cy="13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850" spc="-1" strike="noStrike">
                <a:solidFill>
                  <a:srgbClr val="15242b"/>
                </a:solidFill>
                <a:latin typeface="Arial"/>
              </a:rPr>
              <a:t>block 1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578" name="Rectangle 88"/>
          <p:cNvSpPr/>
          <p:nvPr/>
        </p:nvSpPr>
        <p:spPr>
          <a:xfrm>
            <a:off x="4172040" y="3584520"/>
            <a:ext cx="2557800" cy="328680"/>
          </a:xfrm>
          <a:prstGeom prst="rect">
            <a:avLst/>
          </a:prstGeom>
          <a:solidFill>
            <a:srgbClr val="e5f4f8"/>
          </a:solidFill>
          <a:ln w="12700">
            <a:solidFill>
              <a:srgbClr val="009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79" name="TextBox 89"/>
          <p:cNvSpPr/>
          <p:nvPr/>
        </p:nvSpPr>
        <p:spPr>
          <a:xfrm>
            <a:off x="4176360" y="3683520"/>
            <a:ext cx="2548440" cy="13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850" spc="-1" strike="noStrike">
                <a:solidFill>
                  <a:srgbClr val="15242b"/>
                </a:solidFill>
                <a:latin typeface="Arial"/>
              </a:rPr>
              <a:t>block 2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580" name="Rectangle 90"/>
          <p:cNvSpPr/>
          <p:nvPr/>
        </p:nvSpPr>
        <p:spPr>
          <a:xfrm>
            <a:off x="6757560" y="3584520"/>
            <a:ext cx="2557800" cy="328680"/>
          </a:xfrm>
          <a:prstGeom prst="rect">
            <a:avLst/>
          </a:prstGeom>
          <a:solidFill>
            <a:srgbClr val="e5f4f8"/>
          </a:solidFill>
          <a:ln w="12700">
            <a:solidFill>
              <a:srgbClr val="009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81" name="TextBox 91"/>
          <p:cNvSpPr/>
          <p:nvPr/>
        </p:nvSpPr>
        <p:spPr>
          <a:xfrm>
            <a:off x="6761880" y="3683520"/>
            <a:ext cx="2548440" cy="13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850" spc="-1" strike="noStrike">
                <a:solidFill>
                  <a:srgbClr val="15242b"/>
                </a:solidFill>
                <a:latin typeface="Arial"/>
              </a:rPr>
              <a:t>block 3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582" name="Rectangle 92"/>
          <p:cNvSpPr/>
          <p:nvPr/>
        </p:nvSpPr>
        <p:spPr>
          <a:xfrm>
            <a:off x="9342720" y="3584520"/>
            <a:ext cx="2557800" cy="328680"/>
          </a:xfrm>
          <a:prstGeom prst="rect">
            <a:avLst/>
          </a:prstGeom>
          <a:solidFill>
            <a:srgbClr val="e5f4f8"/>
          </a:solidFill>
          <a:ln w="12700">
            <a:solidFill>
              <a:srgbClr val="009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83" name="TextBox 93"/>
          <p:cNvSpPr/>
          <p:nvPr/>
        </p:nvSpPr>
        <p:spPr>
          <a:xfrm>
            <a:off x="9347400" y="3683520"/>
            <a:ext cx="2548440" cy="13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850" spc="-1" strike="noStrike">
                <a:solidFill>
                  <a:srgbClr val="15242b"/>
                </a:solidFill>
                <a:latin typeface="Arial"/>
              </a:rPr>
              <a:t>block 4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584" name="Rounded Rectangle 94"/>
          <p:cNvSpPr/>
          <p:nvPr/>
        </p:nvSpPr>
        <p:spPr>
          <a:xfrm>
            <a:off x="274320" y="3986640"/>
            <a:ext cx="1188360" cy="328680"/>
          </a:xfrm>
          <a:prstGeom prst="roundRect">
            <a:avLst>
              <a:gd name="adj" fmla="val 16000"/>
            </a:avLst>
          </a:prstGeom>
          <a:solidFill>
            <a:srgbClr val="8d9b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85" name="TextBox 95"/>
          <p:cNvSpPr/>
          <p:nvPr/>
        </p:nvSpPr>
        <p:spPr>
          <a:xfrm>
            <a:off x="274320" y="4066920"/>
            <a:ext cx="118836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</a:rPr>
              <a:t>L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586" name="Rectangle 96"/>
          <p:cNvSpPr/>
          <p:nvPr/>
        </p:nvSpPr>
        <p:spPr>
          <a:xfrm>
            <a:off x="1586520" y="3986640"/>
            <a:ext cx="5143320" cy="328680"/>
          </a:xfrm>
          <a:prstGeom prst="rect">
            <a:avLst/>
          </a:prstGeom>
          <a:solidFill>
            <a:srgbClr val="f0f9fb"/>
          </a:solidFill>
          <a:ln w="12700">
            <a:solidFill>
              <a:srgbClr val="8d9b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87" name="TextBox 97"/>
          <p:cNvSpPr/>
          <p:nvPr/>
        </p:nvSpPr>
        <p:spPr>
          <a:xfrm>
            <a:off x="1591200" y="4085640"/>
            <a:ext cx="5133960" cy="13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850" spc="-1" strike="noStrike">
                <a:solidFill>
                  <a:srgbClr val="15242b"/>
                </a:solidFill>
                <a:latin typeface="Arial"/>
              </a:rPr>
              <a:t>block 1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588" name="Rectangle 98"/>
          <p:cNvSpPr/>
          <p:nvPr/>
        </p:nvSpPr>
        <p:spPr>
          <a:xfrm>
            <a:off x="6757560" y="3986640"/>
            <a:ext cx="5143320" cy="328680"/>
          </a:xfrm>
          <a:prstGeom prst="rect">
            <a:avLst/>
          </a:prstGeom>
          <a:solidFill>
            <a:srgbClr val="f0f9fb"/>
          </a:solidFill>
          <a:ln w="12700">
            <a:solidFill>
              <a:srgbClr val="8d9b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89" name="TextBox 99"/>
          <p:cNvSpPr/>
          <p:nvPr/>
        </p:nvSpPr>
        <p:spPr>
          <a:xfrm>
            <a:off x="6761880" y="4085640"/>
            <a:ext cx="5133960" cy="13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850" spc="-1" strike="noStrike">
                <a:solidFill>
                  <a:srgbClr val="15242b"/>
                </a:solidFill>
                <a:latin typeface="Arial"/>
              </a:rPr>
              <a:t>block 2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590" name="TextBox 100"/>
          <p:cNvSpPr/>
          <p:nvPr/>
        </p:nvSpPr>
        <p:spPr>
          <a:xfrm>
            <a:off x="274320" y="4473000"/>
            <a:ext cx="11639880" cy="12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90000"/>
              </a:lnSpc>
              <a:buNone/>
            </a:pPr>
            <a:r>
              <a:rPr b="0" lang="en-US" sz="900" spc="-1" strike="noStrike">
                <a:solidFill>
                  <a:srgbClr val="5a6b73"/>
                </a:solidFill>
                <a:latin typeface="Arial"/>
              </a:rPr>
              <a:t>A block holds unique data spread evenly across the subframes it spans — 20 400 bytes of unique telemetry per master frame, plus 16 × 5 reserved bytes</a:t>
            </a:r>
            <a:endParaRPr b="0" lang="en-IN" sz="900" spc="-1" strike="noStrike">
              <a:latin typeface="Arial"/>
            </a:endParaRPr>
          </a:p>
        </p:txBody>
      </p:sp>
      <p:graphicFrame>
        <p:nvGraphicFramePr>
          <p:cNvPr id="591" name="Table 101"/>
          <p:cNvGraphicFramePr/>
          <p:nvPr/>
        </p:nvGraphicFramePr>
        <p:xfrm>
          <a:off x="274320" y="4718160"/>
          <a:ext cx="11639880" cy="1316520"/>
        </p:xfrm>
        <a:graphic>
          <a:graphicData uri="http://schemas.openxmlformats.org/drawingml/2006/table">
            <a:tbl>
              <a:tblPr/>
              <a:tblGrid>
                <a:gridCol w="1170360"/>
                <a:gridCol w="1298160"/>
                <a:gridCol w="1810440"/>
                <a:gridCol w="1737360"/>
                <a:gridCol w="1783080"/>
                <a:gridCol w="1783080"/>
                <a:gridCol w="2057400"/>
              </a:tblGrid>
              <a:tr h="383760"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88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Tier</a:t>
                      </a:r>
                      <a:endParaRPr b="0" lang="en-IN" sz="88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6b83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88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Block span</a:t>
                      </a:r>
                      <a:endParaRPr b="0" lang="en-IN" sz="88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6b83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88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Unique data per block</a:t>
                      </a:r>
                      <a:endParaRPr b="0" lang="en-IN" sz="88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6b83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88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Blocks / master frame</a:t>
                      </a:r>
                      <a:endParaRPr b="0" lang="en-IN" sz="88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6b83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88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Unique / master frame</a:t>
                      </a:r>
                      <a:endParaRPr b="0" lang="en-IN" sz="88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6b83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88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Current classification</a:t>
                      </a:r>
                      <a:endParaRPr b="0" lang="en-IN" sz="88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6b83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88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Picked bytes per command</a:t>
                      </a:r>
                      <a:endParaRPr b="0" lang="en-IN" sz="88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6b83"/>
                    </a:solidFill>
                  </a:tcPr>
                </a:tc>
              </a:tr>
              <a:tr h="232920"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Very high</a:t>
                      </a:r>
                      <a:endParaRPr b="0" lang="en-IN" sz="9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1 subframe</a:t>
                      </a:r>
                      <a:endParaRPr b="0" lang="en-IN" sz="9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400 B</a:t>
                      </a:r>
                      <a:endParaRPr b="0" lang="en-IN" sz="9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16</a:t>
                      </a:r>
                      <a:endParaRPr b="0" lang="en-IN" sz="9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6 400 B</a:t>
                      </a:r>
                      <a:endParaRPr b="0" lang="en-IN" sz="9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27 commands</a:t>
                      </a:r>
                      <a:endParaRPr b="0" lang="en-IN" sz="9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≈ </a:t>
                      </a:r>
                      <a:r>
                        <a:rPr b="0" lang="en-US" sz="9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14.8 B  ← the tight tier</a:t>
                      </a:r>
                      <a:endParaRPr b="0" lang="en-IN" sz="9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32920"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High</a:t>
                      </a:r>
                      <a:endParaRPr b="0" lang="en-IN" sz="9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2 subframes</a:t>
                      </a:r>
                      <a:endParaRPr b="0" lang="en-IN" sz="9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800 B</a:t>
                      </a:r>
                      <a:endParaRPr b="0" lang="en-IN" sz="9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8</a:t>
                      </a:r>
                      <a:endParaRPr b="0" lang="en-IN" sz="9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6 400 B</a:t>
                      </a:r>
                      <a:endParaRPr b="0" lang="en-IN" sz="9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18 commands</a:t>
                      </a:r>
                      <a:endParaRPr b="0" lang="en-IN" sz="9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≈ </a:t>
                      </a:r>
                      <a:r>
                        <a:rPr b="0" lang="en-US" sz="9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44.4 B</a:t>
                      </a:r>
                      <a:endParaRPr b="0" lang="en-IN" sz="9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5f6"/>
                    </a:solidFill>
                  </a:tcPr>
                </a:tc>
              </a:tr>
              <a:tr h="232920"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Medium</a:t>
                      </a:r>
                      <a:endParaRPr b="0" lang="en-IN" sz="9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4 subframes</a:t>
                      </a:r>
                      <a:endParaRPr b="0" lang="en-IN" sz="9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1 200 B</a:t>
                      </a:r>
                      <a:endParaRPr b="0" lang="en-IN" sz="9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4</a:t>
                      </a:r>
                      <a:endParaRPr b="0" lang="en-IN" sz="9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4 800 B</a:t>
                      </a:r>
                      <a:endParaRPr b="0" lang="en-IN" sz="9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23 commands</a:t>
                      </a:r>
                      <a:endParaRPr b="0" lang="en-IN" sz="9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≈ </a:t>
                      </a:r>
                      <a:r>
                        <a:rPr b="0" lang="en-US" sz="9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52.2 B</a:t>
                      </a:r>
                      <a:endParaRPr b="0" lang="en-IN" sz="9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Low</a:t>
                      </a:r>
                      <a:endParaRPr b="0" lang="en-IN" sz="9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8 subframes</a:t>
                      </a:r>
                      <a:endParaRPr b="0" lang="en-IN" sz="9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1 400 B</a:t>
                      </a:r>
                      <a:endParaRPr b="0" lang="en-IN" sz="9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2</a:t>
                      </a:r>
                      <a:endParaRPr b="0" lang="en-IN" sz="9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2 800 B</a:t>
                      </a:r>
                      <a:endParaRPr b="0" lang="en-IN" sz="9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10 commands</a:t>
                      </a:r>
                      <a:endParaRPr b="0" lang="en-IN" sz="9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140 B</a:t>
                      </a:r>
                      <a:endParaRPr b="0" lang="en-IN" sz="9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5f6"/>
                    </a:solidFill>
                  </a:tcPr>
                </a:tc>
              </a:tr>
            </a:tbl>
          </a:graphicData>
        </a:graphic>
      </p:graphicFrame>
      <p:sp>
        <p:nvSpPr>
          <p:cNvPr id="592" name="TextBox 102"/>
          <p:cNvSpPr/>
          <p:nvPr/>
        </p:nvSpPr>
        <p:spPr>
          <a:xfrm>
            <a:off x="225720" y="6126480"/>
            <a:ext cx="11521080" cy="12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i="1" lang="en-US" sz="850" spc="-1" strike="noStrike">
                <a:solidFill>
                  <a:srgbClr val="8d9ba1"/>
                </a:solidFill>
                <a:latin typeface="Arial"/>
              </a:rPr>
              <a:t>A tier whose picked bytes exceed its budget is rejected at build time with the tier and the offending entry named; unfilled block bytes are zero-padded.</a:t>
            </a:r>
            <a:endParaRPr b="0" lang="en-IN" sz="8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PlaceHolder 1"/>
          <p:cNvSpPr>
            <a:spLocks noGrp="1"/>
          </p:cNvSpPr>
          <p:nvPr>
            <p:ph type="title"/>
          </p:nvPr>
        </p:nvSpPr>
        <p:spPr>
          <a:xfrm>
            <a:off x="225720" y="176760"/>
            <a:ext cx="11740320" cy="7318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500" spc="-1" strike="noStrike">
                <a:solidFill>
                  <a:srgbClr val="15242b"/>
                </a:solidFill>
                <a:latin typeface="Arial"/>
              </a:rPr>
              <a:t>Simulation environment and flight </a:t>
            </a:r>
            <a:r>
              <a:rPr b="1" lang="en-US" sz="2500" spc="-1" strike="noStrike">
                <a:solidFill>
                  <a:srgbClr val="15242b"/>
                </a:solidFill>
                <a:latin typeface="Arial"/>
              </a:rPr>
              <a:t>power model</a:t>
            </a:r>
            <a:endParaRPr b="0" lang="en-US" sz="25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94" name="TextBox 3"/>
          <p:cNvSpPr/>
          <p:nvPr/>
        </p:nvSpPr>
        <p:spPr>
          <a:xfrm>
            <a:off x="225720" y="873360"/>
            <a:ext cx="1174068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50" spc="-1" strike="noStrike">
                <a:solidFill>
                  <a:srgbClr val="006b83"/>
                </a:solidFill>
                <a:latin typeface="Arial"/>
              </a:rPr>
              <a:t>The simulators answer from live physical models, so the ground station is exercised against changing values rather than canned replies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595" name="TextBox 4"/>
          <p:cNvSpPr/>
          <p:nvPr/>
        </p:nvSpPr>
        <p:spPr>
          <a:xfrm>
            <a:off x="274320" y="1226160"/>
            <a:ext cx="5668920" cy="14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90000"/>
              </a:lnSpc>
              <a:buNone/>
            </a:pPr>
            <a:r>
              <a:rPr b="1" lang="en-US" sz="1050" spc="-1" strike="noStrike">
                <a:solidFill>
                  <a:srgbClr val="006b83"/>
                </a:solidFill>
                <a:latin typeface="Arial"/>
              </a:rPr>
              <a:t>SUBSYSTEM SIMULATORS  ·  one process each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596" name="Rounded Rectangle 5"/>
          <p:cNvSpPr/>
          <p:nvPr/>
        </p:nvSpPr>
        <p:spPr>
          <a:xfrm>
            <a:off x="274320" y="1463040"/>
            <a:ext cx="5668920" cy="1023840"/>
          </a:xfrm>
          <a:prstGeom prst="roundRect">
            <a:avLst>
              <a:gd name="adj" fmla="val 6000"/>
            </a:avLst>
          </a:prstGeom>
          <a:solidFill>
            <a:srgbClr val="f2f5f6"/>
          </a:solidFill>
          <a:ln w="12700">
            <a:solidFill>
              <a:srgbClr val="c2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97" name="Rectangle 6"/>
          <p:cNvSpPr/>
          <p:nvPr/>
        </p:nvSpPr>
        <p:spPr>
          <a:xfrm>
            <a:off x="274320" y="1463040"/>
            <a:ext cx="50040" cy="1023840"/>
          </a:xfrm>
          <a:prstGeom prst="rect">
            <a:avLst/>
          </a:prstGeom>
          <a:solidFill>
            <a:srgbClr val="009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98" name="TextBox 7"/>
          <p:cNvSpPr/>
          <p:nvPr/>
        </p:nvSpPr>
        <p:spPr>
          <a:xfrm>
            <a:off x="475560" y="1572840"/>
            <a:ext cx="534888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15242b"/>
                </a:solidFill>
                <a:latin typeface="Arial"/>
              </a:rPr>
              <a:t>EPS engine   </a:t>
            </a:r>
            <a:r>
              <a:rPr b="0" lang="en-US" sz="900" spc="-1" strike="noStrike">
                <a:solidFill>
                  <a:srgbClr val="006b83"/>
                </a:solidFill>
                <a:latin typeface="Consolas"/>
              </a:rPr>
              <a:t>xdos_eps_sim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599" name="TextBox 8"/>
          <p:cNvSpPr/>
          <p:nvPr/>
        </p:nvSpPr>
        <p:spPr>
          <a:xfrm>
            <a:off x="475560" y="1901880"/>
            <a:ext cx="5348880" cy="31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6000"/>
              </a:lnSpc>
              <a:buNone/>
            </a:pPr>
            <a:r>
              <a:rPr b="0" lang="en-US" sz="980" spc="-1" strike="noStrike">
                <a:solidFill>
                  <a:srgbClr val="5a6b73"/>
                </a:solidFill>
                <a:latin typeface="Arial"/>
              </a:rPr>
              <a:t>Propagates state of charge and battery voltage against the orbit — 3 300 s sunlit, 2 100 s eclipse — with the PDU channel mask setting the load.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600" name="Rounded Rectangle 9"/>
          <p:cNvSpPr/>
          <p:nvPr/>
        </p:nvSpPr>
        <p:spPr>
          <a:xfrm>
            <a:off x="274320" y="2597040"/>
            <a:ext cx="5668920" cy="1023840"/>
          </a:xfrm>
          <a:prstGeom prst="roundRect">
            <a:avLst>
              <a:gd name="adj" fmla="val 6000"/>
            </a:avLst>
          </a:prstGeom>
          <a:solidFill>
            <a:srgbClr val="f2f5f6"/>
          </a:solidFill>
          <a:ln w="12700">
            <a:solidFill>
              <a:srgbClr val="c2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01" name="Rectangle 10"/>
          <p:cNvSpPr/>
          <p:nvPr/>
        </p:nvSpPr>
        <p:spPr>
          <a:xfrm>
            <a:off x="274320" y="2597040"/>
            <a:ext cx="50040" cy="1023840"/>
          </a:xfrm>
          <a:prstGeom prst="rect">
            <a:avLst/>
          </a:prstGeom>
          <a:solidFill>
            <a:srgbClr val="009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02" name="TextBox 11"/>
          <p:cNvSpPr/>
          <p:nvPr/>
        </p:nvSpPr>
        <p:spPr>
          <a:xfrm>
            <a:off x="475560" y="2706480"/>
            <a:ext cx="534888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15242b"/>
                </a:solidFill>
                <a:latin typeface="Arial"/>
              </a:rPr>
              <a:t>ADCS engine   </a:t>
            </a:r>
            <a:r>
              <a:rPr b="0" lang="en-US" sz="900" spc="-1" strike="noStrike">
                <a:solidFill>
                  <a:srgbClr val="006b83"/>
                </a:solidFill>
                <a:latin typeface="Consolas"/>
              </a:rPr>
              <a:t>xdos_adcs_sim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603" name="TextBox 12"/>
          <p:cNvSpPr/>
          <p:nvPr/>
        </p:nvSpPr>
        <p:spPr>
          <a:xfrm>
            <a:off x="475560" y="3035880"/>
            <a:ext cx="5348880" cy="31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6000"/>
              </a:lnSpc>
              <a:buNone/>
            </a:pPr>
            <a:r>
              <a:rPr b="0" lang="en-US" sz="980" spc="-1" strike="noStrike">
                <a:solidFill>
                  <a:srgbClr val="5a6b73"/>
                </a:solidFill>
                <a:latin typeface="Arial"/>
              </a:rPr>
              <a:t>Propagates an attitude quaternion under a PD controller; set, get and act commands move the modelled body and the telemetry follows.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604" name="Rounded Rectangle 13"/>
          <p:cNvSpPr/>
          <p:nvPr/>
        </p:nvSpPr>
        <p:spPr>
          <a:xfrm>
            <a:off x="274320" y="3730680"/>
            <a:ext cx="5668920" cy="1023840"/>
          </a:xfrm>
          <a:prstGeom prst="roundRect">
            <a:avLst>
              <a:gd name="adj" fmla="val 6000"/>
            </a:avLst>
          </a:prstGeom>
          <a:solidFill>
            <a:srgbClr val="f2f5f6"/>
          </a:solidFill>
          <a:ln w="12700">
            <a:solidFill>
              <a:srgbClr val="c2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05" name="Rectangle 14"/>
          <p:cNvSpPr/>
          <p:nvPr/>
        </p:nvSpPr>
        <p:spPr>
          <a:xfrm>
            <a:off x="274320" y="3730680"/>
            <a:ext cx="50040" cy="1023840"/>
          </a:xfrm>
          <a:prstGeom prst="rect">
            <a:avLst/>
          </a:prstGeom>
          <a:solidFill>
            <a:srgbClr val="009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06" name="TextBox 15"/>
          <p:cNvSpPr/>
          <p:nvPr/>
        </p:nvSpPr>
        <p:spPr>
          <a:xfrm>
            <a:off x="475560" y="3840480"/>
            <a:ext cx="534888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15242b"/>
                </a:solidFill>
                <a:latin typeface="Arial"/>
              </a:rPr>
              <a:t>GPS engine   </a:t>
            </a:r>
            <a:r>
              <a:rPr b="0" lang="en-US" sz="900" spc="-1" strike="noStrike">
                <a:solidFill>
                  <a:srgbClr val="006b83"/>
                </a:solidFill>
                <a:latin typeface="Consolas"/>
              </a:rPr>
              <a:t>xdos_gps_sim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607" name="TextBox 16"/>
          <p:cNvSpPr/>
          <p:nvPr/>
        </p:nvSpPr>
        <p:spPr>
          <a:xfrm>
            <a:off x="475560" y="4169520"/>
            <a:ext cx="5348880" cy="31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6000"/>
              </a:lnSpc>
              <a:buNone/>
            </a:pPr>
            <a:r>
              <a:rPr b="0" lang="en-US" sz="980" spc="-1" strike="noStrike">
                <a:solidFill>
                  <a:srgbClr val="5a6b73"/>
                </a:solidFill>
                <a:latin typeface="Arial"/>
              </a:rPr>
              <a:t>A Keplerian orbit propagator behind the native message set; LOG commands return position, velocity and time as the receiver would.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608" name="Rounded Rectangle 17"/>
          <p:cNvSpPr/>
          <p:nvPr/>
        </p:nvSpPr>
        <p:spPr>
          <a:xfrm>
            <a:off x="274320" y="4864680"/>
            <a:ext cx="5668920" cy="1023840"/>
          </a:xfrm>
          <a:prstGeom prst="roundRect">
            <a:avLst>
              <a:gd name="adj" fmla="val 6000"/>
            </a:avLst>
          </a:prstGeom>
          <a:solidFill>
            <a:srgbClr val="f2f5f6"/>
          </a:solidFill>
          <a:ln w="12700">
            <a:solidFill>
              <a:srgbClr val="c2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09" name="Rectangle 18"/>
          <p:cNvSpPr/>
          <p:nvPr/>
        </p:nvSpPr>
        <p:spPr>
          <a:xfrm>
            <a:off x="274320" y="4864680"/>
            <a:ext cx="50040" cy="1023840"/>
          </a:xfrm>
          <a:prstGeom prst="rect">
            <a:avLst/>
          </a:prstGeom>
          <a:solidFill>
            <a:srgbClr val="009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10" name="TextBox 19"/>
          <p:cNvSpPr/>
          <p:nvPr/>
        </p:nvSpPr>
        <p:spPr>
          <a:xfrm>
            <a:off x="475560" y="4974480"/>
            <a:ext cx="534888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15242b"/>
                </a:solidFill>
                <a:latin typeface="Arial"/>
              </a:rPr>
              <a:t>Protocol responders   </a:t>
            </a:r>
            <a:r>
              <a:rPr b="0" lang="en-US" sz="900" spc="-1" strike="noStrike">
                <a:solidFill>
                  <a:srgbClr val="006b83"/>
                </a:solidFill>
                <a:latin typeface="Consolas"/>
              </a:rPr>
              <a:t>payload · xlink · uhf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611" name="TextBox 20"/>
          <p:cNvSpPr/>
          <p:nvPr/>
        </p:nvSpPr>
        <p:spPr>
          <a:xfrm>
            <a:off x="475560" y="5303520"/>
            <a:ext cx="5348880" cy="31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6000"/>
              </a:lnSpc>
              <a:buNone/>
            </a:pPr>
            <a:r>
              <a:rPr b="0" lang="en-US" sz="980" spc="-1" strike="noStrike">
                <a:solidFill>
                  <a:srgbClr val="5a6b73"/>
                </a:solidFill>
                <a:latin typeface="Arial"/>
              </a:rPr>
              <a:t>Structurally correct replies rather than physics: acknowledgement bytes, keyed S-band events and OpenLST transceiver responses.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612" name="TextBox 21"/>
          <p:cNvSpPr/>
          <p:nvPr/>
        </p:nvSpPr>
        <p:spPr>
          <a:xfrm>
            <a:off x="6245280" y="1226160"/>
            <a:ext cx="5668920" cy="14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90000"/>
              </a:lnSpc>
              <a:buNone/>
            </a:pPr>
            <a:r>
              <a:rPr b="1" lang="en-US" sz="1050" spc="-1" strike="noStrike">
                <a:solidFill>
                  <a:srgbClr val="6a5a9e"/>
                </a:solidFill>
                <a:latin typeface="Arial"/>
              </a:rPr>
              <a:t>FLIGHT POWER MODEL  ·  the OBC power FSM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613" name="Chevron 22"/>
          <p:cNvSpPr/>
          <p:nvPr/>
        </p:nvSpPr>
        <p:spPr>
          <a:xfrm>
            <a:off x="6245280" y="1463040"/>
            <a:ext cx="1481040" cy="456840"/>
          </a:xfrm>
          <a:prstGeom prst="chevron">
            <a:avLst>
              <a:gd name="adj" fmla="val 50000"/>
            </a:avLst>
          </a:prstGeom>
          <a:solidFill>
            <a:srgbClr val="6a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36720" bIns="36720" anchor="ctr">
            <a:noAutofit/>
          </a:bodyPr>
          <a:p>
            <a:pPr algn="ctr">
              <a:lnSpc>
                <a:spcPct val="90000"/>
              </a:lnSpc>
              <a:buNone/>
            </a:pPr>
            <a:r>
              <a:rPr b="1" lang="en-US" sz="950" spc="-1" strike="noStrike">
                <a:solidFill>
                  <a:srgbClr val="ffffff"/>
                </a:solidFill>
                <a:latin typeface="Arial"/>
              </a:rPr>
              <a:t>UNPOWERED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614" name="TextBox 23"/>
          <p:cNvSpPr/>
          <p:nvPr/>
        </p:nvSpPr>
        <p:spPr>
          <a:xfrm>
            <a:off x="6336720" y="1956960"/>
            <a:ext cx="132552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95000"/>
              </a:lnSpc>
              <a:buNone/>
            </a:pPr>
            <a:r>
              <a:rPr b="0" lang="en-US" sz="800" spc="-1" strike="noStrike">
                <a:solidFill>
                  <a:srgbClr val="5a6b73"/>
                </a:solidFill>
                <a:latin typeface="Arial"/>
              </a:rPr>
              <a:t>bridge drops</a:t>
            </a:r>
            <a:endParaRPr b="0" lang="en-IN" sz="800" spc="-1" strike="noStrike">
              <a:latin typeface="Arial"/>
            </a:endParaRPr>
          </a:p>
          <a:p>
            <a:pPr algn="ctr">
              <a:lnSpc>
                <a:spcPct val="95000"/>
              </a:lnSpc>
              <a:buNone/>
            </a:pPr>
            <a:r>
              <a:rPr b="0" lang="en-US" sz="800" spc="-1" strike="noStrike">
                <a:solidFill>
                  <a:srgbClr val="5a6b73"/>
                </a:solidFill>
                <a:latin typeface="Arial"/>
              </a:rPr>
              <a:t>every frame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615" name="Chevron 24"/>
          <p:cNvSpPr/>
          <p:nvPr/>
        </p:nvSpPr>
        <p:spPr>
          <a:xfrm>
            <a:off x="7598520" y="1463040"/>
            <a:ext cx="1481040" cy="456840"/>
          </a:xfrm>
          <a:prstGeom prst="chevron">
            <a:avLst>
              <a:gd name="adj" fmla="val 50000"/>
            </a:avLst>
          </a:prstGeom>
          <a:solidFill>
            <a:srgbClr val="6a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36720" bIns="36720" anchor="ctr">
            <a:noAutofit/>
          </a:bodyPr>
          <a:p>
            <a:pPr algn="ctr">
              <a:lnSpc>
                <a:spcPct val="90000"/>
              </a:lnSpc>
              <a:buNone/>
            </a:pPr>
            <a:r>
              <a:rPr b="1" lang="en-US" sz="950" spc="-1" strike="noStrike">
                <a:solidFill>
                  <a:srgbClr val="ffffff"/>
                </a:solidFill>
                <a:latin typeface="Arial"/>
              </a:rPr>
              <a:t>BOOTING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616" name="TextBox 25"/>
          <p:cNvSpPr/>
          <p:nvPr/>
        </p:nvSpPr>
        <p:spPr>
          <a:xfrm>
            <a:off x="7689960" y="1956960"/>
            <a:ext cx="132552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95000"/>
              </a:lnSpc>
              <a:buNone/>
            </a:pPr>
            <a:r>
              <a:rPr b="0" lang="en-US" sz="800" spc="-1" strike="noStrike">
                <a:solidFill>
                  <a:srgbClr val="5a6b73"/>
                </a:solidFill>
                <a:latin typeface="Arial"/>
              </a:rPr>
              <a:t>10 s boot,</a:t>
            </a:r>
            <a:endParaRPr b="0" lang="en-IN" sz="800" spc="-1" strike="noStrike">
              <a:latin typeface="Arial"/>
            </a:endParaRPr>
          </a:p>
          <a:p>
            <a:pPr algn="ctr">
              <a:lnSpc>
                <a:spcPct val="95000"/>
              </a:lnSpc>
              <a:buNone/>
            </a:pPr>
            <a:r>
              <a:rPr b="0" lang="en-US" sz="800" spc="-1" strike="noStrike">
                <a:solidFill>
                  <a:srgbClr val="5a6b73"/>
                </a:solidFill>
                <a:latin typeface="Arial"/>
              </a:rPr>
              <a:t>EGSE answers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617" name="Chevron 26"/>
          <p:cNvSpPr/>
          <p:nvPr/>
        </p:nvSpPr>
        <p:spPr>
          <a:xfrm>
            <a:off x="8952120" y="1463040"/>
            <a:ext cx="1481040" cy="456840"/>
          </a:xfrm>
          <a:prstGeom prst="chevron">
            <a:avLst>
              <a:gd name="adj" fmla="val 50000"/>
            </a:avLst>
          </a:prstGeom>
          <a:solidFill>
            <a:srgbClr val="6a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36720" bIns="36720" anchor="ctr">
            <a:noAutofit/>
          </a:bodyPr>
          <a:p>
            <a:pPr algn="ctr">
              <a:lnSpc>
                <a:spcPct val="90000"/>
              </a:lnSpc>
              <a:buNone/>
            </a:pPr>
            <a:r>
              <a:rPr b="1" lang="en-US" sz="950" spc="-1" strike="noStrike">
                <a:solidFill>
                  <a:srgbClr val="ffffff"/>
                </a:solidFill>
                <a:latin typeface="Arial"/>
              </a:rPr>
              <a:t>SEQUENCING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618" name="TextBox 27"/>
          <p:cNvSpPr/>
          <p:nvPr/>
        </p:nvSpPr>
        <p:spPr>
          <a:xfrm>
            <a:off x="9043560" y="1956960"/>
            <a:ext cx="132552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95000"/>
              </a:lnSpc>
              <a:buNone/>
            </a:pPr>
            <a:r>
              <a:rPr b="0" lang="en-US" sz="800" spc="-1" strike="noStrike">
                <a:solidFill>
                  <a:srgbClr val="5a6b73"/>
                </a:solidFill>
                <a:latin typeface="Arial"/>
              </a:rPr>
              <a:t>2 s stagger</a:t>
            </a:r>
            <a:endParaRPr b="0" lang="en-IN" sz="800" spc="-1" strike="noStrike">
              <a:latin typeface="Arial"/>
            </a:endParaRPr>
          </a:p>
          <a:p>
            <a:pPr algn="ctr">
              <a:lnSpc>
                <a:spcPct val="95000"/>
              </a:lnSpc>
              <a:buNone/>
            </a:pPr>
            <a:r>
              <a:rPr b="0" lang="en-US" sz="800" spc="-1" strike="noStrike">
                <a:solidFill>
                  <a:srgbClr val="5a6b73"/>
                </a:solidFill>
                <a:latin typeface="Arial"/>
              </a:rPr>
              <a:t>per subsystem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619" name="Chevron 28"/>
          <p:cNvSpPr/>
          <p:nvPr/>
        </p:nvSpPr>
        <p:spPr>
          <a:xfrm>
            <a:off x="10305360" y="1463040"/>
            <a:ext cx="1481040" cy="456840"/>
          </a:xfrm>
          <a:prstGeom prst="chevron">
            <a:avLst>
              <a:gd name="adj" fmla="val 50000"/>
            </a:avLst>
          </a:prstGeom>
          <a:solidFill>
            <a:srgbClr val="3f8f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36720" bIns="36720" anchor="ctr">
            <a:noAutofit/>
          </a:bodyPr>
          <a:p>
            <a:pPr algn="ctr">
              <a:lnSpc>
                <a:spcPct val="90000"/>
              </a:lnSpc>
              <a:buNone/>
            </a:pPr>
            <a:r>
              <a:rPr b="1" lang="en-US" sz="950" spc="-1" strike="noStrike">
                <a:solidFill>
                  <a:srgbClr val="ffffff"/>
                </a:solidFill>
                <a:latin typeface="Arial"/>
              </a:rPr>
              <a:t>ON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620" name="TextBox 29"/>
          <p:cNvSpPr/>
          <p:nvPr/>
        </p:nvSpPr>
        <p:spPr>
          <a:xfrm>
            <a:off x="10396800" y="1956960"/>
            <a:ext cx="132552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95000"/>
              </a:lnSpc>
              <a:buNone/>
            </a:pPr>
            <a:r>
              <a:rPr b="0" lang="en-US" sz="800" spc="-1" strike="noStrike">
                <a:solidFill>
                  <a:srgbClr val="5a6b73"/>
                </a:solidFill>
                <a:latin typeface="Arial"/>
              </a:rPr>
              <a:t>watches EPS,</a:t>
            </a:r>
            <a:endParaRPr b="0" lang="en-IN" sz="800" spc="-1" strike="noStrike">
              <a:latin typeface="Arial"/>
            </a:endParaRPr>
          </a:p>
          <a:p>
            <a:pPr algn="ctr">
              <a:lnSpc>
                <a:spcPct val="95000"/>
              </a:lnSpc>
              <a:buNone/>
            </a:pPr>
            <a:r>
              <a:rPr b="0" lang="en-US" sz="800" spc="-1" strike="noStrike">
                <a:solidFill>
                  <a:srgbClr val="5a6b73"/>
                </a:solidFill>
                <a:latin typeface="Arial"/>
              </a:rPr>
              <a:t>restores loads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621" name="Connector 30"/>
          <p:cNvSpPr/>
          <p:nvPr/>
        </p:nvSpPr>
        <p:spPr>
          <a:xfrm>
            <a:off x="11759040" y="1920240"/>
            <a:ext cx="360" cy="566640"/>
          </a:xfrm>
          <a:prstGeom prst="line">
            <a:avLst/>
          </a:prstGeom>
          <a:ln w="15875">
            <a:solidFill>
              <a:srgbClr val="8d9b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622" name="Connector 31"/>
          <p:cNvSpPr/>
          <p:nvPr/>
        </p:nvSpPr>
        <p:spPr>
          <a:xfrm flipH="1">
            <a:off x="6053040" y="2486880"/>
            <a:ext cx="5706000" cy="360"/>
          </a:xfrm>
          <a:prstGeom prst="line">
            <a:avLst/>
          </a:prstGeom>
          <a:ln w="15875">
            <a:solidFill>
              <a:srgbClr val="8d9b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623" name="Connector 32"/>
          <p:cNvSpPr/>
          <p:nvPr/>
        </p:nvSpPr>
        <p:spPr>
          <a:xfrm flipV="1">
            <a:off x="6053040" y="1691640"/>
            <a:ext cx="360" cy="795240"/>
          </a:xfrm>
          <a:prstGeom prst="line">
            <a:avLst/>
          </a:prstGeom>
          <a:ln w="15875">
            <a:solidFill>
              <a:srgbClr val="8d9b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624" name="Connector 33"/>
          <p:cNvSpPr/>
          <p:nvPr/>
        </p:nvSpPr>
        <p:spPr>
          <a:xfrm>
            <a:off x="6053040" y="1691640"/>
            <a:ext cx="192240" cy="360"/>
          </a:xfrm>
          <a:prstGeom prst="line">
            <a:avLst/>
          </a:prstGeom>
          <a:ln w="19050">
            <a:solidFill>
              <a:srgbClr val="6a5a9e"/>
            </a:solidFill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625" name="TextBox 34"/>
          <p:cNvSpPr/>
          <p:nvPr/>
        </p:nvSpPr>
        <p:spPr>
          <a:xfrm>
            <a:off x="6583680" y="2541600"/>
            <a:ext cx="4571640" cy="11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90000"/>
              </a:lnSpc>
              <a:buNone/>
            </a:pPr>
            <a:r>
              <a:rPr b="0" lang="en-US" sz="800" spc="-1" strike="noStrike">
                <a:solidFill>
                  <a:srgbClr val="5a6b73"/>
                </a:solidFill>
                <a:latin typeface="Arial"/>
              </a:rPr>
              <a:t>kill switch OFF at any point returns to UNPOWERED</a:t>
            </a:r>
            <a:endParaRPr b="0" lang="en-IN" sz="800" spc="-1" strike="noStrike">
              <a:latin typeface="Arial"/>
            </a:endParaRPr>
          </a:p>
        </p:txBody>
      </p:sp>
      <p:graphicFrame>
        <p:nvGraphicFramePr>
          <p:cNvPr id="626" name="Table 35"/>
          <p:cNvGraphicFramePr/>
          <p:nvPr/>
        </p:nvGraphicFramePr>
        <p:xfrm>
          <a:off x="6245280" y="2926080"/>
          <a:ext cx="5668920" cy="1828440"/>
        </p:xfrm>
        <a:graphic>
          <a:graphicData uri="http://schemas.openxmlformats.org/drawingml/2006/table">
            <a:tbl>
              <a:tblPr/>
              <a:tblGrid>
                <a:gridCol w="1417320"/>
                <a:gridCol w="1005840"/>
                <a:gridCol w="3246120"/>
              </a:tblGrid>
              <a:tr h="274320"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95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Battery mode</a:t>
                      </a:r>
                      <a:endParaRPr b="0" lang="en-IN" sz="9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6b83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95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Threshold</a:t>
                      </a:r>
                      <a:endParaRPr b="0" lang="en-IN" sz="9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6b83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95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Channels shed</a:t>
                      </a:r>
                      <a:endParaRPr b="0" lang="en-IN" sz="9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6b83"/>
                    </a:solidFill>
                  </a:tcPr>
                </a:tc>
              </a:tr>
              <a:tr h="310680"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Full</a:t>
                      </a:r>
                      <a:endParaRPr b="0" lang="en-IN" sz="9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≥ </a:t>
                      </a:r>
                      <a:r>
                        <a:rPr b="0" lang="en-US" sz="9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12.0 V</a:t>
                      </a:r>
                      <a:endParaRPr b="0" lang="en-IN" sz="9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none</a:t>
                      </a:r>
                      <a:endParaRPr b="0" lang="en-IN" sz="9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44520"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Normal</a:t>
                      </a:r>
                      <a:endParaRPr b="0" lang="en-IN" sz="9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≥ </a:t>
                      </a:r>
                      <a:r>
                        <a:rPr b="0" lang="en-US" sz="9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11.1 V</a:t>
                      </a:r>
                      <a:endParaRPr b="0" lang="en-IN" sz="9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none — the default sequence is restored, staggered and rate-limited</a:t>
                      </a:r>
                      <a:endParaRPr b="0" lang="en-IN" sz="9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5f6"/>
                    </a:solidFill>
                  </a:tcPr>
                </a:tc>
              </a:tr>
              <a:tr h="310680"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Safe</a:t>
                      </a:r>
                      <a:endParaRPr b="0" lang="en-IN" sz="9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≥ </a:t>
                      </a:r>
                      <a:r>
                        <a:rPr b="0" lang="en-US" sz="9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9.9 V</a:t>
                      </a:r>
                      <a:endParaRPr b="0" lang="en-IN" sz="9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Payload (O10)</a:t>
                      </a:r>
                      <a:endParaRPr b="0" lang="en-IN" sz="9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10680"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Critical</a:t>
                      </a:r>
                      <a:endParaRPr b="0" lang="en-IN" sz="9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≥ </a:t>
                      </a:r>
                      <a:r>
                        <a:rPr b="0" lang="en-US" sz="9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9.0 V</a:t>
                      </a:r>
                      <a:endParaRPr b="0" lang="en-IN" sz="9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Payload, ADCS and the avionics bus (O10, O4, O3)</a:t>
                      </a:r>
                      <a:endParaRPr b="0" lang="en-IN" sz="9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5f6"/>
                    </a:solidFill>
                  </a:tcPr>
                </a:tc>
              </a:tr>
              <a:tr h="310680"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Below critical</a:t>
                      </a:r>
                      <a:endParaRPr b="0" lang="en-IN" sz="9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&lt; 9.0 V</a:t>
                      </a:r>
                      <a:endParaRPr b="0" lang="en-IN" sz="9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everything except the two OBC channels (O1, O2)</a:t>
                      </a:r>
                      <a:endParaRPr b="0" lang="en-IN" sz="9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27" name="Rounded Rectangle 36"/>
          <p:cNvSpPr/>
          <p:nvPr/>
        </p:nvSpPr>
        <p:spPr>
          <a:xfrm>
            <a:off x="6245280" y="4846320"/>
            <a:ext cx="5668920" cy="1005480"/>
          </a:xfrm>
          <a:prstGeom prst="roundRect">
            <a:avLst>
              <a:gd name="adj" fmla="val 6000"/>
            </a:avLst>
          </a:prstGeom>
          <a:solidFill>
            <a:srgbClr val="efecf7"/>
          </a:solidFill>
          <a:ln w="12700">
            <a:solidFill>
              <a:srgbClr val="6a5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28" name="TextBox 37"/>
          <p:cNvSpPr/>
          <p:nvPr/>
        </p:nvSpPr>
        <p:spPr>
          <a:xfrm>
            <a:off x="6446520" y="4956120"/>
            <a:ext cx="530316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6000"/>
              </a:lnSpc>
              <a:buNone/>
            </a:pPr>
            <a:r>
              <a:rPr b="0" lang="en-US" sz="980" spc="-1" strike="noStrike">
                <a:solidFill>
                  <a:srgbClr val="15242b"/>
                </a:solidFill>
                <a:latin typeface="Arial"/>
              </a:rPr>
              <a:t>Hysteresis of 0.15 V keeps a battery sitting on a threshold from oscillating. All timing honours a time-scale factor, so the full boot-and-sequence run compresses into milliseconds for tests while staying real seconds on the bench.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629" name="TextBox 38"/>
          <p:cNvSpPr/>
          <p:nvPr/>
        </p:nvSpPr>
        <p:spPr>
          <a:xfrm>
            <a:off x="225720" y="6053400"/>
            <a:ext cx="11521080" cy="12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i="1" lang="en-US" sz="850" spc="-1" strike="noStrike">
                <a:solidFill>
                  <a:srgbClr val="8d9ba1"/>
                </a:solidFill>
                <a:latin typeface="Arial"/>
              </a:rPr>
              <a:t>Bindings are by EPS PDU channel ID from the master sheet; the labels come from mib/eps.json and the sequence from config/flight.json.</a:t>
            </a:r>
            <a:endParaRPr b="0" lang="en-IN" sz="8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PlaceHolder 1"/>
          <p:cNvSpPr>
            <a:spLocks noGrp="1"/>
          </p:cNvSpPr>
          <p:nvPr>
            <p:ph type="title"/>
          </p:nvPr>
        </p:nvSpPr>
        <p:spPr>
          <a:xfrm>
            <a:off x="225720" y="176760"/>
            <a:ext cx="11740320" cy="7318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500" spc="-1" strike="noStrike">
                <a:solidFill>
                  <a:srgbClr val="15242b"/>
                </a:solidFill>
                <a:latin typeface="Arial"/>
              </a:rPr>
              <a:t>Veri</a:t>
            </a:r>
            <a:r>
              <a:rPr b="1" lang="en-US" sz="2500" spc="-1" strike="noStrike">
                <a:solidFill>
                  <a:srgbClr val="15242b"/>
                </a:solidFill>
                <a:latin typeface="Arial"/>
              </a:rPr>
              <a:t>ficat</a:t>
            </a:r>
            <a:r>
              <a:rPr b="1" lang="en-US" sz="2500" spc="-1" strike="noStrike">
                <a:solidFill>
                  <a:srgbClr val="15242b"/>
                </a:solidFill>
                <a:latin typeface="Arial"/>
              </a:rPr>
              <a:t>ion </a:t>
            </a:r>
            <a:r>
              <a:rPr b="1" lang="en-US" sz="2500" spc="-1" strike="noStrike">
                <a:solidFill>
                  <a:srgbClr val="15242b"/>
                </a:solidFill>
                <a:latin typeface="Arial"/>
              </a:rPr>
              <a:t>stat</a:t>
            </a:r>
            <a:r>
              <a:rPr b="1" lang="en-US" sz="2500" spc="-1" strike="noStrike">
                <a:solidFill>
                  <a:srgbClr val="15242b"/>
                </a:solidFill>
                <a:latin typeface="Arial"/>
              </a:rPr>
              <a:t>us</a:t>
            </a:r>
            <a:endParaRPr b="0" lang="en-US" sz="25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31" name="TextBox 3"/>
          <p:cNvSpPr/>
          <p:nvPr/>
        </p:nvSpPr>
        <p:spPr>
          <a:xfrm>
            <a:off x="225720" y="873360"/>
            <a:ext cx="1174068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50" spc="-1" strike="noStrike">
                <a:solidFill>
                  <a:srgbClr val="006b83"/>
                </a:solidFill>
                <a:latin typeface="Arial"/>
              </a:rPr>
              <a:t>Measured on the current working tree — ./build/xdos_tests reports all tests passing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632" name="Rounded Rectangle 4"/>
          <p:cNvSpPr/>
          <p:nvPr/>
        </p:nvSpPr>
        <p:spPr>
          <a:xfrm>
            <a:off x="274320" y="1280160"/>
            <a:ext cx="2751840" cy="822600"/>
          </a:xfrm>
          <a:prstGeom prst="roundRect">
            <a:avLst>
              <a:gd name="adj" fmla="val 10000"/>
            </a:avLst>
          </a:prstGeom>
          <a:solidFill>
            <a:srgbClr val="e4f4f8"/>
          </a:solidFill>
          <a:ln w="13970">
            <a:solidFill>
              <a:srgbClr val="009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33" name="TextBox 5"/>
          <p:cNvSpPr/>
          <p:nvPr/>
        </p:nvSpPr>
        <p:spPr>
          <a:xfrm>
            <a:off x="420480" y="1508040"/>
            <a:ext cx="2468520" cy="36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006b83"/>
                </a:solidFill>
                <a:latin typeface="Arial"/>
              </a:rPr>
              <a:t>110   </a:t>
            </a:r>
            <a:r>
              <a:rPr b="0" lang="en-US" sz="1150" spc="-1" strike="noStrike">
                <a:solidFill>
                  <a:srgbClr val="15242b"/>
                </a:solidFill>
                <a:latin typeface="Arial"/>
              </a:rPr>
              <a:t>test cases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634" name="Rounded Rectangle 6"/>
          <p:cNvSpPr/>
          <p:nvPr/>
        </p:nvSpPr>
        <p:spPr>
          <a:xfrm>
            <a:off x="3209400" y="1280160"/>
            <a:ext cx="2751840" cy="822600"/>
          </a:xfrm>
          <a:prstGeom prst="roundRect">
            <a:avLst>
              <a:gd name="adj" fmla="val 10000"/>
            </a:avLst>
          </a:prstGeom>
          <a:solidFill>
            <a:srgbClr val="e4f4f8"/>
          </a:solidFill>
          <a:ln w="13970">
            <a:solidFill>
              <a:srgbClr val="009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35" name="TextBox 7"/>
          <p:cNvSpPr/>
          <p:nvPr/>
        </p:nvSpPr>
        <p:spPr>
          <a:xfrm>
            <a:off x="3355920" y="1508040"/>
            <a:ext cx="2468520" cy="36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006b83"/>
                </a:solidFill>
                <a:latin typeface="Arial"/>
              </a:rPr>
              <a:t>1 672   </a:t>
            </a:r>
            <a:r>
              <a:rPr b="0" lang="en-US" sz="1150" spc="-1" strike="noStrike">
                <a:solidFill>
                  <a:srgbClr val="15242b"/>
                </a:solidFill>
                <a:latin typeface="Arial"/>
              </a:rPr>
              <a:t>assertions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636" name="Rounded Rectangle 8"/>
          <p:cNvSpPr/>
          <p:nvPr/>
        </p:nvSpPr>
        <p:spPr>
          <a:xfrm>
            <a:off x="6144840" y="1280160"/>
            <a:ext cx="2751840" cy="822600"/>
          </a:xfrm>
          <a:prstGeom prst="roundRect">
            <a:avLst>
              <a:gd name="adj" fmla="val 10000"/>
            </a:avLst>
          </a:prstGeom>
          <a:solidFill>
            <a:srgbClr val="e4f4f8"/>
          </a:solidFill>
          <a:ln w="13970">
            <a:solidFill>
              <a:srgbClr val="009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37" name="TextBox 9"/>
          <p:cNvSpPr/>
          <p:nvPr/>
        </p:nvSpPr>
        <p:spPr>
          <a:xfrm>
            <a:off x="6291000" y="1508040"/>
            <a:ext cx="2468520" cy="36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006b83"/>
                </a:solidFill>
                <a:latin typeface="Arial"/>
              </a:rPr>
              <a:t>21   </a:t>
            </a:r>
            <a:r>
              <a:rPr b="0" lang="en-US" sz="1150" spc="-1" strike="noStrike">
                <a:solidFill>
                  <a:srgbClr val="15242b"/>
                </a:solidFill>
                <a:latin typeface="Arial"/>
              </a:rPr>
              <a:t>test translation units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638" name="Rounded Rectangle 10"/>
          <p:cNvSpPr/>
          <p:nvPr/>
        </p:nvSpPr>
        <p:spPr>
          <a:xfrm>
            <a:off x="9079920" y="1280160"/>
            <a:ext cx="2751840" cy="822600"/>
          </a:xfrm>
          <a:prstGeom prst="roundRect">
            <a:avLst>
              <a:gd name="adj" fmla="val 10000"/>
            </a:avLst>
          </a:prstGeom>
          <a:solidFill>
            <a:srgbClr val="e4f4f8"/>
          </a:solidFill>
          <a:ln w="13970">
            <a:solidFill>
              <a:srgbClr val="009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39" name="TextBox 11"/>
          <p:cNvSpPr/>
          <p:nvPr/>
        </p:nvSpPr>
        <p:spPr>
          <a:xfrm>
            <a:off x="9226440" y="1508040"/>
            <a:ext cx="2468520" cy="36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006b83"/>
                </a:solidFill>
                <a:latin typeface="Arial"/>
              </a:rPr>
              <a:t>100 %   </a:t>
            </a:r>
            <a:r>
              <a:rPr b="0" lang="en-US" sz="1150" spc="-1" strike="noStrike">
                <a:solidFill>
                  <a:srgbClr val="15242b"/>
                </a:solidFill>
                <a:latin typeface="Arial"/>
              </a:rPr>
              <a:t>passing</a:t>
            </a:r>
            <a:endParaRPr b="0" lang="en-IN" sz="1150" spc="-1" strike="noStrike">
              <a:latin typeface="Arial"/>
            </a:endParaRPr>
          </a:p>
        </p:txBody>
      </p:sp>
      <p:graphicFrame>
        <p:nvGraphicFramePr>
          <p:cNvPr id="640" name="Table 12"/>
          <p:cNvGraphicFramePr/>
          <p:nvPr/>
        </p:nvGraphicFramePr>
        <p:xfrm>
          <a:off x="274320" y="2249280"/>
          <a:ext cx="11639880" cy="3401280"/>
        </p:xfrm>
        <a:graphic>
          <a:graphicData uri="http://schemas.openxmlformats.org/drawingml/2006/table">
            <a:tbl>
              <a:tblPr/>
              <a:tblGrid>
                <a:gridCol w="1572480"/>
                <a:gridCol w="3977280"/>
                <a:gridCol w="6090120"/>
              </a:tblGrid>
              <a:tr h="292320"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95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  <a:endParaRPr b="0" lang="en-IN" sz="9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6b83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95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Test translation units</a:t>
                      </a:r>
                      <a:endParaRPr b="0" lang="en-IN" sz="9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6b83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95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What it proves</a:t>
                      </a:r>
                      <a:endParaRPr b="0" lang="en-IN" sz="9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6b83"/>
                    </a:solidFill>
                  </a:tcPr>
                </a:tc>
              </a:tr>
              <a:tr h="388440"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Utilities</a:t>
                      </a:r>
                      <a:endParaRPr b="0" lang="en-IN" sz="9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test_crc · test_hex</a:t>
                      </a:r>
                      <a:endParaRPr b="0" lang="en-IN" sz="9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CRC-16-CCITT against known vectors; hex encode/decode round-trips</a:t>
                      </a:r>
                      <a:endParaRPr b="0" lang="en-IN" sz="9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8440"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Subsystem framing</a:t>
                      </a:r>
                      <a:endParaRPr b="0" lang="en-IN" sz="9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test_adcs_framing · test_eps_framing · test_gps_framing · test_payload · test_uhf · test_xlink_codec · test_xlink_keys</a:t>
                      </a:r>
                      <a:endParaRPr b="0" lang="en-IN" sz="9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Native encode/decode round-trips per subsystem, and rejection of malformed or truncated frames</a:t>
                      </a:r>
                      <a:endParaRPr b="0" lang="en-IN" sz="9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5f6"/>
                    </a:solidFill>
                  </a:tcPr>
                </a:tc>
              </a:tr>
              <a:tr h="388440"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CCSDS codecs</a:t>
                      </a:r>
                      <a:endParaRPr b="0" lang="en-IN" sz="9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test_ccsds_codec · test_ccsds_tm_codec · test_ccsds_validator</a:t>
                      </a:r>
                      <a:endParaRPr b="0" lang="en-IN" sz="9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Frame layout, shared identity, both time-code variants, CRC coverage and the structured validator report</a:t>
                      </a:r>
                      <a:endParaRPr b="0" lang="en-IN" sz="9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8440"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Data model</a:t>
                      </a:r>
                      <a:endParaRPr b="0" lang="en-IN" sz="9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test_mib_load</a:t>
                      </a:r>
                      <a:endParaRPr b="0" lang="en-IN" sz="9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Every mib/*.json loads; messages, parameters, enums and channel maps resolve as declared</a:t>
                      </a:r>
                      <a:endParaRPr b="0" lang="en-IN" sz="9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5f6"/>
                    </a:solidFill>
                  </a:tcPr>
                </a:tc>
              </a:tr>
              <a:tr h="388440"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Binary LUT</a:t>
                      </a:r>
                      <a:endParaRPr b="0" lang="en-IN" sz="9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test_binary_lut · test_binary_rate_lut · test_rate_group_csv</a:t>
                      </a:r>
                      <a:endParaRPr b="0" lang="en-IN" sz="9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Header and entry encoding, deterministic CRC signature, pick merging, over-budget rejection, CSV grammar and row-numbered errors</a:t>
                      </a:r>
                      <a:endParaRPr b="0" lang="en-IN" sz="9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8440"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Rate-group engine</a:t>
                      </a:r>
                      <a:endParaRPr b="0" lang="en-IN" sz="9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test_rate_group</a:t>
                      </a:r>
                      <a:endParaRPr b="0" lang="en-IN" sz="9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The 16-slot tier schedule, block assembly, the 0xFF down marker on a failed poll, and hot-swap while running</a:t>
                      </a:r>
                      <a:endParaRPr b="0" lang="en-IN" sz="9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5f6"/>
                    </a:solidFill>
                  </a:tcPr>
                </a:tc>
              </a:tr>
              <a:tr h="388440"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Flight behaviour</a:t>
                      </a:r>
                      <a:endParaRPr b="0" lang="en-IN" sz="9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test_power_sequence · test_flight_realism</a:t>
                      </a:r>
                      <a:endParaRPr b="0" lang="en-IN" sz="9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Boot and staggered switch-on, load-shed thresholds with hysteresis, and staggered restore on recovery</a:t>
                      </a:r>
                      <a:endParaRPr b="0" lang="en-IN" sz="9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9880"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End to end</a:t>
                      </a:r>
                      <a:endParaRPr b="0" lang="en-IN" sz="9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test_e2e</a:t>
                      </a:r>
                      <a:endParaRPr b="0" lang="en-IN" sz="9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 lIns="73080" rIns="54720" tIns="27360" bIns="27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950" spc="-1" strike="noStrike">
                          <a:solidFill>
                            <a:srgbClr val="15242b"/>
                          </a:solidFill>
                          <a:latin typeface="Arial"/>
                        </a:rPr>
                        <a:t>Ground station → OBC → simulator → ground station across the real socket stack, not mocks</a:t>
                      </a:r>
                      <a:endParaRPr b="0" lang="en-IN" sz="950" spc="-1" strike="noStrike">
                        <a:latin typeface="Arial"/>
                      </a:endParaRPr>
                    </a:p>
                  </a:txBody>
                  <a:tcPr anchor="ctr" marL="73080" marR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5f6"/>
                    </a:solidFill>
                  </a:tcPr>
                </a:tc>
              </a:tr>
            </a:tbl>
          </a:graphicData>
        </a:graphic>
      </p:graphicFrame>
      <p:sp>
        <p:nvSpPr>
          <p:cNvPr id="641" name="Rounded Rectangle 13"/>
          <p:cNvSpPr/>
          <p:nvPr/>
        </p:nvSpPr>
        <p:spPr>
          <a:xfrm>
            <a:off x="274320" y="5797440"/>
            <a:ext cx="11639880" cy="402120"/>
          </a:xfrm>
          <a:prstGeom prst="roundRect">
            <a:avLst>
              <a:gd name="adj" fmla="val 14000"/>
            </a:avLst>
          </a:prstGeom>
          <a:solidFill>
            <a:srgbClr val="fdf3e0"/>
          </a:solidFill>
          <a:ln w="12700">
            <a:solidFill>
              <a:srgbClr val="e092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42" name="TextBox 14"/>
          <p:cNvSpPr/>
          <p:nvPr/>
        </p:nvSpPr>
        <p:spPr>
          <a:xfrm>
            <a:off x="475560" y="5921640"/>
            <a:ext cx="1124676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15242b"/>
                </a:solidFill>
                <a:latin typeface="Arial"/>
              </a:rPr>
              <a:t>Not covered by this suite:  </a:t>
            </a:r>
            <a:r>
              <a:rPr b="0" lang="en-US" sz="1000" spc="-1" strike="noStrike">
                <a:solidFill>
                  <a:srgbClr val="5a6b73"/>
                </a:solidFill>
                <a:latin typeface="Arial"/>
              </a:rPr>
              <a:t>real flight hardware, the RF layer, and behaviour under sustained link congestion — these need bench time, not more unit tests.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PlaceHolder 1"/>
          <p:cNvSpPr>
            <a:spLocks noGrp="1"/>
          </p:cNvSpPr>
          <p:nvPr>
            <p:ph type="title"/>
          </p:nvPr>
        </p:nvSpPr>
        <p:spPr>
          <a:xfrm>
            <a:off x="225720" y="176760"/>
            <a:ext cx="11740320" cy="7318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500" spc="-1" strike="noStrike">
                <a:solidFill>
                  <a:srgbClr val="15242b"/>
                </a:solidFill>
                <a:latin typeface="Arial"/>
              </a:rPr>
              <a:t>Stat</a:t>
            </a:r>
            <a:r>
              <a:rPr b="1" lang="en-US" sz="2500" spc="-1" strike="noStrike">
                <a:solidFill>
                  <a:srgbClr val="15242b"/>
                </a:solidFill>
                <a:latin typeface="Arial"/>
              </a:rPr>
              <a:t>us </a:t>
            </a:r>
            <a:r>
              <a:rPr b="1" lang="en-US" sz="2500" spc="-1" strike="noStrike">
                <a:solidFill>
                  <a:srgbClr val="15242b"/>
                </a:solidFill>
                <a:latin typeface="Arial"/>
              </a:rPr>
              <a:t>and </a:t>
            </a:r>
            <a:r>
              <a:rPr b="1" lang="en-US" sz="2500" spc="-1" strike="noStrike">
                <a:solidFill>
                  <a:srgbClr val="15242b"/>
                </a:solidFill>
                <a:latin typeface="Arial"/>
              </a:rPr>
              <a:t>next </a:t>
            </a:r>
            <a:r>
              <a:rPr b="1" lang="en-US" sz="2500" spc="-1" strike="noStrike">
                <a:solidFill>
                  <a:srgbClr val="15242b"/>
                </a:solidFill>
                <a:latin typeface="Arial"/>
              </a:rPr>
              <a:t>step</a:t>
            </a:r>
            <a:r>
              <a:rPr b="1" lang="en-US" sz="2500" spc="-1" strike="noStrike">
                <a:solidFill>
                  <a:srgbClr val="15242b"/>
                </a:solidFill>
                <a:latin typeface="Arial"/>
              </a:rPr>
              <a:t>s</a:t>
            </a:r>
            <a:endParaRPr b="0" lang="en-US" sz="25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4" name="TextBox 3"/>
          <p:cNvSpPr/>
          <p:nvPr/>
        </p:nvSpPr>
        <p:spPr>
          <a:xfrm>
            <a:off x="225720" y="873360"/>
            <a:ext cx="1174068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50" spc="-1" strike="noStrike">
                <a:solidFill>
                  <a:srgbClr val="006b83"/>
                </a:solidFill>
                <a:latin typeface="Arial"/>
              </a:rPr>
              <a:t>The frame layout is final and the binary LUT path is implemented end to end; what follows is bench work and housekeeping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645" name="Rounded Rectangle 4"/>
          <p:cNvSpPr/>
          <p:nvPr/>
        </p:nvSpPr>
        <p:spPr>
          <a:xfrm>
            <a:off x="274320" y="1280160"/>
            <a:ext cx="5668920" cy="2998800"/>
          </a:xfrm>
          <a:prstGeom prst="roundRect">
            <a:avLst>
              <a:gd name="adj" fmla="val 3500"/>
            </a:avLst>
          </a:prstGeom>
          <a:solidFill>
            <a:srgbClr val="e9f4ee"/>
          </a:solidFill>
          <a:ln w="13970">
            <a:solidFill>
              <a:srgbClr val="3f8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46" name="TextBox 5"/>
          <p:cNvSpPr/>
          <p:nvPr/>
        </p:nvSpPr>
        <p:spPr>
          <a:xfrm>
            <a:off x="511920" y="1426320"/>
            <a:ext cx="521172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3f8f62"/>
                </a:solidFill>
                <a:latin typeface="Arial"/>
              </a:rPr>
              <a:t>DELIVERED AND VERIFIED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647" name="TextBox 6"/>
          <p:cNvSpPr/>
          <p:nvPr/>
        </p:nvSpPr>
        <p:spPr>
          <a:xfrm>
            <a:off x="511920" y="1774080"/>
            <a:ext cx="5230080" cy="195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73880" indent="-173880">
              <a:lnSpc>
                <a:spcPct val="100000"/>
              </a:lnSpc>
              <a:spcBef>
                <a:spcPts val="700"/>
              </a:spcBef>
              <a:buClr>
                <a:srgbClr val="3f8f62"/>
              </a:buClr>
              <a:buFont typeface="Arial"/>
              <a:buChar char="●"/>
            </a:pPr>
            <a:r>
              <a:rPr b="0" lang="en-US" sz="1100" spc="-1" strike="noStrike">
                <a:solidFill>
                  <a:srgbClr val="15242b"/>
                </a:solidFill>
                <a:latin typeface="Arial"/>
              </a:rPr>
              <a:t>Telecommanding of all six subsystems, MIB-driven, over CCSDS TC frames.</a:t>
            </a:r>
            <a:endParaRPr b="0" lang="en-IN" sz="1100" spc="-1" strike="noStrike">
              <a:latin typeface="Arial"/>
            </a:endParaRPr>
          </a:p>
          <a:p>
            <a:pPr marL="173880" indent="-173880">
              <a:lnSpc>
                <a:spcPct val="100000"/>
              </a:lnSpc>
              <a:spcBef>
                <a:spcPts val="700"/>
              </a:spcBef>
              <a:buClr>
                <a:srgbClr val="3f8f62"/>
              </a:buClr>
              <a:buFont typeface="Arial"/>
              <a:buChar char="●"/>
            </a:pPr>
            <a:r>
              <a:rPr b="0" lang="en-US" sz="1100" spc="-1" strike="noStrike">
                <a:solidFill>
                  <a:srgbClr val="15242b"/>
                </a:solidFill>
                <a:latin typeface="Arial"/>
              </a:rPr>
              <a:t>CCSDS TM downlink in the fixed 1432-byte frame, decoded and rendered on the ground.</a:t>
            </a:r>
            <a:endParaRPr b="0" lang="en-IN" sz="1100" spc="-1" strike="noStrike">
              <a:latin typeface="Arial"/>
            </a:endParaRPr>
          </a:p>
          <a:p>
            <a:pPr marL="173880" indent="-173880">
              <a:lnSpc>
                <a:spcPct val="100000"/>
              </a:lnSpc>
              <a:spcBef>
                <a:spcPts val="700"/>
              </a:spcBef>
              <a:buClr>
                <a:srgbClr val="3f8f62"/>
              </a:buClr>
              <a:buFont typeface="Arial"/>
              <a:buChar char="●"/>
            </a:pPr>
            <a:r>
              <a:rPr b="0" lang="en-US" sz="1100" spc="-1" strike="noStrike">
                <a:solidFill>
                  <a:srgbClr val="15242b"/>
                </a:solidFill>
                <a:latin typeface="Arial"/>
              </a:rPr>
              <a:t>CSV → binary LUT build, uplink, OBC verification, hot-swap and persistence.</a:t>
            </a:r>
            <a:endParaRPr b="0" lang="en-IN" sz="1100" spc="-1" strike="noStrike">
              <a:latin typeface="Arial"/>
            </a:endParaRPr>
          </a:p>
          <a:p>
            <a:pPr marL="173880" indent="-173880">
              <a:lnSpc>
                <a:spcPct val="100000"/>
              </a:lnSpc>
              <a:spcBef>
                <a:spcPts val="700"/>
              </a:spcBef>
              <a:buClr>
                <a:srgbClr val="3f8f62"/>
              </a:buClr>
              <a:buFont typeface="Arial"/>
              <a:buChar char="●"/>
            </a:pPr>
            <a:r>
              <a:rPr b="0" lang="en-US" sz="1100" spc="-1" strike="noStrike">
                <a:solidFill>
                  <a:srgbClr val="15242b"/>
                </a:solidFill>
                <a:latin typeface="Arial"/>
              </a:rPr>
              <a:t>Tier-scheduled polling with a 16-position schedule and slot-aligned master frames.</a:t>
            </a:r>
            <a:endParaRPr b="0" lang="en-IN" sz="1100" spc="-1" strike="noStrike">
              <a:latin typeface="Arial"/>
            </a:endParaRPr>
          </a:p>
          <a:p>
            <a:pPr marL="173880" indent="-173880">
              <a:lnSpc>
                <a:spcPct val="100000"/>
              </a:lnSpc>
              <a:spcBef>
                <a:spcPts val="700"/>
              </a:spcBef>
              <a:buClr>
                <a:srgbClr val="3f8f62"/>
              </a:buClr>
              <a:buFont typeface="Arial"/>
              <a:buChar char="●"/>
            </a:pPr>
            <a:r>
              <a:rPr b="0" lang="en-US" sz="1100" spc="-1" strike="noStrike">
                <a:solidFill>
                  <a:srgbClr val="15242b"/>
                </a:solidFill>
                <a:latin typeface="Arial"/>
              </a:rPr>
              <a:t>Flight power sequence with load shedding, hysteresis and staggered restore.</a:t>
            </a:r>
            <a:endParaRPr b="0" lang="en-IN" sz="1100" spc="-1" strike="noStrike">
              <a:latin typeface="Arial"/>
            </a:endParaRPr>
          </a:p>
          <a:p>
            <a:pPr marL="173880" indent="-173880">
              <a:lnSpc>
                <a:spcPct val="100000"/>
              </a:lnSpc>
              <a:spcBef>
                <a:spcPts val="700"/>
              </a:spcBef>
              <a:buClr>
                <a:srgbClr val="3f8f62"/>
              </a:buClr>
              <a:buFont typeface="Arial"/>
              <a:buChar char="●"/>
            </a:pPr>
            <a:r>
              <a:rPr b="0" lang="en-US" sz="1100" spc="-1" strike="noStrike">
                <a:solidFill>
                  <a:srgbClr val="15242b"/>
                </a:solidFill>
                <a:latin typeface="Arial"/>
              </a:rPr>
              <a:t>110 test cases covering framing, codecs, LUT, engine, power and one end-to-end path.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648" name="Rounded Rectangle 7"/>
          <p:cNvSpPr/>
          <p:nvPr/>
        </p:nvSpPr>
        <p:spPr>
          <a:xfrm>
            <a:off x="6245280" y="1280160"/>
            <a:ext cx="5668920" cy="2998800"/>
          </a:xfrm>
          <a:prstGeom prst="roundRect">
            <a:avLst>
              <a:gd name="adj" fmla="val 3500"/>
            </a:avLst>
          </a:prstGeom>
          <a:solidFill>
            <a:srgbClr val="fdf3e0"/>
          </a:solidFill>
          <a:ln w="13970">
            <a:solidFill>
              <a:srgbClr val="e092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49" name="TextBox 8"/>
          <p:cNvSpPr/>
          <p:nvPr/>
        </p:nvSpPr>
        <p:spPr>
          <a:xfrm>
            <a:off x="6483240" y="1426320"/>
            <a:ext cx="521172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e0921c"/>
                </a:solidFill>
                <a:latin typeface="Arial"/>
              </a:rPr>
              <a:t>PROPOSED NEXT STEPS  ·  for review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650" name="TextBox 9"/>
          <p:cNvSpPr/>
          <p:nvPr/>
        </p:nvSpPr>
        <p:spPr>
          <a:xfrm>
            <a:off x="6483240" y="1774080"/>
            <a:ext cx="5230080" cy="202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73880" indent="-173880">
              <a:lnSpc>
                <a:spcPct val="100000"/>
              </a:lnSpc>
              <a:spcBef>
                <a:spcPts val="700"/>
              </a:spcBef>
              <a:buClr>
                <a:srgbClr val="e0921c"/>
              </a:buClr>
              <a:buFont typeface="Arial"/>
              <a:buChar char="●"/>
            </a:pPr>
            <a:r>
              <a:rPr b="0" lang="en-US" sz="1100" spc="-1" strike="noStrike">
                <a:solidFill>
                  <a:srgbClr val="15242b"/>
                </a:solidFill>
                <a:latin typeface="Arial"/>
              </a:rPr>
              <a:t>Exercise the bench port map (7000-series) against the real OBC, including the LUT listener on 7003.</a:t>
            </a:r>
            <a:endParaRPr b="0" lang="en-IN" sz="1100" spc="-1" strike="noStrike">
              <a:latin typeface="Arial"/>
            </a:endParaRPr>
          </a:p>
          <a:p>
            <a:pPr marL="173880" indent="-173880">
              <a:lnSpc>
                <a:spcPct val="100000"/>
              </a:lnSpc>
              <a:spcBef>
                <a:spcPts val="700"/>
              </a:spcBef>
              <a:buClr>
                <a:srgbClr val="e0921c"/>
              </a:buClr>
              <a:buFont typeface="Arial"/>
              <a:buChar char="●"/>
            </a:pPr>
            <a:r>
              <a:rPr b="0" lang="en-US" sz="1100" spc="-1" strike="noStrike">
                <a:solidFill>
                  <a:srgbClr val="15242b"/>
                </a:solidFill>
                <a:latin typeface="Arial"/>
              </a:rPr>
              <a:t>Bring Payload, XLINK-S and UHF commands into the rate-group classification — today it is dominated by ADCS, EPS and GPS.</a:t>
            </a:r>
            <a:endParaRPr b="0" lang="en-IN" sz="1100" spc="-1" strike="noStrike">
              <a:latin typeface="Arial"/>
            </a:endParaRPr>
          </a:p>
          <a:p>
            <a:pPr marL="173880" indent="-173880">
              <a:lnSpc>
                <a:spcPct val="100000"/>
              </a:lnSpc>
              <a:spcBef>
                <a:spcPts val="700"/>
              </a:spcBef>
              <a:buClr>
                <a:srgbClr val="e0921c"/>
              </a:buClr>
              <a:buFont typeface="Arial"/>
              <a:buChar char="●"/>
            </a:pPr>
            <a:r>
              <a:rPr b="0" lang="en-US" sz="1100" spc="-1" strike="noStrike">
                <a:solidFill>
                  <a:srgbClr val="15242b"/>
                </a:solidFill>
                <a:latin typeface="Arial"/>
              </a:rPr>
              <a:t>Test the LUT in that LUT cover all Telecommands to check the maximum size of LUT and how its handling.</a:t>
            </a:r>
            <a:endParaRPr b="0" lang="en-IN" sz="1100" spc="-1" strike="noStrike">
              <a:latin typeface="Arial"/>
            </a:endParaRPr>
          </a:p>
          <a:p>
            <a:pPr marL="173880" indent="-173880">
              <a:lnSpc>
                <a:spcPct val="100000"/>
              </a:lnSpc>
              <a:spcBef>
                <a:spcPts val="700"/>
              </a:spcBef>
              <a:buClr>
                <a:srgbClr val="e0921c"/>
              </a:buClr>
              <a:buFont typeface="Arial"/>
              <a:buChar char="●"/>
            </a:pPr>
            <a:r>
              <a:rPr b="0" lang="en-US" sz="1100" spc="-1" strike="noStrike">
                <a:solidFill>
                  <a:srgbClr val="15242b"/>
                </a:solidFill>
                <a:latin typeface="Arial"/>
              </a:rPr>
              <a:t>Add remaining subsystem like XLINK-X test the TC &amp; TM. Add Payloads and check the power sequence’s</a:t>
            </a:r>
            <a:endParaRPr b="0" lang="en-IN" sz="1100" spc="-1" strike="noStrike">
              <a:latin typeface="Arial"/>
            </a:endParaRPr>
          </a:p>
          <a:p>
            <a:pPr marL="173880" indent="-173880">
              <a:lnSpc>
                <a:spcPct val="100000"/>
              </a:lnSpc>
              <a:spcBef>
                <a:spcPts val="700"/>
              </a:spcBef>
              <a:buClr>
                <a:srgbClr val="e0921c"/>
              </a:buClr>
              <a:buFont typeface="Arial"/>
              <a:buChar char="●"/>
            </a:pPr>
            <a:r>
              <a:rPr b="0" lang="en-US" sz="1100" spc="-1" strike="noStrike">
                <a:solidFill>
                  <a:srgbClr val="15242b"/>
                </a:solidFill>
                <a:latin typeface="Arial"/>
              </a:rPr>
              <a:t>Add the radio ID, currently backdoor is implemented. UHF RMID, SBAND RMID and BroadCast.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651" name="TextBox 10"/>
          <p:cNvSpPr/>
          <p:nvPr/>
        </p:nvSpPr>
        <p:spPr>
          <a:xfrm>
            <a:off x="274320" y="4499640"/>
            <a:ext cx="11612520" cy="14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90000"/>
              </a:lnSpc>
              <a:buNone/>
            </a:pPr>
            <a:r>
              <a:rPr b="1" lang="en-US" sz="1050" spc="-1" strike="noStrike">
                <a:solidFill>
                  <a:srgbClr val="006b83"/>
                </a:solidFill>
                <a:latin typeface="Arial"/>
              </a:rPr>
              <a:t>DECISIONS CLOSED  ·  recorded in docs/binary_lut_design.md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652" name="Rounded Rectangle 11"/>
          <p:cNvSpPr/>
          <p:nvPr/>
        </p:nvSpPr>
        <p:spPr>
          <a:xfrm>
            <a:off x="274320" y="4736520"/>
            <a:ext cx="2194200" cy="1042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2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53" name="Rectangle 12"/>
          <p:cNvSpPr/>
          <p:nvPr/>
        </p:nvSpPr>
        <p:spPr>
          <a:xfrm>
            <a:off x="274320" y="4736520"/>
            <a:ext cx="2194200" cy="40680"/>
          </a:xfrm>
          <a:prstGeom prst="rect">
            <a:avLst/>
          </a:prstGeom>
          <a:solidFill>
            <a:srgbClr val="009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54" name="TextBox 13"/>
          <p:cNvSpPr/>
          <p:nvPr/>
        </p:nvSpPr>
        <p:spPr>
          <a:xfrm>
            <a:off x="402480" y="4864680"/>
            <a:ext cx="1956600" cy="43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92000"/>
              </a:lnSpc>
              <a:buNone/>
            </a:pPr>
            <a:r>
              <a:rPr b="1" lang="en-US" sz="1000" spc="-1" strike="noStrike">
                <a:solidFill>
                  <a:srgbClr val="15242b"/>
                </a:solidFill>
                <a:latin typeface="Arial"/>
              </a:rPr>
              <a:t>Frame layout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2000"/>
              </a:lnSpc>
              <a:spcBef>
                <a:spcPts val="300"/>
              </a:spcBef>
              <a:buNone/>
            </a:pPr>
            <a:r>
              <a:rPr b="0" lang="en-US" sz="820" spc="-1" strike="noStrike">
                <a:solidFill>
                  <a:srgbClr val="5a6b73"/>
                </a:solidFill>
                <a:latin typeface="Arial"/>
              </a:rPr>
              <a:t>1280 B subframe, 400 / 400 / 300 / 175 / 5 — the 1362 B variant ruled out</a:t>
            </a:r>
            <a:endParaRPr b="0" lang="en-IN" sz="820" spc="-1" strike="noStrike">
              <a:latin typeface="Arial"/>
            </a:endParaRPr>
          </a:p>
        </p:txBody>
      </p:sp>
      <p:sp>
        <p:nvSpPr>
          <p:cNvPr id="655" name="Rounded Rectangle 14"/>
          <p:cNvSpPr/>
          <p:nvPr/>
        </p:nvSpPr>
        <p:spPr>
          <a:xfrm>
            <a:off x="2611440" y="4736520"/>
            <a:ext cx="2194200" cy="1042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2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56" name="Rectangle 15"/>
          <p:cNvSpPr/>
          <p:nvPr/>
        </p:nvSpPr>
        <p:spPr>
          <a:xfrm>
            <a:off x="2611440" y="4736520"/>
            <a:ext cx="2194200" cy="40680"/>
          </a:xfrm>
          <a:prstGeom prst="rect">
            <a:avLst/>
          </a:prstGeom>
          <a:solidFill>
            <a:srgbClr val="009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57" name="TextBox 16"/>
          <p:cNvSpPr/>
          <p:nvPr/>
        </p:nvSpPr>
        <p:spPr>
          <a:xfrm>
            <a:off x="2739600" y="4864680"/>
            <a:ext cx="1956600" cy="43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92000"/>
              </a:lnSpc>
              <a:buNone/>
            </a:pPr>
            <a:r>
              <a:rPr b="1" lang="en-US" sz="1000" spc="-1" strike="noStrike">
                <a:solidFill>
                  <a:srgbClr val="15242b"/>
                </a:solidFill>
                <a:latin typeface="Arial"/>
              </a:rPr>
              <a:t>Subframe period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2000"/>
              </a:lnSpc>
              <a:spcBef>
                <a:spcPts val="300"/>
              </a:spcBef>
              <a:buNone/>
            </a:pPr>
            <a:r>
              <a:rPr b="0" lang="en-US" sz="820" spc="-1" strike="noStrike">
                <a:solidFill>
                  <a:srgbClr val="5a6b73"/>
                </a:solidFill>
                <a:latin typeface="Arial"/>
              </a:rPr>
              <a:t>T_sf = 1000 ms; master frame every 16 s, written into the LUT header</a:t>
            </a:r>
            <a:endParaRPr b="0" lang="en-IN" sz="820" spc="-1" strike="noStrike">
              <a:latin typeface="Arial"/>
            </a:endParaRPr>
          </a:p>
        </p:txBody>
      </p:sp>
      <p:sp>
        <p:nvSpPr>
          <p:cNvPr id="658" name="Rounded Rectangle 17"/>
          <p:cNvSpPr/>
          <p:nvPr/>
        </p:nvSpPr>
        <p:spPr>
          <a:xfrm>
            <a:off x="4948560" y="4736520"/>
            <a:ext cx="2194200" cy="1042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2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59" name="Rectangle 18"/>
          <p:cNvSpPr/>
          <p:nvPr/>
        </p:nvSpPr>
        <p:spPr>
          <a:xfrm>
            <a:off x="4948560" y="4736520"/>
            <a:ext cx="2194200" cy="40680"/>
          </a:xfrm>
          <a:prstGeom prst="rect">
            <a:avLst/>
          </a:prstGeom>
          <a:solidFill>
            <a:srgbClr val="009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60" name="TextBox 19"/>
          <p:cNvSpPr/>
          <p:nvPr/>
        </p:nvSpPr>
        <p:spPr>
          <a:xfrm>
            <a:off x="5076720" y="4864680"/>
            <a:ext cx="1956600" cy="43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92000"/>
              </a:lnSpc>
              <a:buNone/>
            </a:pPr>
            <a:r>
              <a:rPr b="1" lang="en-US" sz="1000" spc="-1" strike="noStrike">
                <a:solidFill>
                  <a:srgbClr val="15242b"/>
                </a:solidFill>
                <a:latin typeface="Arial"/>
              </a:rPr>
              <a:t>Cadence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2000"/>
              </a:lnSpc>
              <a:spcBef>
                <a:spcPts val="300"/>
              </a:spcBef>
              <a:buNone/>
            </a:pPr>
            <a:r>
              <a:rPr b="0" lang="en-US" sz="820" spc="-1" strike="noStrike">
                <a:solidFill>
                  <a:srgbClr val="5a6b73"/>
                </a:solidFill>
                <a:latin typeface="Arial"/>
              </a:rPr>
              <a:t>Tier-scheduled 16-position schedule, computed by the OBC at LUT load</a:t>
            </a:r>
            <a:endParaRPr b="0" lang="en-IN" sz="820" spc="-1" strike="noStrike">
              <a:latin typeface="Arial"/>
            </a:endParaRPr>
          </a:p>
        </p:txBody>
      </p:sp>
      <p:sp>
        <p:nvSpPr>
          <p:cNvPr id="661" name="Rounded Rectangle 20"/>
          <p:cNvSpPr/>
          <p:nvPr/>
        </p:nvSpPr>
        <p:spPr>
          <a:xfrm>
            <a:off x="7286040" y="4736520"/>
            <a:ext cx="2194200" cy="1042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2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62" name="Rectangle 21"/>
          <p:cNvSpPr/>
          <p:nvPr/>
        </p:nvSpPr>
        <p:spPr>
          <a:xfrm>
            <a:off x="7286040" y="4736520"/>
            <a:ext cx="2194200" cy="40680"/>
          </a:xfrm>
          <a:prstGeom prst="rect">
            <a:avLst/>
          </a:prstGeom>
          <a:solidFill>
            <a:srgbClr val="009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63" name="TextBox 22"/>
          <p:cNvSpPr/>
          <p:nvPr/>
        </p:nvSpPr>
        <p:spPr>
          <a:xfrm>
            <a:off x="7413840" y="4864680"/>
            <a:ext cx="1956600" cy="43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92000"/>
              </a:lnSpc>
              <a:buNone/>
            </a:pPr>
            <a:r>
              <a:rPr b="1" lang="en-US" sz="1000" spc="-1" strike="noStrike">
                <a:solidFill>
                  <a:srgbClr val="15242b"/>
                </a:solidFill>
                <a:latin typeface="Arial"/>
              </a:rPr>
              <a:t>Execution source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2000"/>
              </a:lnSpc>
              <a:spcBef>
                <a:spcPts val="300"/>
              </a:spcBef>
              <a:buNone/>
            </a:pPr>
            <a:r>
              <a:rPr b="0" lang="en-US" sz="820" spc="-1" strike="noStrike">
                <a:solidFill>
                  <a:srgbClr val="5a6b73"/>
                </a:solidFill>
                <a:latin typeface="Arial"/>
              </a:rPr>
              <a:t>The binary LUT only — the JSON LUT uplink path is retired</a:t>
            </a:r>
            <a:endParaRPr b="0" lang="en-IN" sz="820" spc="-1" strike="noStrike">
              <a:latin typeface="Arial"/>
            </a:endParaRPr>
          </a:p>
        </p:txBody>
      </p:sp>
      <p:sp>
        <p:nvSpPr>
          <p:cNvPr id="664" name="Rounded Rectangle 23"/>
          <p:cNvSpPr/>
          <p:nvPr/>
        </p:nvSpPr>
        <p:spPr>
          <a:xfrm>
            <a:off x="9623160" y="4736520"/>
            <a:ext cx="2194200" cy="1042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2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65" name="Rectangle 24"/>
          <p:cNvSpPr/>
          <p:nvPr/>
        </p:nvSpPr>
        <p:spPr>
          <a:xfrm>
            <a:off x="9623160" y="4736520"/>
            <a:ext cx="2194200" cy="40680"/>
          </a:xfrm>
          <a:prstGeom prst="rect">
            <a:avLst/>
          </a:prstGeom>
          <a:solidFill>
            <a:srgbClr val="009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66" name="TextBox 25"/>
          <p:cNvSpPr/>
          <p:nvPr/>
        </p:nvSpPr>
        <p:spPr>
          <a:xfrm>
            <a:off x="9751320" y="4864680"/>
            <a:ext cx="1956600" cy="43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92000"/>
              </a:lnSpc>
              <a:buNone/>
            </a:pPr>
            <a:r>
              <a:rPr b="1" lang="en-US" sz="1000" spc="-1" strike="noStrike">
                <a:solidFill>
                  <a:srgbClr val="15242b"/>
                </a:solidFill>
                <a:latin typeface="Arial"/>
              </a:rPr>
              <a:t>Authoring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2000"/>
              </a:lnSpc>
              <a:spcBef>
                <a:spcPts val="300"/>
              </a:spcBef>
              <a:buNone/>
            </a:pPr>
            <a:r>
              <a:rPr b="0" lang="en-US" sz="820" spc="-1" strike="noStrike">
                <a:solidFill>
                  <a:srgbClr val="5a6b73"/>
                </a:solidFill>
                <a:latin typeface="Arial"/>
              </a:rPr>
              <a:t>One CSV master list, compiled by xdos_lut_csv or imported in the composer</a:t>
            </a:r>
            <a:endParaRPr b="0" lang="en-IN" sz="82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4af3b35-b0ea-4d20-aae1-b14212791e53">
      <Terms xmlns="http://schemas.microsoft.com/office/infopath/2007/PartnerControls"/>
    </lcf76f155ced4ddcb4097134ff3c332f>
    <Author0 xmlns="14af3b35-b0ea-4d20-aae1-b14212791e53" xsi:nil="true"/>
    <TaxCatchAll xmlns="34e3c4a4-dcbc-4d25-9602-0e81ee7ef277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4032D139492346BC449EE0E7AF978B" ma:contentTypeVersion="19" ma:contentTypeDescription="Create a new document." ma:contentTypeScope="" ma:versionID="e7bb6bc8d535acc256931e8b9b142fe5">
  <xsd:schema xmlns:xsd="http://www.w3.org/2001/XMLSchema" xmlns:xs="http://www.w3.org/2001/XMLSchema" xmlns:p="http://schemas.microsoft.com/office/2006/metadata/properties" xmlns:ns2="14af3b35-b0ea-4d20-aae1-b14212791e53" xmlns:ns3="34e3c4a4-dcbc-4d25-9602-0e81ee7ef277" targetNamespace="http://schemas.microsoft.com/office/2006/metadata/properties" ma:root="true" ma:fieldsID="5d4338a95a91a1c283d5ac2ca7a446b7" ns2:_="" ns3:_="">
    <xsd:import namespace="14af3b35-b0ea-4d20-aae1-b14212791e53"/>
    <xsd:import namespace="34e3c4a4-dcbc-4d25-9602-0e81ee7ef2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LengthInSeconds" minOccurs="0"/>
                <xsd:element ref="ns2:MediaServiceDateTaken" minOccurs="0"/>
                <xsd:element ref="ns2:MediaServiceOCR" minOccurs="0"/>
                <xsd:element ref="ns2:MediaServiceLocation" minOccurs="0"/>
                <xsd:element ref="ns2:MediaServiceBillingMetadata" minOccurs="0"/>
                <xsd:element ref="ns2:Author0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4af3b35-b0ea-4d20-aae1-b14212791e5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6297205a-2db0-4fa4-a114-c0b35466fce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  <xsd:element name="Author0" ma:index="24" nillable="true" ma:displayName="Author" ma:internalName="Author0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4e3c4a4-dcbc-4d25-9602-0e81ee7ef277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ad13e9c5-4400-4b88-841a-febff3ea1030}" ma:internalName="TaxCatchAll" ma:showField="CatchAllData" ma:web="34e3c4a4-dcbc-4d25-9602-0e81ee7ef2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1FA3218-B45F-44DA-B24A-C0D7F3AC2DDC}">
  <ds:schemaRefs>
    <ds:schemaRef ds:uri="14af3b35-b0ea-4d20-aae1-b14212791e53"/>
    <ds:schemaRef ds:uri="34e3c4a4-dcbc-4d25-9602-0e81ee7ef27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B880F9F3-7E71-4746-BF1E-18692EC96CCA}">
  <ds:schemaRefs>
    <ds:schemaRef ds:uri="14af3b35-b0ea-4d20-aae1-b14212791e53"/>
    <ds:schemaRef ds:uri="34e3c4a4-dcbc-4d25-9602-0e81ee7ef27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5F6B9D48-D1FB-4439-8079-27F69CD1229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</TotalTime>
  <Application>LibreOffice/7.3.7.2$Linux_X86_64 LibreOffice_project/30$Build-2</Application>
  <AppVersion>15.0000</AppVersion>
  <Words>10</Words>
  <Paragraphs>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2026-04-06T06:19:06Z</dcterms:created>
  <dc:creator/>
  <dc:description/>
  <dc:language>en-IN</dc:language>
  <cp:lastModifiedBy/>
  <dcterms:modified xsi:type="dcterms:W3CDTF">2026-09-04T15:24:38Z</dcterms:modified>
  <cp:revision>68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0x010100F34032D139492346BC449EE0E7AF978B</vt:lpwstr>
  </property>
  <property fmtid="{D5CDD505-2E9C-101B-9397-08002B2CF9AE}" pid="3" name="MediaServiceImageTags">
    <vt:lpwstr/>
  </property>
  <property fmtid="{D5CDD505-2E9C-101B-9397-08002B2CF9AE}" pid="4" name="Notes">
    <vt:i4>1</vt:i4>
  </property>
  <property fmtid="{D5CDD505-2E9C-101B-9397-08002B2CF9AE}" pid="5" name="PresentationFormat">
    <vt:lpwstr>Widescreen</vt:lpwstr>
  </property>
  <property fmtid="{D5CDD505-2E9C-101B-9397-08002B2CF9AE}" pid="6" name="Slides">
    <vt:i4>2</vt:i4>
  </property>
</Properties>
</file>